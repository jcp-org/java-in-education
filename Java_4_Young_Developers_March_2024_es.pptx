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076137050" r:id="rId12"/>
    <p:sldId id="2076137063" r:id="rId13"/>
    <p:sldId id="268" r:id="rId14"/>
    <p:sldId id="266" r:id="rId15"/>
    <p:sldId id="267" r:id="rId16"/>
    <p:sldId id="2076137062" r:id="rId17"/>
    <p:sldId id="269" r:id="rId18"/>
    <p:sldId id="270" r:id="rId19"/>
    <p:sldId id="271" r:id="rId20"/>
    <p:sldId id="272" r:id="rId21"/>
  </p:sldIdLst>
  <p:sldSz cx="9144000" cy="5143500" type="screen16x9"/>
  <p:notesSz cx="6858000" cy="9144000"/>
  <p:embeddedFontLst>
    <p:embeddedFont>
      <p:font typeface="Oracle Sans Light" panose="020B0403020204020204" pitchFamily="34" charset="0"/>
      <p:regular r:id="rId23"/>
      <p:italic r:id="rId24"/>
    </p:embeddedFont>
    <p:embeddedFont>
      <p:font typeface="Oracle Sans Regular" panose="020B0503020204020204" pitchFamily="34" charset="0"/>
      <p:regular r:id="rId25"/>
      <p:bold r:id="rId26"/>
      <p:italic r:id="rId27"/>
      <p:boldItalic r:id="rId28"/>
    </p:embeddedFont>
    <p:embeddedFont>
      <p:font typeface="Oracle Sans Tab" panose="020B0503020204020204" pitchFamily="34" charset="0"/>
      <p:regular r:id="rId29"/>
      <p:bold r:id="rId30"/>
      <p:italic r:id="rId31"/>
      <p:boldItalic r:id="rId32"/>
    </p:embeddedFont>
    <p:embeddedFont>
      <p:font typeface="Roboto"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35"/>
    <p:restoredTop sz="87646"/>
  </p:normalViewPr>
  <p:slideViewPr>
    <p:cSldViewPr snapToGrid="0">
      <p:cViewPr varScale="1">
        <p:scale>
          <a:sx n="153" d="100"/>
          <a:sy n="153" d="100"/>
        </p:scale>
        <p:origin x="168" y="2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ware.nasa.gov/featuredsoftware/maestro"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community.oracle.com/ou/"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jb.gg/academy/java_in_education"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jcp.org/en/participation/JUG_list"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Java para desarrolladores nuevos, junior o más jóvenes</a:t>
            </a:r>
          </a:p>
          <a:p>
            <a:pPr marL="0" lvl="0" indent="0" algn="l" rtl="0">
              <a:spcBef>
                <a:spcPts val="0"/>
              </a:spcBef>
              <a:spcAft>
                <a:spcPts val="0"/>
              </a:spcAft>
              <a:buNone/>
            </a:pPr>
            <a:endParaRPr lang="en" dirty="0"/>
          </a:p>
          <a:p>
            <a:pPr rtl="0"/>
            <a:r>
              <a:rPr lang="en-US" sz="1100" b="1" i="0" u="none" strike="noStrike" cap="none" dirty="0">
                <a:solidFill>
                  <a:srgbClr val="000000"/>
                </a:solidFill>
                <a:effectLst/>
                <a:latin typeface="Arial"/>
                <a:ea typeface="Arial"/>
                <a:cs typeface="Arial"/>
                <a:sym typeface="Arial"/>
              </a:rPr>
              <a:t>¿Qué es Java y por qué debería aprenderlo?</a:t>
            </a:r>
            <a:endParaRPr lang="en-US" b="0" dirty="0">
              <a:effectLst/>
            </a:endParaRPr>
          </a:p>
          <a:p>
            <a:pPr rtl="0"/>
            <a:endParaRPr lang="en-US" sz="1100" b="0" i="0" u="none" strike="noStrike" cap="none" dirty="0">
              <a:solidFill>
                <a:srgbClr val="000000"/>
              </a:solidFill>
              <a:effectLst/>
              <a:latin typeface="Arial"/>
              <a:ea typeface="Arial"/>
              <a:cs typeface="Arial"/>
              <a:sym typeface="Arial"/>
            </a:endParaRPr>
          </a:p>
          <a:p>
            <a:pPr rtl="0"/>
            <a:r>
              <a:rPr lang="en-US" sz="1100" b="0" i="0" u="none" strike="noStrike" cap="none" dirty="0">
                <a:solidFill>
                  <a:srgbClr val="000000"/>
                </a:solidFill>
                <a:effectLst/>
                <a:latin typeface="Arial"/>
                <a:ea typeface="Arial"/>
                <a:cs typeface="Arial"/>
                <a:sym typeface="Arial"/>
              </a:rPr>
              <a:t>Público objetivo:</a:t>
            </a:r>
            <a:endParaRPr lang="en-US" b="0" dirty="0">
              <a:effectLst/>
            </a:endParaRPr>
          </a:p>
          <a:p>
            <a:pPr rtl="0" fontAlgn="base"/>
            <a:r>
              <a:rPr lang="en-US" sz="1100" b="0" i="0" u="none" strike="noStrike" cap="none" dirty="0">
                <a:solidFill>
                  <a:srgbClr val="000000"/>
                </a:solidFill>
                <a:effectLst/>
                <a:latin typeface="Arial"/>
                <a:ea typeface="Arial"/>
                <a:cs typeface="Arial"/>
                <a:sym typeface="Arial"/>
              </a:rPr>
              <a:t>Con experiencia en programación:</a:t>
            </a:r>
          </a:p>
          <a:p>
            <a:pPr lvl="1" rtl="0" fontAlgn="base"/>
            <a:r>
              <a:rPr lang="en-US" sz="1100" b="0" i="0" u="none" strike="noStrike" cap="none" dirty="0">
                <a:solidFill>
                  <a:srgbClr val="000000"/>
                </a:solidFill>
                <a:effectLst/>
                <a:latin typeface="Arial"/>
                <a:ea typeface="Arial"/>
                <a:cs typeface="Arial"/>
                <a:sym typeface="Arial"/>
              </a:rPr>
              <a:t>Estudiantes de secundaria, estudiantes universitarios, nuevos desarrolladores </a:t>
            </a:r>
          </a:p>
          <a:p>
            <a:pPr rtl="0" fontAlgn="base"/>
            <a:r>
              <a:rPr lang="en-US" sz="1100" b="0" i="0" u="none" strike="noStrike" cap="none" dirty="0">
                <a:solidFill>
                  <a:srgbClr val="000000"/>
                </a:solidFill>
                <a:effectLst/>
                <a:latin typeface="Arial"/>
                <a:ea typeface="Arial"/>
                <a:cs typeface="Arial"/>
                <a:sym typeface="Arial"/>
              </a:rPr>
              <a:t>Sin experiencia en ciencias de la computación:</a:t>
            </a:r>
            <a:br>
              <a:rPr lang="en-US" b="0" dirty="0">
                <a:effectLst/>
              </a:rPr>
            </a:br>
            <a:br>
              <a:rPr lang="en-US" b="0" dirty="0">
                <a:effectLst/>
              </a:rPr>
            </a:br>
            <a:r>
              <a:rPr lang="en-US" sz="1100" b="1" i="0" u="none" strike="noStrike" cap="none" dirty="0">
                <a:solidFill>
                  <a:srgbClr val="000000"/>
                </a:solidFill>
                <a:effectLst/>
                <a:latin typeface="Arial"/>
                <a:ea typeface="Arial"/>
                <a:cs typeface="Arial"/>
                <a:sym typeface="Arial"/>
              </a:rPr>
              <a:t>Resumen</a:t>
            </a:r>
            <a:r>
              <a:rPr lang="en-US" sz="1100" b="0" i="0" u="none" strike="noStrike" cap="none" dirty="0">
                <a:solidFill>
                  <a:srgbClr val="000000"/>
                </a:solidFill>
                <a:effectLst/>
                <a:latin typeface="Arial"/>
                <a:ea typeface="Arial"/>
                <a:cs typeface="Arial"/>
                <a:sym typeface="Arial"/>
              </a:rPr>
              <a:t>: ¿Sabía que Java impulsa los sitios web más populares del mundo? Java es la fuerza detrás de Wikipedia, Spotify, Google, Amazon y muchos otros sitios. Java fue creado hace más de 25 años y sigue siendo uno de los lenguajes de programación líderes. Los desarrolladores de Java están entre los desarrolladores  mejor pagados del mundo.</a:t>
            </a:r>
            <a:br>
              <a:rPr lang="en-US" b="0" dirty="0">
                <a:effectLst/>
              </a:rPr>
            </a:br>
            <a:r>
              <a:rPr lang="en-US" sz="1100" b="0" i="0" u="none" strike="noStrike" cap="none" dirty="0">
                <a:solidFill>
                  <a:srgbClr val="000000"/>
                </a:solidFill>
                <a:effectLst/>
                <a:latin typeface="Arial"/>
                <a:ea typeface="Arial"/>
                <a:cs typeface="Arial"/>
                <a:sym typeface="Arial"/>
              </a:rPr>
              <a:t>En esta charla explicaremos qué es Java, cómo resuelve problemas en la industria del software y cómo puede guiar el crecimiento de su carrera. También proporcionaremos recursos para ayudarlo a aprender Java y explorar cómo convertirse en desarrollador Java certificado. Le mostraremos cómo mantenerse informado cuando se publiquen nuevas versiones de Java. Le contaremos cómo  unirse a su Grupo de Usuarios de Java local amplía su red de contactos y puede eventualmente llevar a una pasantía o un empleo. Venga por Java; quédese por toda la diversión.</a:t>
            </a:r>
            <a:br>
              <a:rPr lang="en-US" b="0" dirty="0">
                <a:effectLst/>
              </a:rPr>
            </a:br>
            <a:br>
              <a:rPr lang="en-US" b="0" dirty="0">
                <a:effectLst/>
              </a:rPr>
            </a:br>
            <a:r>
              <a:rPr lang="en-US" sz="1100" b="0" i="0" u="none" strike="noStrike" cap="none" dirty="0">
                <a:solidFill>
                  <a:srgbClr val="000000"/>
                </a:solidFill>
                <a:effectLst/>
                <a:latin typeface="Arial"/>
                <a:ea typeface="Arial"/>
                <a:cs typeface="Arial"/>
                <a:sym typeface="Arial"/>
              </a:rPr>
              <a:t>Formas de involucrarse:</a:t>
            </a:r>
            <a:endParaRPr lang="en-US" b="0" dirty="0">
              <a:effectLst/>
            </a:endParaRPr>
          </a:p>
          <a:p>
            <a:pPr rtl="0" fontAlgn="base"/>
            <a:r>
              <a:rPr lang="en-US" sz="1100" b="0" i="0" u="none" strike="noStrike" cap="none" dirty="0">
                <a:solidFill>
                  <a:srgbClr val="000000"/>
                </a:solidFill>
                <a:effectLst/>
                <a:latin typeface="Arial"/>
                <a:ea typeface="Arial"/>
                <a:cs typeface="Arial"/>
                <a:sym typeface="Arial"/>
              </a:rPr>
              <a:t>Únase a su JUG local</a:t>
            </a:r>
          </a:p>
          <a:p>
            <a:pPr rtl="0" fontAlgn="base"/>
            <a:r>
              <a:rPr lang="en-US" sz="1100" b="0" i="0" u="none" strike="noStrike" cap="none" dirty="0">
                <a:solidFill>
                  <a:srgbClr val="000000"/>
                </a:solidFill>
                <a:effectLst/>
                <a:latin typeface="Arial"/>
                <a:ea typeface="Arial"/>
                <a:cs typeface="Arial"/>
                <a:sym typeface="Arial"/>
              </a:rPr>
              <a:t>Amplíe su red a través de los JUG para conseguir pasantías</a:t>
            </a:r>
          </a:p>
          <a:p>
            <a:pPr rtl="0" fontAlgn="base"/>
            <a:r>
              <a:rPr lang="en-US" sz="1100" b="0" i="0" u="none" strike="noStrike" cap="none" dirty="0">
                <a:solidFill>
                  <a:srgbClr val="000000"/>
                </a:solidFill>
                <a:effectLst/>
                <a:latin typeface="Arial"/>
                <a:ea typeface="Arial"/>
                <a:cs typeface="Arial"/>
                <a:sym typeface="Arial"/>
              </a:rPr>
              <a:t>Contribuya al código abierto y aprenda a trabajar en proyectos reales </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997d22276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997d2227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chemeClr val="dk1"/>
                </a:solidFill>
                <a:highlight>
                  <a:srgbClr val="FFFFFF"/>
                </a:highlight>
              </a:rPr>
              <a:t>En 2004, Java se convirtió en el primer lenguaje de programación en expandir el alcance planetario de la humanidad. Durante tres meses de ese año, científicos de la NASA en el Laboratorio de Propulsión a Chorro (JPL) en Pasadena, California, usaron el </a:t>
            </a:r>
            <a:r>
              <a:rPr lang="en" sz="1350">
                <a:solidFill>
                  <a:srgbClr val="00758F"/>
                </a:solidFill>
                <a:highlight>
                  <a:srgbClr val="FFFFFF"/>
                </a:highlight>
                <a:uFill>
                  <a:noFill/>
                </a:uFill>
                <a:hlinkClick r:id="rId3">
                  <a:extLst>
                    <a:ext uri="{A12FA001-AC4F-418D-AE19-62706E023703}">
                      <ahyp:hlinkClr xmlns:ahyp="http://schemas.microsoft.com/office/drawing/2018/hyperlinkcolor" val="tx"/>
                    </a:ext>
                  </a:extLst>
                </a:hlinkClick>
              </a:rPr>
              <a:t>Maestro Science Activity Planner, basado en Java,</a:t>
            </a:r>
            <a:r>
              <a:rPr lang="en" sz="1350">
                <a:solidFill>
                  <a:schemeClr val="dk1"/>
                </a:solidFill>
                <a:highlight>
                  <a:srgbClr val="FFFFFF"/>
                </a:highlight>
              </a:rPr>
              <a:t> construido por el laboratorio de interfaz de robots del JPL para controlar el rover de exploración marciana Spirit mientras exploraba el planeta rojo.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997d22276d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997d22276d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chemeClr val="dk1"/>
                </a:solidFill>
                <a:highlight>
                  <a:srgbClr val="FFFFFF"/>
                </a:highlight>
              </a:rPr>
              <a:t>Es apropiado que una enciclopedia para el pueblo, hecha por el pueblo, funcione con software de código abierto, y que cuente con un motor de búsqueda impulsado por Java.</a:t>
            </a:r>
            <a:endParaRPr sz="1350">
              <a:solidFill>
                <a:schemeClr val="dk1"/>
              </a:solidFill>
              <a:highlight>
                <a:srgbClr val="FFFFFF"/>
              </a:highlight>
            </a:endParaRPr>
          </a:p>
          <a:p>
            <a:pPr marL="0" lvl="0" indent="0" algn="l" rtl="0">
              <a:spcBef>
                <a:spcPts val="0"/>
              </a:spcBef>
              <a:spcAft>
                <a:spcPts val="0"/>
              </a:spcAft>
              <a:buNone/>
            </a:pPr>
            <a:endParaRPr sz="1350">
              <a:solidFill>
                <a:schemeClr val="dk1"/>
              </a:solidFill>
              <a:highlight>
                <a:srgbClr val="FFFFFF"/>
              </a:highlight>
            </a:endParaRPr>
          </a:p>
          <a:p>
            <a:pPr marL="0" lvl="0" indent="0" algn="l" rtl="0">
              <a:spcBef>
                <a:spcPts val="0"/>
              </a:spcBef>
              <a:spcAft>
                <a:spcPts val="0"/>
              </a:spcAft>
              <a:buNone/>
            </a:pPr>
            <a:r>
              <a:rPr lang="en" sz="1350">
                <a:solidFill>
                  <a:schemeClr val="dk1"/>
                </a:solidFill>
                <a:highlight>
                  <a:srgbClr val="FFFFFF"/>
                </a:highlight>
              </a:rPr>
              <a:t>Pregunte a los asistentes cómo usan Wikipedia y luego anímelos a pensar en cómo Java impulsa las capacidades de búsqueda.</a:t>
            </a:r>
            <a:endParaRPr sz="1350">
              <a:solidFill>
                <a:schemeClr val="dk1"/>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997d22276d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997d22276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Minecraft se lanzó en 2009 y se publicó oficialmente en 2011.</a:t>
            </a:r>
            <a:endParaRPr/>
          </a:p>
          <a:p>
            <a:pPr marL="0" lvl="0" indent="0" algn="l" rtl="0">
              <a:spcBef>
                <a:spcPts val="0"/>
              </a:spcBef>
              <a:spcAft>
                <a:spcPts val="0"/>
              </a:spcAft>
              <a:buNone/>
            </a:pPr>
            <a:endParaRPr/>
          </a:p>
          <a:p>
            <a:pPr marL="0" lvl="0" indent="0" algn="l" rtl="0">
              <a:spcBef>
                <a:spcPts val="0"/>
              </a:spcBef>
              <a:spcAft>
                <a:spcPts val="0"/>
              </a:spcAft>
              <a:buNone/>
            </a:pPr>
            <a:r>
              <a:rPr lang="en" sz="1200">
                <a:solidFill>
                  <a:srgbClr val="333333"/>
                </a:solidFill>
                <a:highlight>
                  <a:srgbClr val="FFFFFF"/>
                </a:highlight>
              </a:rPr>
              <a:t>A lo largo de los años, ha acumulado 250 millones de usuarios registrados y le generó a su desarrolladora, Mojang, un pago de 2500 millones de dólares por parte del gigante tecnológico Microsoft en 2014.</a:t>
            </a:r>
            <a:endParaRPr sz="1200">
              <a:solidFill>
                <a:srgbClr val="333333"/>
              </a:solidFill>
              <a:highlight>
                <a:srgbClr val="FFFFFF"/>
              </a:highlight>
            </a:endParaRPr>
          </a:p>
          <a:p>
            <a:pPr marL="0" lvl="0" indent="0" algn="l" rtl="0">
              <a:spcBef>
                <a:spcPts val="0"/>
              </a:spcBef>
              <a:spcAft>
                <a:spcPts val="0"/>
              </a:spcAft>
              <a:buNone/>
            </a:pPr>
            <a:endParaRPr sz="1200">
              <a:solidFill>
                <a:srgbClr val="333333"/>
              </a:solidFill>
              <a:highlight>
                <a:srgbClr val="FFFFFF"/>
              </a:highlight>
            </a:endParaRPr>
          </a:p>
          <a:p>
            <a:pPr marL="0" lvl="0" indent="0" algn="l" rtl="0">
              <a:spcBef>
                <a:spcPts val="0"/>
              </a:spcBef>
              <a:spcAft>
                <a:spcPts val="0"/>
              </a:spcAft>
              <a:buNone/>
            </a:pPr>
            <a:r>
              <a:rPr lang="en" sz="1200">
                <a:solidFill>
                  <a:srgbClr val="333333"/>
                </a:solidFill>
                <a:highlight>
                  <a:srgbClr val="FFFFFF"/>
                </a:highlight>
              </a:rPr>
              <a:t>126 millones de usuarios mensuales, 200 millones de copias vendidas</a:t>
            </a:r>
            <a:endParaRPr sz="1200">
              <a:solidFill>
                <a:srgbClr val="333333"/>
              </a:solidFill>
              <a:highlight>
                <a:srgbClr val="FFFFFF"/>
              </a:highlight>
            </a:endParaRPr>
          </a:p>
          <a:p>
            <a:pPr marL="0" lvl="0" indent="0" algn="l" rtl="0">
              <a:spcBef>
                <a:spcPts val="0"/>
              </a:spcBef>
              <a:spcAft>
                <a:spcPts val="0"/>
              </a:spcAft>
              <a:buNone/>
            </a:pPr>
            <a:endParaRPr sz="1200">
              <a:solidFill>
                <a:srgbClr val="333333"/>
              </a:solidFill>
              <a:highlight>
                <a:srgbClr val="FFFFFF"/>
              </a:highlight>
            </a:endParaRPr>
          </a:p>
          <a:p>
            <a:pPr marL="0" lvl="0" indent="0" algn="l" rtl="0">
              <a:spcBef>
                <a:spcPts val="0"/>
              </a:spcBef>
              <a:spcAft>
                <a:spcPts val="0"/>
              </a:spcAft>
              <a:buNone/>
            </a:pPr>
            <a:r>
              <a:rPr lang="en" sz="1200">
                <a:solidFill>
                  <a:srgbClr val="333333"/>
                </a:solidFill>
                <a:highlight>
                  <a:srgbClr val="FFFFFF"/>
                </a:highlight>
              </a:rPr>
              <a:t>Use esta diapositiva para interactuar con los asistentes y conocer su característica favorita de Minecraft, y pensar en cómo pudo haber sido creada.</a:t>
            </a:r>
            <a:endParaRPr sz="1200">
              <a:solidFill>
                <a:srgbClr val="333333"/>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997d22276d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997d22276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50">
                <a:solidFill>
                  <a:srgbClr val="333333"/>
                </a:solidFill>
                <a:latin typeface="Roboto"/>
                <a:ea typeface="Roboto"/>
                <a:cs typeface="Roboto"/>
                <a:sym typeface="Roboto"/>
              </a:rPr>
              <a:t>El índice de la Comunidad de Programación TIOBE es un indicador de la popularidad de los lenguajes de programación. El índice se actualiza una vez al mes. Las calificaciones se basan en la cantidad de ingenieros capacitados a nivel mundial, cursos y proveedores externos. Se utilizan motores de búsqueda populares como Google, Bing, Yahoo!, Wikipedia, Amazon, YouTube y Baidu para calcular las calificaciones. Es importante notar que el índice TIOBE no trata sobre el </a:t>
            </a:r>
            <a:r>
              <a:rPr lang="en" sz="1050" i="1">
                <a:solidFill>
                  <a:srgbClr val="333333"/>
                </a:solidFill>
                <a:latin typeface="Roboto"/>
                <a:ea typeface="Roboto"/>
                <a:cs typeface="Roboto"/>
                <a:sym typeface="Roboto"/>
              </a:rPr>
              <a:t>mejor</a:t>
            </a:r>
            <a:r>
              <a:rPr lang="en" sz="1050">
                <a:solidFill>
                  <a:srgbClr val="333333"/>
                </a:solidFill>
                <a:latin typeface="Roboto"/>
                <a:ea typeface="Roboto"/>
                <a:cs typeface="Roboto"/>
                <a:sym typeface="Roboto"/>
              </a:rPr>
              <a:t> lenguaje de programación ni sobre el lenguaje en el que se han escrito </a:t>
            </a:r>
            <a:r>
              <a:rPr lang="en" sz="1050" i="1">
                <a:solidFill>
                  <a:srgbClr val="333333"/>
                </a:solidFill>
                <a:latin typeface="Roboto"/>
                <a:ea typeface="Roboto"/>
                <a:cs typeface="Roboto"/>
                <a:sym typeface="Roboto"/>
              </a:rPr>
              <a:t>más líneas de código</a:t>
            </a:r>
            <a:r>
              <a:rPr lang="en" sz="1050">
                <a:solidFill>
                  <a:srgbClr val="333333"/>
                </a:solidFill>
                <a:latin typeface="Roboto"/>
                <a:ea typeface="Roboto"/>
                <a:cs typeface="Roboto"/>
                <a:sym typeface="Roboto"/>
              </a:rPr>
              <a:t>.</a:t>
            </a:r>
            <a:endParaRPr sz="1050">
              <a:solidFill>
                <a:srgbClr val="333333"/>
              </a:solidFill>
              <a:latin typeface="Roboto"/>
              <a:ea typeface="Roboto"/>
              <a:cs typeface="Roboto"/>
              <a:sym typeface="Roboto"/>
            </a:endParaRPr>
          </a:p>
          <a:p>
            <a:pPr marL="0" lvl="0" indent="0" algn="l" rtl="0">
              <a:lnSpc>
                <a:spcPct val="115000"/>
              </a:lnSpc>
              <a:spcBef>
                <a:spcPts val="800"/>
              </a:spcBef>
              <a:spcAft>
                <a:spcPts val="0"/>
              </a:spcAft>
              <a:buClr>
                <a:schemeClr val="dk1"/>
              </a:buClr>
              <a:buSzPts val="1100"/>
              <a:buFont typeface="Arial"/>
              <a:buNone/>
            </a:pPr>
            <a:r>
              <a:rPr lang="en" sz="1050">
                <a:solidFill>
                  <a:srgbClr val="333333"/>
                </a:solidFill>
                <a:latin typeface="Roboto"/>
                <a:ea typeface="Roboto"/>
                <a:cs typeface="Roboto"/>
                <a:sym typeface="Roboto"/>
              </a:rPr>
              <a:t>El índice se puede usar para verificar si sus habilidades de programación siguen actualizadas o para tomar una decisión estratégica sobre qué lenguaje de programación adoptar al comenzar a construir un nuevo sistema de software.</a:t>
            </a:r>
            <a:endParaRPr sz="1050">
              <a:solidFill>
                <a:srgbClr val="333333"/>
              </a:solidFill>
              <a:latin typeface="Roboto"/>
              <a:ea typeface="Roboto"/>
              <a:cs typeface="Roboto"/>
              <a:sym typeface="Roboto"/>
            </a:endParaRPr>
          </a:p>
          <a:p>
            <a:pPr marL="0" lvl="0" indent="0" algn="l" rtl="0">
              <a:spcBef>
                <a:spcPts val="8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997d22276d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997d22276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Este gráfico proviene de los resultados de la encuesta de GitHub de 2020. GitHub es donde la mayoría de los desarrolladores del mundo colaboran para escribir código fuente.</a:t>
            </a:r>
            <a:endParaRPr/>
          </a:p>
          <a:p>
            <a:pPr marL="0" lvl="0" indent="0" algn="l" rtl="0">
              <a:spcBef>
                <a:spcPts val="0"/>
              </a:spcBef>
              <a:spcAft>
                <a:spcPts val="0"/>
              </a:spcAft>
              <a:buNone/>
            </a:pPr>
            <a:endParaRPr/>
          </a:p>
          <a:p>
            <a:pPr marL="0" lvl="0" indent="0" algn="l" rtl="0">
              <a:spcBef>
                <a:spcPts val="0"/>
              </a:spcBef>
              <a:spcAft>
                <a:spcPts val="0"/>
              </a:spcAft>
              <a:buNone/>
            </a:pPr>
            <a:r>
              <a:rPr lang="en"/>
              <a:t>10 millones de nuevos desarrolladores se unieron a la comunidad de GitHub, contribuyendo a más de 44 millones de repositorios en todos los continentes de la Tierra. Detrás del código del mundo hay un equipo global y creciente de colaboradores, y el 80% de ellos contribuye desde fuera de EE. UU.</a:t>
            </a:r>
            <a:endParaRPr/>
          </a:p>
          <a:p>
            <a:pPr marL="0" lvl="0" indent="0" algn="l" rtl="0">
              <a:spcBef>
                <a:spcPts val="0"/>
              </a:spcBef>
              <a:spcAft>
                <a:spcPts val="0"/>
              </a:spcAft>
              <a:buNone/>
            </a:pPr>
            <a:endParaRPr/>
          </a:p>
          <a:p>
            <a:pPr marL="0" lvl="0" indent="0" algn="l" rtl="0">
              <a:spcBef>
                <a:spcPts val="0"/>
              </a:spcBef>
              <a:spcAft>
                <a:spcPts val="0"/>
              </a:spcAft>
              <a:buNone/>
            </a:pPr>
            <a:r>
              <a:rPr lang="en"/>
              <a:t>En el último año, los desarrolladores colaboraron en más de 370 lenguajes principales en GitHub.</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997d22276d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997d22276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Este gráfico corresponde a la clasificación de lenguajes de programación de RedMonk, un popular analista de la industria. https://redmonk.com/sogrady/2020/07/27/language-rankings-6-20/.</a:t>
            </a:r>
            <a:endParaRPr/>
          </a:p>
          <a:p>
            <a:pPr marL="0" lvl="0" indent="0" algn="l" rtl="0">
              <a:spcBef>
                <a:spcPts val="0"/>
              </a:spcBef>
              <a:spcAft>
                <a:spcPts val="0"/>
              </a:spcAft>
              <a:buNone/>
            </a:pPr>
            <a:endParaRPr/>
          </a:p>
          <a:p>
            <a:pPr marL="0" lvl="0" indent="0" algn="l" rtl="0">
              <a:spcBef>
                <a:spcPts val="0"/>
              </a:spcBef>
              <a:spcAft>
                <a:spcPts val="0"/>
              </a:spcAft>
              <a:buNone/>
            </a:pPr>
            <a:r>
              <a:rPr lang="en"/>
              <a:t>Extraemos las clasificaciones de lenguajes de GitHub y Stack Overflow, y las combinamos en una clasificación que intenta reflejar tanto la tracción del código (GitHub) como la de la discusión (Stack Overflow). La idea no es ofrecer una representación estadísticamente válida del uso actual, sino correlacionar la discusión y el uso de un lenguaje en un esfuerzo por extraer información sobre posibles tendencias futuras de adopción.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997d22276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997d22276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En su informe </a:t>
            </a:r>
            <a:r>
              <a:rPr lang="en-US" sz="1100" b="0" i="1" u="none" strike="noStrike" cap="none" dirty="0">
                <a:solidFill>
                  <a:srgbClr val="000000"/>
                </a:solidFill>
                <a:effectLst/>
                <a:latin typeface="Arial"/>
                <a:ea typeface="Arial"/>
                <a:cs typeface="Arial"/>
                <a:sym typeface="Arial"/>
              </a:rPr>
              <a:t>50 mejores empleos en Estados Unidos para 2021</a:t>
            </a:r>
            <a:r>
              <a:rPr lang="en-US" sz="1100" b="0" i="0" u="none" strike="noStrike" cap="none" dirty="0">
                <a:solidFill>
                  <a:srgbClr val="000000"/>
                </a:solidFill>
                <a:effectLst/>
                <a:latin typeface="Arial"/>
                <a:ea typeface="Arial"/>
                <a:cs typeface="Arial"/>
                <a:sym typeface="Arial"/>
              </a:rPr>
              <a:t>, Glassdoor le otorga a Desarrollador Java el puesto número uno, superando a empleos como Científico de Datos, Gerente de Producto y Gerente de Desarrollo de Negocios en satisfacción laboral general.  Al dar esta presentación a su JUG y a los educadores, usted aclara las cosas. Java debería ser el primer lenguaje enseñado a los estudiantes. Una carrera en desarrollo de software debería comenzar con Java</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997d22276d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997d22276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¿Quiere trabajar en alguna de estas empresas?</a:t>
            </a:r>
            <a:endParaRPr/>
          </a:p>
          <a:p>
            <a:pPr marL="0" lvl="0" indent="0" algn="l" rtl="0">
              <a:spcBef>
                <a:spcPts val="0"/>
              </a:spcBef>
              <a:spcAft>
                <a:spcPts val="0"/>
              </a:spcAft>
              <a:buNone/>
            </a:pPr>
            <a:r>
              <a:rPr lang="en"/>
              <a:t>Java es la habilidad más demandada por los empleadores para talento técnico y también la habilidad técnica mejor pagada</a:t>
            </a:r>
            <a:endParaRPr/>
          </a:p>
          <a:p>
            <a:pPr marL="0" lvl="0" indent="0" algn="l" rtl="0">
              <a:spcBef>
                <a:spcPts val="0"/>
              </a:spcBef>
              <a:spcAft>
                <a:spcPts val="0"/>
              </a:spcAft>
              <a:buNone/>
            </a:pPr>
            <a:r>
              <a:rPr lang="en"/>
              <a:t>Una vez que se trabaja en proyectos de la industria, es difícil encontrar un proyecto que no incluya o toque algo de código Java.</a:t>
            </a:r>
            <a:endParaRPr/>
          </a:p>
          <a:p>
            <a:pPr marL="0" lvl="0" indent="0" algn="l" rtl="0">
              <a:spcBef>
                <a:spcPts val="0"/>
              </a:spcBef>
              <a:spcAft>
                <a:spcPts val="0"/>
              </a:spcAft>
              <a:buNone/>
            </a:pPr>
            <a:endParaRPr/>
          </a:p>
          <a:p>
            <a:pPr marL="0" lvl="0" indent="0" algn="l" rtl="0">
              <a:spcBef>
                <a:spcPts val="0"/>
              </a:spcBef>
              <a:spcAft>
                <a:spcPts val="0"/>
              </a:spcAft>
              <a:buNone/>
            </a:pPr>
            <a:r>
              <a:rPr lang="en"/>
              <a:t>PENDIENTE: agregar más empresas que resulten atractivas para los niños.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997d22276d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997d22276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82575" algn="l" rtl="0">
              <a:lnSpc>
                <a:spcPct val="115000"/>
              </a:lnSpc>
              <a:spcBef>
                <a:spcPts val="1200"/>
              </a:spcBef>
              <a:spcAft>
                <a:spcPts val="0"/>
              </a:spcAft>
              <a:buClr>
                <a:schemeClr val="dk1"/>
              </a:buClr>
              <a:buSzPts val="850"/>
              <a:buChar char="●"/>
            </a:pPr>
            <a:r>
              <a:rPr lang="en" sz="850">
                <a:solidFill>
                  <a:schemeClr val="dk1"/>
                </a:solidFill>
              </a:rPr>
              <a:t>Oracle Academy proporciona una amplia gama de recursos de enseñanza GRATUITOS, incluyendo plan de estudios, recursos de aprendizaje para el aula, software, tecnología en la nube, entornos de práctica, </a:t>
            </a:r>
            <a:r>
              <a:rPr lang="en" sz="850">
                <a:solidFill>
                  <a:srgbClr val="FB0007"/>
                </a:solidFill>
              </a:rPr>
              <a:t>para instituciones educativas acreditadas que otorgan títulos.  </a:t>
            </a:r>
            <a:endParaRPr sz="850">
              <a:solidFill>
                <a:srgbClr val="FB0007"/>
              </a:solidFill>
            </a:endParaRPr>
          </a:p>
          <a:p>
            <a:pPr marL="457200" lvl="0" indent="-282575" algn="l" rtl="0">
              <a:lnSpc>
                <a:spcPct val="115000"/>
              </a:lnSpc>
              <a:spcBef>
                <a:spcPts val="0"/>
              </a:spcBef>
              <a:spcAft>
                <a:spcPts val="0"/>
              </a:spcAft>
              <a:buClr>
                <a:schemeClr val="dk1"/>
              </a:buClr>
              <a:buSzPts val="850"/>
              <a:buChar char="●"/>
            </a:pPr>
            <a:r>
              <a:rPr lang="en" sz="850">
                <a:solidFill>
                  <a:schemeClr val="dk1"/>
                </a:solidFill>
              </a:rPr>
              <a:t>Oracle Academy se enfoca en instituciones educativas y en los educadores de esas instituciones.  </a:t>
            </a:r>
            <a:endParaRPr sz="850">
              <a:solidFill>
                <a:schemeClr val="dk1"/>
              </a:solidFill>
            </a:endParaRPr>
          </a:p>
          <a:p>
            <a:pPr marL="457200" lvl="0" indent="-282575" algn="l" rtl="0">
              <a:lnSpc>
                <a:spcPct val="115000"/>
              </a:lnSpc>
              <a:spcBef>
                <a:spcPts val="0"/>
              </a:spcBef>
              <a:spcAft>
                <a:spcPts val="0"/>
              </a:spcAft>
              <a:buClr>
                <a:schemeClr val="dk1"/>
              </a:buClr>
              <a:buSzPts val="850"/>
              <a:buChar char="●"/>
            </a:pPr>
            <a:r>
              <a:rPr lang="en" sz="850">
                <a:solidFill>
                  <a:schemeClr val="dk1"/>
                </a:solidFill>
              </a:rPr>
              <a:t>No nos enfocamos directamente en los estudiantes: trabajamos directamente con los educadores, quienes luego trabajan con sus estudiantes.</a:t>
            </a:r>
            <a:endParaRPr sz="850">
              <a:solidFill>
                <a:schemeClr val="dk1"/>
              </a:solidFill>
            </a:endParaRPr>
          </a:p>
          <a:p>
            <a:pPr marL="457200" lvl="0" indent="-282575" algn="l" rtl="0">
              <a:lnSpc>
                <a:spcPct val="115000"/>
              </a:lnSpc>
              <a:spcBef>
                <a:spcPts val="0"/>
              </a:spcBef>
              <a:spcAft>
                <a:spcPts val="0"/>
              </a:spcAft>
              <a:buClr>
                <a:schemeClr val="dk1"/>
              </a:buClr>
              <a:buSzPts val="850"/>
              <a:buChar char="●"/>
            </a:pPr>
            <a:r>
              <a:rPr lang="en" sz="850">
                <a:solidFill>
                  <a:schemeClr val="dk1"/>
                </a:solidFill>
              </a:rPr>
              <a:t>Los profesionales de TI NO PUEDEN convertirse en miembros de Oracle Academy.</a:t>
            </a:r>
            <a:endParaRPr sz="850">
              <a:solidFill>
                <a:schemeClr val="dk1"/>
              </a:solidFill>
            </a:endParaRPr>
          </a:p>
          <a:p>
            <a:pPr marL="0" lvl="0" indent="0" algn="l" rtl="0">
              <a:lnSpc>
                <a:spcPct val="115000"/>
              </a:lnSpc>
              <a:spcBef>
                <a:spcPts val="1200"/>
              </a:spcBef>
              <a:spcAft>
                <a:spcPts val="0"/>
              </a:spcAft>
              <a:buNone/>
            </a:pPr>
            <a:r>
              <a:rPr lang="en" sz="850">
                <a:solidFill>
                  <a:schemeClr val="dk1"/>
                </a:solidFill>
              </a:rPr>
              <a:t>PENDIENTE: agregar una nota sobre cómo buscar instituciones locales y conectarse con ellas.</a:t>
            </a:r>
            <a:endParaRPr sz="85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85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850">
                <a:solidFill>
                  <a:schemeClr val="dk1"/>
                </a:solidFill>
              </a:rPr>
              <a:t>Oracle Academy es “de la fuente”.</a:t>
            </a:r>
            <a:endParaRPr sz="85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r>
              <a:rPr lang="en-US" sz="1200" b="0" i="0" kern="1200" dirty="0">
                <a:solidFill>
                  <a:schemeClr val="tx1"/>
                </a:solidFill>
                <a:effectLst/>
                <a:latin typeface="Oracle Sans Tab" panose="020B0503020204020204" pitchFamily="34" charset="0"/>
                <a:ea typeface="+mn-ea"/>
                <a:cs typeface="Oracle Sans Tab" panose="020B0503020204020204" pitchFamily="34" charset="0"/>
              </a:rPr>
              <a:t>Oracle Academy, el programa educativo filantrópico global de Oracle, está abierto a educadores de todo el mundo para promover la educación tecnológica, las habilidades, la innovación, y la diversidad e inclusión. </a:t>
            </a:r>
          </a:p>
          <a:p>
            <a:pPr lvl="0"/>
            <a:endParaRPr lang="en-US" sz="1200" b="0" i="0" kern="1200">
              <a:solidFill>
                <a:schemeClr val="tx1"/>
              </a:solidFill>
              <a:effectLst/>
              <a:latin typeface="Oracle Sans Tab" panose="020B0503020204020204" pitchFamily="34" charset="0"/>
              <a:ea typeface="+mn-ea"/>
              <a:cs typeface="Oracle Sans Tab" panose="020B0503020204020204" pitchFamily="34" charset="0"/>
            </a:endParaRPr>
          </a:p>
          <a:p>
            <a:pPr lvl="0"/>
            <a:r>
              <a:rPr lang="en-US" sz="1200" b="0" i="0" kern="1200">
                <a:solidFill>
                  <a:schemeClr val="tx1"/>
                </a:solidFill>
                <a:effectLst/>
                <a:latin typeface="Oracle Sans Tab" panose="020B0503020204020204" pitchFamily="34" charset="0"/>
                <a:ea typeface="+mn-ea"/>
                <a:cs typeface="Oracle Sans Tab" panose="020B0503020204020204" pitchFamily="34" charset="0"/>
              </a:rPr>
              <a:t>El </a:t>
            </a:r>
            <a:r>
              <a:rPr lang="en-US" sz="1200" b="0" i="0" kern="1200" dirty="0">
                <a:solidFill>
                  <a:schemeClr val="tx1"/>
                </a:solidFill>
                <a:effectLst/>
                <a:latin typeface="Oracle Sans Tab" panose="020B0503020204020204" pitchFamily="34" charset="0"/>
                <a:ea typeface="+mn-ea"/>
                <a:cs typeface="Oracle Sans Tab" panose="020B0503020204020204" pitchFamily="34" charset="0"/>
              </a:rPr>
              <a:t>programa ofrece a las instituciones académicas y a sus educadores</a:t>
            </a:r>
            <a:r>
              <a:rPr lang="en-US" sz="1200" b="1" i="0" u="sng" kern="1200" dirty="0">
                <a:solidFill>
                  <a:schemeClr val="tx1"/>
                </a:solidFill>
                <a:effectLst/>
                <a:latin typeface="Oracle Sans Tab" panose="020B0503020204020204" pitchFamily="34" charset="0"/>
                <a:ea typeface="+mn-ea"/>
                <a:cs typeface="Oracle Sans Tab" panose="020B0503020204020204" pitchFamily="34" charset="0"/>
              </a:rPr>
              <a:t> recursos gratuitos</a:t>
            </a:r>
            <a:r>
              <a:rPr lang="en-US" sz="1200" b="0" i="0" kern="1200" dirty="0">
                <a:solidFill>
                  <a:schemeClr val="tx1"/>
                </a:solidFill>
                <a:effectLst/>
                <a:latin typeface="Oracle Sans Tab" panose="020B0503020204020204" pitchFamily="34" charset="0"/>
                <a:ea typeface="+mn-ea"/>
                <a:cs typeface="Oracle Sans Tab" panose="020B0503020204020204" pitchFamily="34" charset="0"/>
              </a:rPr>
              <a:t> de enseñanza y aprendizaje, incluyendo plan de estudios, nube, software y desarrollo profesional, que les ayudan a preparar a los estudiantes con conocimientos, práctica y habilidades relevantes para su carrera.</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DC5964-3162-43B5-B1EC-63C8D166D7D3}" type="slidenum">
              <a:rPr kumimoji="0" lang="en-US" sz="1600" b="0" i="0" u="none" strike="noStrike" kern="1200" cap="none" spc="0" normalizeH="0" baseline="0" noProof="0" smtClean="0">
                <a:ln>
                  <a:noFill/>
                </a:ln>
                <a:solidFill>
                  <a:srgbClr val="312D2A"/>
                </a:solidFill>
                <a:effectLst/>
                <a:uLnTx/>
                <a:uFillTx/>
                <a:latin typeface="Oracle Sans Tab" panose="020B05030202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312D2A"/>
              </a:solidFill>
              <a:effectLst/>
              <a:uLnTx/>
              <a:uFillTx/>
              <a:latin typeface="Oracle Sans Tab" panose="020B0503020204020204" pitchFamily="34" charset="0"/>
              <a:ea typeface="+mn-ea"/>
              <a:cs typeface="+mn-cs"/>
            </a:endParaRPr>
          </a:p>
        </p:txBody>
      </p:sp>
    </p:spTree>
    <p:extLst>
      <p:ext uri="{BB962C8B-B14F-4D97-AF65-F5344CB8AC3E}">
        <p14:creationId xmlns:p14="http://schemas.microsoft.com/office/powerpoint/2010/main" val="1398927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academy.oracle.com</a:t>
            </a:r>
            <a:r>
              <a:rPr lang="en-US" dirty="0"/>
              <a:t>/</a:t>
            </a:r>
            <a:r>
              <a:rPr lang="en-US" dirty="0" err="1"/>
              <a:t>en</a:t>
            </a:r>
            <a:r>
              <a:rPr lang="en-US" dirty="0"/>
              <a:t>/solutions-curriculum-</a:t>
            </a:r>
            <a:r>
              <a:rPr lang="en-US" dirty="0" err="1"/>
              <a:t>java.html</a:t>
            </a:r>
            <a:endParaRPr lang="en-US" dirty="0"/>
          </a:p>
        </p:txBody>
      </p:sp>
    </p:spTree>
    <p:extLst>
      <p:ext uri="{BB962C8B-B14F-4D97-AF65-F5344CB8AC3E}">
        <p14:creationId xmlns:p14="http://schemas.microsoft.com/office/powerpoint/2010/main" val="2651275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997d22276d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997d22276d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82575" algn="l" rtl="0">
              <a:lnSpc>
                <a:spcPct val="115000"/>
              </a:lnSpc>
              <a:spcBef>
                <a:spcPts val="1200"/>
              </a:spcBef>
              <a:spcAft>
                <a:spcPts val="0"/>
              </a:spcAft>
              <a:buClr>
                <a:schemeClr val="dk1"/>
              </a:buClr>
              <a:buSzPts val="850"/>
              <a:buChar char="●"/>
            </a:pPr>
            <a:r>
              <a:rPr lang="en" sz="850" dirty="0">
                <a:solidFill>
                  <a:schemeClr val="dk1"/>
                </a:solidFill>
              </a:rPr>
              <a:t>La membresía/participación en Oracle Academy es para instituciones educativas y educadores de esas instituciones.  </a:t>
            </a:r>
            <a:endParaRPr sz="850" dirty="0">
              <a:solidFill>
                <a:schemeClr val="dk1"/>
              </a:solidFill>
            </a:endParaRPr>
          </a:p>
          <a:p>
            <a:pPr marL="457200" lvl="0" indent="-282575" algn="l" rtl="0">
              <a:lnSpc>
                <a:spcPct val="115000"/>
              </a:lnSpc>
              <a:spcBef>
                <a:spcPts val="0"/>
              </a:spcBef>
              <a:spcAft>
                <a:spcPts val="0"/>
              </a:spcAft>
              <a:buClr>
                <a:schemeClr val="dk1"/>
              </a:buClr>
              <a:buSzPts val="850"/>
              <a:buChar char="●"/>
            </a:pPr>
            <a:r>
              <a:rPr lang="en" sz="850" dirty="0">
                <a:solidFill>
                  <a:schemeClr val="dk1"/>
                </a:solidFill>
              </a:rPr>
              <a:t>No nos enfocamos directamente en los estudiantes: trabajamos directamente con los educadores, quienes luego trabajan con sus estudiantes.</a:t>
            </a:r>
            <a:endParaRPr sz="850" dirty="0">
              <a:solidFill>
                <a:schemeClr val="dk1"/>
              </a:solidFill>
            </a:endParaRPr>
          </a:p>
          <a:p>
            <a:pPr marL="457200" lvl="0" indent="-282575" algn="l" rtl="0">
              <a:lnSpc>
                <a:spcPct val="115000"/>
              </a:lnSpc>
              <a:spcBef>
                <a:spcPts val="0"/>
              </a:spcBef>
              <a:spcAft>
                <a:spcPts val="0"/>
              </a:spcAft>
              <a:buClr>
                <a:schemeClr val="dk1"/>
              </a:buClr>
              <a:buSzPts val="850"/>
              <a:buChar char="●"/>
            </a:pPr>
            <a:r>
              <a:rPr lang="en" sz="850" dirty="0">
                <a:solidFill>
                  <a:schemeClr val="dk1"/>
                </a:solidFill>
              </a:rPr>
              <a:t>Los profesionales de TI NO PUEDEN convertirse en miembros de Oracle Academy ni pueden utilizar estos recursos para beneficio personal o profesional.</a:t>
            </a:r>
            <a:endParaRPr sz="850" dirty="0">
              <a:solidFill>
                <a:schemeClr val="dk1"/>
              </a:solidFill>
            </a:endParaRPr>
          </a:p>
          <a:p>
            <a:pPr marL="457200" lvl="0" indent="-282575" algn="l" rtl="0">
              <a:lnSpc>
                <a:spcPct val="115000"/>
              </a:lnSpc>
              <a:spcBef>
                <a:spcPts val="0"/>
              </a:spcBef>
              <a:spcAft>
                <a:spcPts val="0"/>
              </a:spcAft>
              <a:buClr>
                <a:schemeClr val="dk1"/>
              </a:buClr>
              <a:buSzPts val="850"/>
              <a:buChar char="●"/>
            </a:pPr>
            <a:r>
              <a:rPr lang="en" sz="850" dirty="0">
                <a:solidFill>
                  <a:schemeClr val="dk1"/>
                </a:solidFill>
              </a:rPr>
              <a:t>La ruta curricular destacada en esta diapositiva es para que los educadores la usen en el aula al enseñar a los estudiantes.</a:t>
            </a:r>
            <a:endParaRPr sz="85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85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85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850" dirty="0">
                <a:solidFill>
                  <a:schemeClr val="dk1"/>
                </a:solidFill>
              </a:rPr>
              <a:t>Sí proporcionamos recursos llamados “Taller en una caja (cuadros amarillos arriba)”. Son cajas “virtuales” diseñadas para que voluntarios, educadores y padres las usen con los estudiantes, con el fin de que las primeras experiencias con la computación sean divertidas y atractivas. Estos recursos de taller en una caja no incluyen capacitación. El sitio público para acceder a estos recursos:</a:t>
            </a:r>
            <a:endParaRPr sz="850" u="sng" dirty="0">
              <a:solidFill>
                <a:srgbClr val="118696"/>
              </a:solidFill>
            </a:endParaRPr>
          </a:p>
          <a:p>
            <a:pPr marL="0" lvl="0" indent="0" algn="l" rtl="0">
              <a:lnSpc>
                <a:spcPct val="115000"/>
              </a:lnSpc>
              <a:spcBef>
                <a:spcPts val="0"/>
              </a:spcBef>
              <a:spcAft>
                <a:spcPts val="0"/>
              </a:spcAft>
              <a:buClr>
                <a:schemeClr val="dk1"/>
              </a:buClr>
              <a:buSzPts val="1100"/>
              <a:buFont typeface="Arial"/>
              <a:buNone/>
            </a:pPr>
            <a:r>
              <a:rPr lang="en-US" sz="850" dirty="0">
                <a:solidFill>
                  <a:schemeClr val="dk1"/>
                </a:solidFill>
              </a:rPr>
              <a:t>https://</a:t>
            </a:r>
            <a:r>
              <a:rPr lang="en-US" sz="850" dirty="0" err="1">
                <a:solidFill>
                  <a:schemeClr val="dk1"/>
                </a:solidFill>
              </a:rPr>
              <a:t>academy.oracle.com</a:t>
            </a:r>
            <a:r>
              <a:rPr lang="en-US" sz="850" dirty="0">
                <a:solidFill>
                  <a:schemeClr val="dk1"/>
                </a:solidFill>
              </a:rPr>
              <a:t>/</a:t>
            </a:r>
            <a:r>
              <a:rPr lang="en-US" sz="850" dirty="0" err="1">
                <a:solidFill>
                  <a:schemeClr val="dk1"/>
                </a:solidFill>
              </a:rPr>
              <a:t>en</a:t>
            </a:r>
            <a:r>
              <a:rPr lang="en-US" sz="850" dirty="0">
                <a:solidFill>
                  <a:schemeClr val="dk1"/>
                </a:solidFill>
              </a:rPr>
              <a:t>/training-</a:t>
            </a:r>
            <a:r>
              <a:rPr lang="en-US" sz="850" dirty="0" err="1">
                <a:solidFill>
                  <a:schemeClr val="dk1"/>
                </a:solidFill>
              </a:rPr>
              <a:t>workshops.html</a:t>
            </a:r>
            <a:endParaRPr lang="en-US" sz="85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85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850" dirty="0">
                <a:solidFill>
                  <a:schemeClr val="dk1"/>
                </a:solidFill>
              </a:rPr>
              <a:t>No es el plan de estudios robusto disponible para las instituciones académicas. Siempre está actualizado y disponible en varios idiomas (7 a 8 idiomas).</a:t>
            </a:r>
            <a:endParaRPr sz="85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850"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997d22276d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997d22276d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Por su cuenta, como estudiante o aprendiz profesional a través de Oracle University.</a:t>
            </a:r>
          </a:p>
          <a:p>
            <a:pPr marL="0" lvl="0" indent="0" algn="l" rtl="0">
              <a:spcBef>
                <a:spcPts val="0"/>
              </a:spcBef>
              <a:spcAft>
                <a:spcPts val="0"/>
              </a:spcAft>
              <a:buNone/>
            </a:pPr>
            <a:r>
              <a:rPr lang="en-US" dirty="0"/>
              <a:t>El curso Java Explorer ofrece más de 6 horas de capacitación gratuita.</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997d22276d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997d22276d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education.oracle.com</a:t>
            </a:r>
            <a:r>
              <a:rPr lang="en-US" dirty="0"/>
              <a:t>/oracle-certified-professional-java-se-17-developer/trackp_OCPJSE17</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La capacitación y certificación de Java SE también está disponible; Java SE 21 próximamente.</a:t>
            </a:r>
          </a:p>
          <a:p>
            <a:pPr marL="0" lvl="0" indent="0" algn="l" rtl="0">
              <a:spcBef>
                <a:spcPts val="0"/>
              </a:spcBef>
              <a:spcAft>
                <a:spcPts val="0"/>
              </a:spcAft>
              <a:buNone/>
            </a:pPr>
            <a:r>
              <a:rPr lang="en-US" dirty="0"/>
              <a:t>También existe la comunidad de OU para preguntas y discusión sobre el contenido de OU:</a:t>
            </a:r>
            <a:endParaRPr lang="en-US" dirty="0">
              <a:effectLst/>
            </a:endParaRPr>
          </a:p>
          <a:p>
            <a:pPr rtl="0" fontAlgn="base"/>
            <a:r>
              <a:rPr lang="en-US" b="0" dirty="0">
                <a:solidFill>
                  <a:srgbClr val="000000"/>
                </a:solidFill>
                <a:effectLst/>
                <a:latin typeface="inherit"/>
                <a:hlinkClick r:id="rId3"/>
              </a:rPr>
              <a:t>https://community.oracle.com/ou/</a:t>
            </a:r>
            <a:endParaRPr lang="en-US" dirty="0">
              <a:effectLst/>
            </a:endParaRPr>
          </a:p>
          <a:p>
            <a:pPr marL="0" lvl="0" indent="0" algn="l" rtl="0">
              <a:spcBef>
                <a:spcPts val="0"/>
              </a:spcBef>
              <a:spcAft>
                <a:spcPts val="0"/>
              </a:spcAft>
              <a:buNone/>
            </a:pP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Esta diapositiva muestra dónde comúnmente</a:t>
            </a:r>
            <a:r>
              <a:rPr lang="en-US" baseline="0" dirty="0"/>
              <a:t> encontramos nuestros recursos utilizados en colegios y universidades.</a:t>
            </a:r>
            <a:endParaRPr lang="en-US" dirty="0"/>
          </a:p>
        </p:txBody>
      </p:sp>
      <p:sp>
        <p:nvSpPr>
          <p:cNvPr id="4" name="Slide Number Placeholder 3"/>
          <p:cNvSpPr>
            <a:spLocks noGrp="1"/>
          </p:cNvSpPr>
          <p:nvPr>
            <p:ph type="sldNum" sz="quarter" idx="10"/>
          </p:nvPr>
        </p:nvSpPr>
        <p:spPr/>
        <p:txBody>
          <a:bodyPr/>
          <a:lstStyle/>
          <a:p>
            <a:fld id="{9EDC5964-3162-43B5-B1EC-63C8D166D7D3}" type="slidenum">
              <a:rPr lang="en-US" smtClean="0"/>
              <a:pPr/>
              <a:t>16</a:t>
            </a:fld>
            <a:endParaRPr lang="en-US" dirty="0"/>
          </a:p>
        </p:txBody>
      </p:sp>
    </p:spTree>
    <p:extLst>
      <p:ext uri="{BB962C8B-B14F-4D97-AF65-F5344CB8AC3E}">
        <p14:creationId xmlns:p14="http://schemas.microsoft.com/office/powerpoint/2010/main" val="1957671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b3f376fb1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b3f376fb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JetBrains lanzó recientemente JetBrains Academy, una plataforma educativa que ofrece aprendizaje interactivo basado en proyectos combinado con potentes herramientas de desarrollo profesional. </a:t>
            </a:r>
            <a:br>
              <a:rPr lang="en" dirty="0">
                <a:solidFill>
                  <a:schemeClr val="dk1"/>
                </a:solidFill>
              </a:rPr>
            </a:br>
            <a:br>
              <a:rPr lang="en" dirty="0">
                <a:solidFill>
                  <a:schemeClr val="dk1"/>
                </a:solidFill>
              </a:rPr>
            </a:br>
            <a:r>
              <a:rPr lang="en" dirty="0">
                <a:solidFill>
                  <a:schemeClr val="dk1"/>
                </a:solidFill>
              </a:rPr>
              <a:t>Aprenda Java </a:t>
            </a:r>
            <a:r>
              <a:rPr lang="en" dirty="0">
                <a:solidFill>
                  <a:srgbClr val="1D1C1D"/>
                </a:solidFill>
              </a:rPr>
              <a:t>creando aplicaciones funcionales </a:t>
            </a:r>
            <a:r>
              <a:rPr lang="en" sz="1150" dirty="0">
                <a:solidFill>
                  <a:srgbClr val="1D1C1D"/>
                </a:solidFill>
                <a:highlight>
                  <a:schemeClr val="lt1"/>
                </a:highlight>
              </a:rPr>
              <a:t>paso a paso</a:t>
            </a:r>
            <a:r>
              <a:rPr lang="en" dirty="0">
                <a:solidFill>
                  <a:srgbClr val="1D1C1D"/>
                </a:solidFill>
              </a:rPr>
              <a:t> en un entorno interactivo integrado con los IDE de JetBrains</a:t>
            </a:r>
            <a:r>
              <a:rPr lang="en" dirty="0">
                <a:solidFill>
                  <a:schemeClr val="dk1"/>
                </a:solidFill>
              </a:rPr>
              <a:t>. Siga </a:t>
            </a:r>
            <a:r>
              <a:rPr lang="en" u="sng" dirty="0">
                <a:solidFill>
                  <a:srgbClr val="0097A7"/>
                </a:solidFill>
                <a:hlinkClick r:id="rId3">
                  <a:extLst>
                    <a:ext uri="{A12FA001-AC4F-418D-AE19-62706E023703}">
                      <ahyp:hlinkClr xmlns:ahyp="http://schemas.microsoft.com/office/drawing/2018/hyperlinkcolor" val="tx"/>
                    </a:ext>
                  </a:extLst>
                </a:hlinkClick>
              </a:rPr>
              <a:t>el enlace</a:t>
            </a:r>
            <a:r>
              <a:rPr lang="en" dirty="0">
                <a:solidFill>
                  <a:schemeClr val="dk1"/>
                </a:solidFill>
              </a:rPr>
              <a:t> para obtener una prueba gratuita extendida de 3 meses en JetBrains Academy.</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aeb56dafec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aeb56dafe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u="sng">
                <a:solidFill>
                  <a:srgbClr val="0097A7"/>
                </a:solidFill>
                <a:hlinkClick r:id="rId3">
                  <a:extLst>
                    <a:ext uri="{A12FA001-AC4F-418D-AE19-62706E023703}">
                      <ahyp:hlinkClr xmlns:ahyp="http://schemas.microsoft.com/office/drawing/2018/hyperlinkcolor" val="tx"/>
                    </a:ext>
                  </a:extLst>
                </a:hlinkClick>
              </a:rPr>
              <a:t>https://jcp.org/en/participation/JUG_list</a:t>
            </a:r>
            <a:r>
              <a:rPr lang="en">
                <a:solidFill>
                  <a:schemeClr val="dk1"/>
                </a:solidFill>
              </a:rPr>
              <a:t> - casi 100 JUG participando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Los JUG pueden unirse al programa JCP como miembros asociados: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https://jcp.org/en/participation/jug</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997d22276d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997d22276d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9e4cef337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9e4cef337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Grabación de esta presentación https://</a:t>
            </a:r>
            <a:r>
              <a:rPr lang="en" dirty="0" err="1"/>
              <a:t>jcp.org</a:t>
            </a:r>
            <a:r>
              <a:rPr lang="en" dirty="0"/>
              <a:t>/</a:t>
            </a:r>
            <a:r>
              <a:rPr lang="en" dirty="0" err="1"/>
              <a:t>aboutJava</a:t>
            </a:r>
            <a:r>
              <a:rPr lang="en" dirty="0"/>
              <a:t>/</a:t>
            </a:r>
            <a:r>
              <a:rPr lang="en" dirty="0" err="1"/>
              <a:t>communityprocess</a:t>
            </a:r>
            <a:r>
              <a:rPr lang="en" dirty="0"/>
              <a:t>/media/Java_in_Education_for_JUG_Leaders_November_2020.mp4</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title">
  <p:cSld name="Section title">
    <p:bg>
      <p:bgPr>
        <a:solidFill>
          <a:srgbClr val="00000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88129" y="2055053"/>
            <a:ext cx="6397800" cy="1112100"/>
          </a:xfrm>
          <a:prstGeom prst="rect">
            <a:avLst/>
          </a:prstGeom>
          <a:noFill/>
          <a:ln>
            <a:noFill/>
          </a:ln>
        </p:spPr>
        <p:txBody>
          <a:bodyPr spcFirstLastPara="1" wrap="square" lIns="45700" tIns="45700" rIns="45700" bIns="45700" anchor="b" anchorCtr="0">
            <a:noAutofit/>
          </a:bodyPr>
          <a:lstStyle>
            <a:lvl1pPr marL="457200" lvl="0" indent="-285750" algn="l" rtl="0">
              <a:lnSpc>
                <a:spcPct val="110000"/>
              </a:lnSpc>
              <a:spcBef>
                <a:spcPts val="0"/>
              </a:spcBef>
              <a:spcAft>
                <a:spcPts val="0"/>
              </a:spcAft>
              <a:buClr>
                <a:srgbClr val="000000"/>
              </a:buClr>
              <a:buSzPts val="900"/>
              <a:buChar char="●"/>
              <a:defRPr/>
            </a:lvl1pPr>
            <a:lvl2pPr marL="914400" lvl="1" indent="-285750" algn="l" rtl="0">
              <a:lnSpc>
                <a:spcPct val="110000"/>
              </a:lnSpc>
              <a:spcBef>
                <a:spcPts val="0"/>
              </a:spcBef>
              <a:spcAft>
                <a:spcPts val="0"/>
              </a:spcAft>
              <a:buClr>
                <a:srgbClr val="000000"/>
              </a:buClr>
              <a:buSzPts val="900"/>
              <a:buChar char="○"/>
              <a:defRPr/>
            </a:lvl2pPr>
            <a:lvl3pPr marL="1371600" lvl="2" indent="-285750" algn="l" rtl="0">
              <a:lnSpc>
                <a:spcPct val="110000"/>
              </a:lnSpc>
              <a:spcBef>
                <a:spcPts val="0"/>
              </a:spcBef>
              <a:spcAft>
                <a:spcPts val="0"/>
              </a:spcAft>
              <a:buClr>
                <a:srgbClr val="000000"/>
              </a:buClr>
              <a:buSzPts val="900"/>
              <a:buChar char="■"/>
              <a:defRPr/>
            </a:lvl3pPr>
            <a:lvl4pPr marL="1828800" lvl="3" indent="-285750" algn="l" rtl="0">
              <a:lnSpc>
                <a:spcPct val="110000"/>
              </a:lnSpc>
              <a:spcBef>
                <a:spcPts val="0"/>
              </a:spcBef>
              <a:spcAft>
                <a:spcPts val="0"/>
              </a:spcAft>
              <a:buClr>
                <a:srgbClr val="000000"/>
              </a:buClr>
              <a:buSzPts val="900"/>
              <a:buChar char="●"/>
              <a:defRPr/>
            </a:lvl4pPr>
            <a:lvl5pPr marL="2286000" lvl="4" indent="-285750" algn="l" rtl="0">
              <a:lnSpc>
                <a:spcPct val="110000"/>
              </a:lnSpc>
              <a:spcBef>
                <a:spcPts val="0"/>
              </a:spcBef>
              <a:spcAft>
                <a:spcPts val="0"/>
              </a:spcAft>
              <a:buClr>
                <a:srgbClr val="000000"/>
              </a:buClr>
              <a:buSzPts val="900"/>
              <a:buChar char="○"/>
              <a:defRPr/>
            </a:lvl5pPr>
            <a:lvl6pPr marL="2743200" lvl="5" indent="-285750" algn="l" rtl="0">
              <a:lnSpc>
                <a:spcPct val="110000"/>
              </a:lnSpc>
              <a:spcBef>
                <a:spcPts val="0"/>
              </a:spcBef>
              <a:spcAft>
                <a:spcPts val="0"/>
              </a:spcAft>
              <a:buClr>
                <a:srgbClr val="000000"/>
              </a:buClr>
              <a:buSzPts val="900"/>
              <a:buChar char="■"/>
              <a:defRPr/>
            </a:lvl6pPr>
            <a:lvl7pPr marL="3200400" lvl="6" indent="-285750" algn="l" rtl="0">
              <a:lnSpc>
                <a:spcPct val="110000"/>
              </a:lnSpc>
              <a:spcBef>
                <a:spcPts val="0"/>
              </a:spcBef>
              <a:spcAft>
                <a:spcPts val="0"/>
              </a:spcAft>
              <a:buClr>
                <a:srgbClr val="000000"/>
              </a:buClr>
              <a:buSzPts val="900"/>
              <a:buChar char="●"/>
              <a:defRPr/>
            </a:lvl7pPr>
            <a:lvl8pPr marL="3657600" lvl="7" indent="-285750" algn="l" rtl="0">
              <a:lnSpc>
                <a:spcPct val="110000"/>
              </a:lnSpc>
              <a:spcBef>
                <a:spcPts val="0"/>
              </a:spcBef>
              <a:spcAft>
                <a:spcPts val="0"/>
              </a:spcAft>
              <a:buClr>
                <a:srgbClr val="000000"/>
              </a:buClr>
              <a:buSzPts val="900"/>
              <a:buChar char="○"/>
              <a:defRPr/>
            </a:lvl8pPr>
            <a:lvl9pPr marL="4114800" lvl="8" indent="-285750" algn="l" rtl="0">
              <a:lnSpc>
                <a:spcPct val="110000"/>
              </a:lnSpc>
              <a:spcBef>
                <a:spcPts val="0"/>
              </a:spcBef>
              <a:spcAft>
                <a:spcPts val="0"/>
              </a:spcAft>
              <a:buClr>
                <a:srgbClr val="000000"/>
              </a:buClr>
              <a:buSzPts val="900"/>
              <a:buChar char="■"/>
              <a:defRPr/>
            </a:lvl9pPr>
          </a:lstStyle>
          <a:p>
            <a:endParaRPr/>
          </a:p>
        </p:txBody>
      </p:sp>
      <p:sp>
        <p:nvSpPr>
          <p:cNvPr id="52" name="Google Shape;52;p13"/>
          <p:cNvSpPr txBox="1">
            <a:spLocks noGrp="1"/>
          </p:cNvSpPr>
          <p:nvPr>
            <p:ph type="body" idx="2"/>
          </p:nvPr>
        </p:nvSpPr>
        <p:spPr>
          <a:xfrm>
            <a:off x="288129" y="559574"/>
            <a:ext cx="2858400" cy="1288500"/>
          </a:xfrm>
          <a:prstGeom prst="rect">
            <a:avLst/>
          </a:prstGeom>
          <a:noFill/>
          <a:ln>
            <a:noFill/>
          </a:ln>
        </p:spPr>
        <p:txBody>
          <a:bodyPr spcFirstLastPara="1" wrap="square" lIns="45700" tIns="45700" rIns="45700" bIns="45700" anchor="t" anchorCtr="0">
            <a:noAutofit/>
          </a:bodyPr>
          <a:lstStyle>
            <a:lvl1pPr marL="457200" lvl="0" indent="-285750" algn="l" rtl="0">
              <a:lnSpc>
                <a:spcPct val="110000"/>
              </a:lnSpc>
              <a:spcBef>
                <a:spcPts val="0"/>
              </a:spcBef>
              <a:spcAft>
                <a:spcPts val="0"/>
              </a:spcAft>
              <a:buClr>
                <a:srgbClr val="000000"/>
              </a:buClr>
              <a:buSzPts val="900"/>
              <a:buChar char="●"/>
              <a:defRPr/>
            </a:lvl1pPr>
            <a:lvl2pPr marL="914400" lvl="1" indent="-285750" algn="l" rtl="0">
              <a:lnSpc>
                <a:spcPct val="110000"/>
              </a:lnSpc>
              <a:spcBef>
                <a:spcPts val="0"/>
              </a:spcBef>
              <a:spcAft>
                <a:spcPts val="0"/>
              </a:spcAft>
              <a:buClr>
                <a:srgbClr val="000000"/>
              </a:buClr>
              <a:buSzPts val="900"/>
              <a:buChar char="○"/>
              <a:defRPr/>
            </a:lvl2pPr>
            <a:lvl3pPr marL="1371600" lvl="2" indent="-285750" algn="l" rtl="0">
              <a:lnSpc>
                <a:spcPct val="110000"/>
              </a:lnSpc>
              <a:spcBef>
                <a:spcPts val="0"/>
              </a:spcBef>
              <a:spcAft>
                <a:spcPts val="0"/>
              </a:spcAft>
              <a:buClr>
                <a:srgbClr val="000000"/>
              </a:buClr>
              <a:buSzPts val="900"/>
              <a:buChar char="■"/>
              <a:defRPr/>
            </a:lvl3pPr>
            <a:lvl4pPr marL="1828800" lvl="3" indent="-285750" algn="l" rtl="0">
              <a:lnSpc>
                <a:spcPct val="110000"/>
              </a:lnSpc>
              <a:spcBef>
                <a:spcPts val="0"/>
              </a:spcBef>
              <a:spcAft>
                <a:spcPts val="0"/>
              </a:spcAft>
              <a:buClr>
                <a:srgbClr val="000000"/>
              </a:buClr>
              <a:buSzPts val="900"/>
              <a:buChar char="●"/>
              <a:defRPr/>
            </a:lvl4pPr>
            <a:lvl5pPr marL="2286000" lvl="4" indent="-285750" algn="l" rtl="0">
              <a:lnSpc>
                <a:spcPct val="110000"/>
              </a:lnSpc>
              <a:spcBef>
                <a:spcPts val="0"/>
              </a:spcBef>
              <a:spcAft>
                <a:spcPts val="0"/>
              </a:spcAft>
              <a:buClr>
                <a:srgbClr val="000000"/>
              </a:buClr>
              <a:buSzPts val="900"/>
              <a:buChar char="○"/>
              <a:defRPr/>
            </a:lvl5pPr>
            <a:lvl6pPr marL="2743200" lvl="5" indent="-285750" algn="l" rtl="0">
              <a:lnSpc>
                <a:spcPct val="110000"/>
              </a:lnSpc>
              <a:spcBef>
                <a:spcPts val="0"/>
              </a:spcBef>
              <a:spcAft>
                <a:spcPts val="0"/>
              </a:spcAft>
              <a:buClr>
                <a:srgbClr val="000000"/>
              </a:buClr>
              <a:buSzPts val="900"/>
              <a:buChar char="■"/>
              <a:defRPr/>
            </a:lvl6pPr>
            <a:lvl7pPr marL="3200400" lvl="6" indent="-285750" algn="l" rtl="0">
              <a:lnSpc>
                <a:spcPct val="110000"/>
              </a:lnSpc>
              <a:spcBef>
                <a:spcPts val="0"/>
              </a:spcBef>
              <a:spcAft>
                <a:spcPts val="0"/>
              </a:spcAft>
              <a:buClr>
                <a:srgbClr val="000000"/>
              </a:buClr>
              <a:buSzPts val="900"/>
              <a:buChar char="●"/>
              <a:defRPr/>
            </a:lvl7pPr>
            <a:lvl8pPr marL="3657600" lvl="7" indent="-285750" algn="l" rtl="0">
              <a:lnSpc>
                <a:spcPct val="110000"/>
              </a:lnSpc>
              <a:spcBef>
                <a:spcPts val="0"/>
              </a:spcBef>
              <a:spcAft>
                <a:spcPts val="0"/>
              </a:spcAft>
              <a:buClr>
                <a:srgbClr val="000000"/>
              </a:buClr>
              <a:buSzPts val="900"/>
              <a:buChar char="○"/>
              <a:defRPr/>
            </a:lvl8pPr>
            <a:lvl9pPr marL="4114800" lvl="8" indent="-285750" algn="l" rtl="0">
              <a:lnSpc>
                <a:spcPct val="110000"/>
              </a:lnSpc>
              <a:spcBef>
                <a:spcPts val="0"/>
              </a:spcBef>
              <a:spcAft>
                <a:spcPts val="0"/>
              </a:spcAft>
              <a:buClr>
                <a:srgbClr val="000000"/>
              </a:buClr>
              <a:buSzPts val="900"/>
              <a:buChar char="■"/>
              <a:defRPr/>
            </a:lvl9pPr>
          </a:lstStyle>
          <a:p>
            <a:endParaRPr/>
          </a:p>
        </p:txBody>
      </p:sp>
      <p:sp>
        <p:nvSpPr>
          <p:cNvPr id="53" name="Google Shape;53;p13"/>
          <p:cNvSpPr txBox="1">
            <a:spLocks noGrp="1"/>
          </p:cNvSpPr>
          <p:nvPr>
            <p:ph type="sldNum" idx="12"/>
          </p:nvPr>
        </p:nvSpPr>
        <p:spPr>
          <a:xfrm>
            <a:off x="8237185" y="183913"/>
            <a:ext cx="172500" cy="162900"/>
          </a:xfrm>
          <a:prstGeom prst="rect">
            <a:avLst/>
          </a:prstGeom>
          <a:noFill/>
          <a:ln>
            <a:noFill/>
          </a:ln>
        </p:spPr>
        <p:txBody>
          <a:bodyPr spcFirstLastPara="1" wrap="square" lIns="45700" tIns="45700" rIns="45700" bIns="45700" anchor="ctr" anchorCtr="0">
            <a:noAutofit/>
          </a:bodyPr>
          <a:lstStyle>
            <a:lvl1pPr marL="0" marR="0" lvl="0" indent="0" algn="l" rtl="0">
              <a:lnSpc>
                <a:spcPct val="110000"/>
              </a:lnSpc>
              <a:spcBef>
                <a:spcPts val="0"/>
              </a:spcBef>
              <a:spcAft>
                <a:spcPts val="0"/>
              </a:spcAft>
              <a:buClr>
                <a:srgbClr val="000000"/>
              </a:buClr>
              <a:buSzPts val="500"/>
              <a:buFont typeface="Arial"/>
              <a:buNone/>
              <a:defRPr sz="500"/>
            </a:lvl1pPr>
            <a:lvl2pPr marL="0" marR="0" lvl="1" indent="0" algn="l" rtl="0">
              <a:lnSpc>
                <a:spcPct val="110000"/>
              </a:lnSpc>
              <a:spcBef>
                <a:spcPts val="0"/>
              </a:spcBef>
              <a:spcAft>
                <a:spcPts val="0"/>
              </a:spcAft>
              <a:buClr>
                <a:srgbClr val="000000"/>
              </a:buClr>
              <a:buSzPts val="500"/>
              <a:buFont typeface="Arial"/>
              <a:buNone/>
              <a:defRPr sz="500"/>
            </a:lvl2pPr>
            <a:lvl3pPr marL="0" marR="0" lvl="2" indent="0" algn="l" rtl="0">
              <a:lnSpc>
                <a:spcPct val="110000"/>
              </a:lnSpc>
              <a:spcBef>
                <a:spcPts val="0"/>
              </a:spcBef>
              <a:spcAft>
                <a:spcPts val="0"/>
              </a:spcAft>
              <a:buClr>
                <a:srgbClr val="000000"/>
              </a:buClr>
              <a:buSzPts val="500"/>
              <a:buFont typeface="Arial"/>
              <a:buNone/>
              <a:defRPr sz="500"/>
            </a:lvl3pPr>
            <a:lvl4pPr marL="0" marR="0" lvl="3" indent="0" algn="l" rtl="0">
              <a:lnSpc>
                <a:spcPct val="110000"/>
              </a:lnSpc>
              <a:spcBef>
                <a:spcPts val="0"/>
              </a:spcBef>
              <a:spcAft>
                <a:spcPts val="0"/>
              </a:spcAft>
              <a:buClr>
                <a:srgbClr val="000000"/>
              </a:buClr>
              <a:buSzPts val="500"/>
              <a:buFont typeface="Arial"/>
              <a:buNone/>
              <a:defRPr sz="500"/>
            </a:lvl4pPr>
            <a:lvl5pPr marL="0" marR="0" lvl="4" indent="0" algn="l" rtl="0">
              <a:lnSpc>
                <a:spcPct val="110000"/>
              </a:lnSpc>
              <a:spcBef>
                <a:spcPts val="0"/>
              </a:spcBef>
              <a:spcAft>
                <a:spcPts val="0"/>
              </a:spcAft>
              <a:buClr>
                <a:srgbClr val="000000"/>
              </a:buClr>
              <a:buSzPts val="500"/>
              <a:buFont typeface="Arial"/>
              <a:buNone/>
              <a:defRPr sz="500"/>
            </a:lvl5pPr>
            <a:lvl6pPr marL="0" marR="0" lvl="5" indent="0" algn="l" rtl="0">
              <a:lnSpc>
                <a:spcPct val="110000"/>
              </a:lnSpc>
              <a:spcBef>
                <a:spcPts val="0"/>
              </a:spcBef>
              <a:spcAft>
                <a:spcPts val="0"/>
              </a:spcAft>
              <a:buClr>
                <a:srgbClr val="000000"/>
              </a:buClr>
              <a:buSzPts val="500"/>
              <a:buFont typeface="Arial"/>
              <a:buNone/>
              <a:defRPr sz="500"/>
            </a:lvl6pPr>
            <a:lvl7pPr marL="0" marR="0" lvl="6" indent="0" algn="l" rtl="0">
              <a:lnSpc>
                <a:spcPct val="110000"/>
              </a:lnSpc>
              <a:spcBef>
                <a:spcPts val="0"/>
              </a:spcBef>
              <a:spcAft>
                <a:spcPts val="0"/>
              </a:spcAft>
              <a:buClr>
                <a:srgbClr val="000000"/>
              </a:buClr>
              <a:buSzPts val="500"/>
              <a:buFont typeface="Arial"/>
              <a:buNone/>
              <a:defRPr sz="500"/>
            </a:lvl7pPr>
            <a:lvl8pPr marL="0" marR="0" lvl="7" indent="0" algn="l" rtl="0">
              <a:lnSpc>
                <a:spcPct val="110000"/>
              </a:lnSpc>
              <a:spcBef>
                <a:spcPts val="0"/>
              </a:spcBef>
              <a:spcAft>
                <a:spcPts val="0"/>
              </a:spcAft>
              <a:buClr>
                <a:srgbClr val="000000"/>
              </a:buClr>
              <a:buSzPts val="500"/>
              <a:buFont typeface="Arial"/>
              <a:buNone/>
              <a:defRPr sz="500"/>
            </a:lvl8pPr>
            <a:lvl9pPr marL="0" marR="0" lvl="8" indent="0" algn="l" rtl="0">
              <a:lnSpc>
                <a:spcPct val="110000"/>
              </a:lnSpc>
              <a:spcBef>
                <a:spcPts val="0"/>
              </a:spcBef>
              <a:spcAft>
                <a:spcPts val="0"/>
              </a:spcAft>
              <a:buClr>
                <a:srgbClr val="000000"/>
              </a:buClr>
              <a:buSzPts val="500"/>
              <a:buFont typeface="Arial"/>
              <a:buNone/>
              <a:defRPr sz="500"/>
            </a:lvl9pPr>
          </a:lstStyle>
          <a:p>
            <a:pPr marL="0" lvl="0" indent="0" algn="l" rtl="0">
              <a:spcBef>
                <a:spcPts val="0"/>
              </a:spcBef>
              <a:spcAft>
                <a:spcPts val="0"/>
              </a:spcAft>
              <a:buNone/>
            </a:pPr>
            <a:fld id="{00000000-1234-1234-1234-123412341234}" type="slidenum">
              <a:rPr lang="en"/>
              <a:t>‹#›</a:t>
            </a:fld>
            <a:endParaRPr sz="10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Dark - Remote Speak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CB9AC92-58C2-B14E-81EA-F40548FD48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000"/>
          <a:stretch/>
        </p:blipFill>
        <p:spPr>
          <a:xfrm>
            <a:off x="3657599" y="0"/>
            <a:ext cx="5486401" cy="5143500"/>
          </a:xfrm>
          <a:prstGeom prst="rect">
            <a:avLst/>
          </a:prstGeom>
        </p:spPr>
      </p:pic>
      <p:sp>
        <p:nvSpPr>
          <p:cNvPr id="20" name="Title">
            <a:extLst>
              <a:ext uri="{FF2B5EF4-FFF2-40B4-BE49-F238E27FC236}">
                <a16:creationId xmlns:a16="http://schemas.microsoft.com/office/drawing/2014/main" id="{D94542D5-A1D6-E542-963D-B72B60EDE019}"/>
              </a:ext>
            </a:extLst>
          </p:cNvPr>
          <p:cNvSpPr>
            <a:spLocks noGrp="1"/>
          </p:cNvSpPr>
          <p:nvPr>
            <p:ph type="title" hasCustomPrompt="1"/>
          </p:nvPr>
        </p:nvSpPr>
        <p:spPr>
          <a:xfrm>
            <a:off x="4039363" y="1763793"/>
            <a:ext cx="4722875" cy="617220"/>
          </a:xfrm>
        </p:spPr>
        <p:txBody>
          <a:bodyPr vert="horz" lIns="0" tIns="0" rIns="0" bIns="0" rtlCol="0" anchor="b">
            <a:noAutofit/>
          </a:bodyPr>
          <a:lstStyle>
            <a:lvl1pPr>
              <a:defRPr lang="en-US" sz="1800" b="1" i="0" baseline="0">
                <a:latin typeface="Oracle Sans Tab" panose="020B0503020204020204" pitchFamily="34" charset="0"/>
                <a:ea typeface="+mn-ea"/>
                <a:cs typeface="Oracle Sans Tab" panose="020B0503020204020204" pitchFamily="34" charset="0"/>
              </a:defRPr>
            </a:lvl1pPr>
          </a:lstStyle>
          <a:p>
            <a:pPr marL="0" lvl="0" indent="0">
              <a:spcBef>
                <a:spcPts val="750"/>
              </a:spcBef>
              <a:buFont typeface="Arial" panose="020B0604020202020204" pitchFamily="34" charset="0"/>
            </a:pPr>
            <a:r>
              <a:rPr lang="en-US" dirty="0"/>
              <a:t>Add title here. Also remove/replace placeholder image as needed.</a:t>
            </a:r>
          </a:p>
        </p:txBody>
      </p:sp>
      <p:sp>
        <p:nvSpPr>
          <p:cNvPr id="21" name="Text Field">
            <a:extLst>
              <a:ext uri="{FF2B5EF4-FFF2-40B4-BE49-F238E27FC236}">
                <a16:creationId xmlns:a16="http://schemas.microsoft.com/office/drawing/2014/main" id="{517ED098-6976-5549-9CFB-EE89734AF8D4}"/>
              </a:ext>
            </a:extLst>
          </p:cNvPr>
          <p:cNvSpPr>
            <a:spLocks noGrp="1"/>
          </p:cNvSpPr>
          <p:nvPr>
            <p:ph type="body" sz="quarter" idx="16" hasCustomPrompt="1"/>
          </p:nvPr>
        </p:nvSpPr>
        <p:spPr>
          <a:xfrm>
            <a:off x="4039362" y="2746617"/>
            <a:ext cx="4722876" cy="849365"/>
          </a:xfrm>
          <a:prstGeom prst="rect">
            <a:avLst/>
          </a:prstGeom>
        </p:spPr>
        <p:txBody>
          <a:bodyPr lIns="0" tIns="0" rIns="0" bIns="0">
            <a:normAutofit/>
          </a:bodyPr>
          <a:lstStyle>
            <a:lvl1pPr>
              <a:defRPr sz="1500"/>
            </a:lvl1pPr>
          </a:lstStyle>
          <a:p>
            <a:pPr lvl="0"/>
            <a:r>
              <a:rPr lang="en-US" dirty="0"/>
              <a:t>Title</a:t>
            </a:r>
          </a:p>
          <a:p>
            <a:pPr lvl="0"/>
            <a:r>
              <a:rPr lang="en-US" dirty="0"/>
              <a:t>Company</a:t>
            </a:r>
          </a:p>
          <a:p>
            <a:pPr lvl="0"/>
            <a:r>
              <a:rPr lang="en-US" dirty="0"/>
              <a:t>Date</a:t>
            </a:r>
          </a:p>
        </p:txBody>
      </p:sp>
      <p:pic>
        <p:nvPicPr>
          <p:cNvPr id="10" name="OTag">
            <a:extLst>
              <a:ext uri="{FF2B5EF4-FFF2-40B4-BE49-F238E27FC236}">
                <a16:creationId xmlns:a16="http://schemas.microsoft.com/office/drawing/2014/main" id="{3AA2A5D2-AD0A-4DBD-927A-96DC377BC49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8387334" y="4766310"/>
            <a:ext cx="377190" cy="377190"/>
          </a:xfrm>
          <a:prstGeom prst="rect">
            <a:avLst/>
          </a:prstGeom>
        </p:spPr>
      </p:pic>
      <p:sp>
        <p:nvSpPr>
          <p:cNvPr id="3" name="Picture Placeholder 2">
            <a:extLst>
              <a:ext uri="{FF2B5EF4-FFF2-40B4-BE49-F238E27FC236}">
                <a16:creationId xmlns:a16="http://schemas.microsoft.com/office/drawing/2014/main" id="{20FEB6C0-1F5B-4135-8E18-A04A68550D75}"/>
              </a:ext>
            </a:extLst>
          </p:cNvPr>
          <p:cNvSpPr>
            <a:spLocks noGrp="1"/>
          </p:cNvSpPr>
          <p:nvPr>
            <p:ph type="pic" sz="quarter" idx="20" hasCustomPrompt="1"/>
          </p:nvPr>
        </p:nvSpPr>
        <p:spPr>
          <a:xfrm>
            <a:off x="0" y="0"/>
            <a:ext cx="3657600" cy="5143500"/>
          </a:xfrm>
        </p:spPr>
        <p:txBody>
          <a:bodyPr anchor="ctr" anchorCtr="1">
            <a:normAutofit/>
          </a:bodyPr>
          <a:lstStyle>
            <a:lvl1pPr>
              <a:defRPr/>
            </a:lvl1pPr>
          </a:lstStyle>
          <a:p>
            <a:r>
              <a:rPr lang="en-US" dirty="0"/>
              <a:t>Click to add image</a:t>
            </a:r>
          </a:p>
        </p:txBody>
      </p:sp>
      <p:sp>
        <p:nvSpPr>
          <p:cNvPr id="2" name="Date Placeholder 1">
            <a:extLst>
              <a:ext uri="{FF2B5EF4-FFF2-40B4-BE49-F238E27FC236}">
                <a16:creationId xmlns:a16="http://schemas.microsoft.com/office/drawing/2014/main" id="{1522B3ED-CF2C-4067-92C1-D268C952FB0E}"/>
              </a:ext>
            </a:extLst>
          </p:cNvPr>
          <p:cNvSpPr>
            <a:spLocks noGrp="1"/>
          </p:cNvSpPr>
          <p:nvPr>
            <p:ph type="dt" sz="half" idx="21"/>
          </p:nvPr>
        </p:nvSpPr>
        <p:spPr/>
        <p:txBody>
          <a:bodyPr/>
          <a:lstStyle/>
          <a:p>
            <a:r>
              <a:rPr lang="en-US"/>
              <a:t>[Date]</a:t>
            </a:r>
            <a:endParaRPr lang="en-US" dirty="0"/>
          </a:p>
        </p:txBody>
      </p:sp>
      <p:sp>
        <p:nvSpPr>
          <p:cNvPr id="7" name="Footer Placeholder 6">
            <a:extLst>
              <a:ext uri="{FF2B5EF4-FFF2-40B4-BE49-F238E27FC236}">
                <a16:creationId xmlns:a16="http://schemas.microsoft.com/office/drawing/2014/main" id="{ECE0BF7F-49D0-4680-97A6-57F3353BC736}"/>
              </a:ext>
            </a:extLst>
          </p:cNvPr>
          <p:cNvSpPr>
            <a:spLocks noGrp="1"/>
          </p:cNvSpPr>
          <p:nvPr>
            <p:ph type="ftr" sz="quarter" idx="22"/>
          </p:nvPr>
        </p:nvSpPr>
        <p:spPr/>
        <p:txBody>
          <a:bodyPr/>
          <a:lstStyle/>
          <a:p>
            <a:r>
              <a:rPr lang="en-US"/>
              <a:t>Copyright © 2022, Oracle and/or its affiliates</a:t>
            </a:r>
            <a:endParaRPr lang="en-US" dirty="0"/>
          </a:p>
        </p:txBody>
      </p:sp>
      <p:sp>
        <p:nvSpPr>
          <p:cNvPr id="8" name="Slide Number Placeholder 7">
            <a:extLst>
              <a:ext uri="{FF2B5EF4-FFF2-40B4-BE49-F238E27FC236}">
                <a16:creationId xmlns:a16="http://schemas.microsoft.com/office/drawing/2014/main" id="{EFD3ACE9-71BB-462A-B503-22DE7B536BD1}"/>
              </a:ext>
            </a:extLst>
          </p:cNvPr>
          <p:cNvSpPr>
            <a:spLocks noGrp="1"/>
          </p:cNvSpPr>
          <p:nvPr>
            <p:ph type="sldNum" sz="quarter" idx="23"/>
          </p:nvPr>
        </p:nvSpPr>
        <p:spPr/>
        <p:txBody>
          <a:bodyPr/>
          <a:lstStyle/>
          <a:p>
            <a:fld id="{345D60D9-5372-5F40-9443-0F9AE5BDC3C8}" type="slidenum">
              <a:rPr lang="en-US" smtClean="0"/>
              <a:pPr/>
              <a:t>‹#›</a:t>
            </a:fld>
            <a:endParaRPr lang="en-US" dirty="0"/>
          </a:p>
        </p:txBody>
      </p:sp>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701534" y="202019"/>
            <a:ext cx="1197968" cy="534971"/>
          </a:xfrm>
          <a:prstGeom prst="rect">
            <a:avLst/>
          </a:prstGeom>
        </p:spPr>
      </p:pic>
    </p:spTree>
    <p:extLst>
      <p:ext uri="{BB962C8B-B14F-4D97-AF65-F5344CB8AC3E}">
        <p14:creationId xmlns:p14="http://schemas.microsoft.com/office/powerpoint/2010/main" val="31828956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Light - Title 1 Column">
    <p:spTree>
      <p:nvGrpSpPr>
        <p:cNvPr id="1" name=""/>
        <p:cNvGrpSpPr/>
        <p:nvPr/>
      </p:nvGrpSpPr>
      <p:grpSpPr>
        <a:xfrm>
          <a:off x="0" y="0"/>
          <a:ext cx="0" cy="0"/>
          <a:chOff x="0" y="0"/>
          <a:chExt cx="0" cy="0"/>
        </a:xfrm>
      </p:grpSpPr>
      <p:pic>
        <p:nvPicPr>
          <p:cNvPr id="8" name="Cloud">
            <a:extLst>
              <a:ext uri="{FF2B5EF4-FFF2-40B4-BE49-F238E27FC236}">
                <a16:creationId xmlns:a16="http://schemas.microsoft.com/office/drawing/2014/main" id="{14698CB0-77BC-6148-8112-EFC83C0F58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029299" y="287532"/>
            <a:ext cx="3810277" cy="1169582"/>
          </a:xfrm>
          <a:prstGeom prst="rect">
            <a:avLst/>
          </a:prstGeom>
        </p:spPr>
      </p:pic>
      <p:sp>
        <p:nvSpPr>
          <p:cNvPr id="7" name="Content Placeholder 6">
            <a:extLst>
              <a:ext uri="{FF2B5EF4-FFF2-40B4-BE49-F238E27FC236}">
                <a16:creationId xmlns:a16="http://schemas.microsoft.com/office/drawing/2014/main" id="{07A30E9B-4EB7-4882-9E42-67210E9CC0B4}"/>
              </a:ext>
            </a:extLst>
          </p:cNvPr>
          <p:cNvSpPr>
            <a:spLocks noGrp="1"/>
          </p:cNvSpPr>
          <p:nvPr>
            <p:ph sz="quarter" idx="13"/>
          </p:nvPr>
        </p:nvSpPr>
        <p:spPr>
          <a:xfrm>
            <a:off x="578644" y="1200150"/>
            <a:ext cx="8008144" cy="3380994"/>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a:extLst>
              <a:ext uri="{FF2B5EF4-FFF2-40B4-BE49-F238E27FC236}">
                <a16:creationId xmlns:a16="http://schemas.microsoft.com/office/drawing/2014/main" id="{35CB6F3B-CCE4-4193-8EAA-C4A6D27C7DAD}"/>
              </a:ext>
            </a:extLst>
          </p:cNvPr>
          <p:cNvSpPr>
            <a:spLocks noGrp="1"/>
          </p:cNvSpPr>
          <p:nvPr>
            <p:ph type="title" hasCustomPrompt="1"/>
          </p:nvPr>
        </p:nvSpPr>
        <p:spPr/>
        <p:txBody>
          <a:bodyPr/>
          <a:lstStyle>
            <a:lvl1pPr>
              <a:defRPr/>
            </a:lvl1pPr>
          </a:lstStyle>
          <a:p>
            <a:r>
              <a:rPr lang="en-US" dirty="0"/>
              <a:t>Title</a:t>
            </a:r>
          </a:p>
        </p:txBody>
      </p:sp>
      <p:sp>
        <p:nvSpPr>
          <p:cNvPr id="2" name="Date Placeholder 1">
            <a:extLst>
              <a:ext uri="{FF2B5EF4-FFF2-40B4-BE49-F238E27FC236}">
                <a16:creationId xmlns:a16="http://schemas.microsoft.com/office/drawing/2014/main" id="{2131DBF8-F618-4198-88BA-FD1569B2979A}"/>
              </a:ext>
            </a:extLst>
          </p:cNvPr>
          <p:cNvSpPr>
            <a:spLocks noGrp="1"/>
          </p:cNvSpPr>
          <p:nvPr>
            <p:ph type="dt" sz="half" idx="14"/>
          </p:nvPr>
        </p:nvSpPr>
        <p:spPr/>
        <p:txBody>
          <a:bodyPr/>
          <a:lstStyle/>
          <a:p>
            <a:r>
              <a:rPr lang="en-US"/>
              <a:t>[Date]</a:t>
            </a:r>
            <a:endParaRPr lang="en-US" dirty="0"/>
          </a:p>
        </p:txBody>
      </p:sp>
      <p:sp>
        <p:nvSpPr>
          <p:cNvPr id="3" name="Footer Placeholder 2">
            <a:extLst>
              <a:ext uri="{FF2B5EF4-FFF2-40B4-BE49-F238E27FC236}">
                <a16:creationId xmlns:a16="http://schemas.microsoft.com/office/drawing/2014/main" id="{158AA26E-E9A4-4CE1-9157-28062D2322ED}"/>
              </a:ext>
            </a:extLst>
          </p:cNvPr>
          <p:cNvSpPr>
            <a:spLocks noGrp="1"/>
          </p:cNvSpPr>
          <p:nvPr>
            <p:ph type="ftr" sz="quarter" idx="15"/>
          </p:nvPr>
        </p:nvSpPr>
        <p:spPr/>
        <p:txBody>
          <a:bodyPr/>
          <a:lstStyle/>
          <a:p>
            <a:r>
              <a:rPr lang="en-US"/>
              <a:t>Copyright © 2022, Oracle and/or its affiliates</a:t>
            </a:r>
            <a:endParaRPr lang="en-US" dirty="0"/>
          </a:p>
        </p:txBody>
      </p:sp>
      <p:sp>
        <p:nvSpPr>
          <p:cNvPr id="4" name="Slide Number Placeholder 3">
            <a:extLst>
              <a:ext uri="{FF2B5EF4-FFF2-40B4-BE49-F238E27FC236}">
                <a16:creationId xmlns:a16="http://schemas.microsoft.com/office/drawing/2014/main" id="{0FB3DA01-00EF-4B14-8325-24C1135260F9}"/>
              </a:ext>
            </a:extLst>
          </p:cNvPr>
          <p:cNvSpPr>
            <a:spLocks noGrp="1"/>
          </p:cNvSpPr>
          <p:nvPr>
            <p:ph type="sldNum" sz="quarter" idx="16"/>
          </p:nvPr>
        </p:nvSpPr>
        <p:spPr/>
        <p:txBody>
          <a:bodyPr/>
          <a:lstStyle/>
          <a:p>
            <a:fld id="{345D60D9-5372-5F40-9443-0F9AE5BDC3C8}" type="slidenum">
              <a:rPr lang="en-US" smtClean="0"/>
              <a:pPr/>
              <a:t>‹#›</a:t>
            </a:fld>
            <a:endParaRPr lang="en-US" dirty="0"/>
          </a:p>
        </p:txBody>
      </p:sp>
    </p:spTree>
    <p:extLst>
      <p:ext uri="{BB962C8B-B14F-4D97-AF65-F5344CB8AC3E}">
        <p14:creationId xmlns:p14="http://schemas.microsoft.com/office/powerpoint/2010/main" val="684098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Light - Data Texture 07 Blank">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681203-42C6-B54E-A5F8-FE2DAE3C0E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5" name="OTag">
            <a:extLst>
              <a:ext uri="{FF2B5EF4-FFF2-40B4-BE49-F238E27FC236}">
                <a16:creationId xmlns:a16="http://schemas.microsoft.com/office/drawing/2014/main" id="{B620A016-1EBE-426A-BB19-9671229484A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8387334" y="4766310"/>
            <a:ext cx="377190" cy="377190"/>
          </a:xfrm>
          <a:prstGeom prst="rect">
            <a:avLst/>
          </a:prstGeom>
        </p:spPr>
      </p:pic>
      <p:sp>
        <p:nvSpPr>
          <p:cNvPr id="2" name="Date Placeholder 1">
            <a:extLst>
              <a:ext uri="{FF2B5EF4-FFF2-40B4-BE49-F238E27FC236}">
                <a16:creationId xmlns:a16="http://schemas.microsoft.com/office/drawing/2014/main" id="{AADFA4C3-C577-4944-B23B-0E8CEECA00FE}"/>
              </a:ext>
            </a:extLst>
          </p:cNvPr>
          <p:cNvSpPr>
            <a:spLocks noGrp="1"/>
          </p:cNvSpPr>
          <p:nvPr>
            <p:ph type="dt" sz="half" idx="10"/>
          </p:nvPr>
        </p:nvSpPr>
        <p:spPr/>
        <p:txBody>
          <a:bodyPr/>
          <a:lstStyle/>
          <a:p>
            <a:r>
              <a:rPr lang="en-US"/>
              <a:t>[Date]</a:t>
            </a:r>
            <a:endParaRPr lang="en-US" dirty="0"/>
          </a:p>
        </p:txBody>
      </p:sp>
      <p:sp>
        <p:nvSpPr>
          <p:cNvPr id="6" name="Footer Placeholder 5">
            <a:extLst>
              <a:ext uri="{FF2B5EF4-FFF2-40B4-BE49-F238E27FC236}">
                <a16:creationId xmlns:a16="http://schemas.microsoft.com/office/drawing/2014/main" id="{EE548FBC-C180-4348-924F-1AD0DE33EC94}"/>
              </a:ext>
            </a:extLst>
          </p:cNvPr>
          <p:cNvSpPr>
            <a:spLocks noGrp="1"/>
          </p:cNvSpPr>
          <p:nvPr>
            <p:ph type="ftr" sz="quarter" idx="11"/>
          </p:nvPr>
        </p:nvSpPr>
        <p:spPr/>
        <p:txBody>
          <a:bodyPr/>
          <a:lstStyle/>
          <a:p>
            <a:r>
              <a:rPr lang="en-US"/>
              <a:t>Copyright © 2022, Oracle and/or its affiliates</a:t>
            </a:r>
            <a:endParaRPr lang="en-US" dirty="0"/>
          </a:p>
        </p:txBody>
      </p:sp>
      <p:sp>
        <p:nvSpPr>
          <p:cNvPr id="7" name="Slide Number Placeholder 6">
            <a:extLst>
              <a:ext uri="{FF2B5EF4-FFF2-40B4-BE49-F238E27FC236}">
                <a16:creationId xmlns:a16="http://schemas.microsoft.com/office/drawing/2014/main" id="{C2993164-8F12-4A57-BCB2-ECAB88B102D4}"/>
              </a:ext>
            </a:extLst>
          </p:cNvPr>
          <p:cNvSpPr>
            <a:spLocks noGrp="1"/>
          </p:cNvSpPr>
          <p:nvPr>
            <p:ph type="sldNum" sz="quarter" idx="12"/>
          </p:nvPr>
        </p:nvSpPr>
        <p:spPr/>
        <p:txBody>
          <a:bodyPr/>
          <a:lstStyle/>
          <a:p>
            <a:fld id="{345D60D9-5372-5F40-9443-0F9AE5BDC3C8}" type="slidenum">
              <a:rPr lang="en-US" smtClean="0"/>
              <a:pPr/>
              <a:t>‹#›</a:t>
            </a:fld>
            <a:endParaRPr lang="en-US" dirty="0"/>
          </a:p>
        </p:txBody>
      </p:sp>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98578" y="202019"/>
            <a:ext cx="1197968" cy="534971"/>
          </a:xfrm>
          <a:prstGeom prst="rect">
            <a:avLst/>
          </a:prstGeom>
        </p:spPr>
      </p:pic>
    </p:spTree>
    <p:extLst>
      <p:ext uri="{BB962C8B-B14F-4D97-AF65-F5344CB8AC3E}">
        <p14:creationId xmlns:p14="http://schemas.microsoft.com/office/powerpoint/2010/main" val="3896325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academy.oracle.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learn.oracle.com/ols/learning-path/java-explorer/40805/79726"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education.oracle.com/"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hyperlink" Target="http://jb.gg/academy/java_in_education"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jcp.org/java-in-education"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s://github.com/jcp-org/Java-in-Education/wiki/Java-in-Education---Wiki-Pa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4"/>
          <p:cNvSpPr txBox="1">
            <a:spLocks noGrp="1"/>
          </p:cNvSpPr>
          <p:nvPr>
            <p:ph type="ctrTitle"/>
          </p:nvPr>
        </p:nvSpPr>
        <p:spPr>
          <a:xfrm>
            <a:off x="311708" y="122850"/>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Qué es Java y p</a:t>
            </a:r>
            <a:r>
              <a:rPr lang="en-US" dirty="0" err="1"/>
              <a:t>or qué</a:t>
            </a:r>
            <a:r>
              <a:rPr lang="en-US" dirty="0"/>
              <a:t> debería aprenderlo</a:t>
            </a:r>
            <a:r>
              <a:rPr lang="en" dirty="0"/>
              <a:t> </a:t>
            </a:r>
            <a:endParaRPr dirty="0"/>
          </a:p>
        </p:txBody>
      </p:sp>
      <p:sp>
        <p:nvSpPr>
          <p:cNvPr id="59" name="Google Shape;59;p14"/>
          <p:cNvSpPr txBox="1">
            <a:spLocks noGrp="1"/>
          </p:cNvSpPr>
          <p:nvPr>
            <p:ph type="subTitle" idx="1"/>
          </p:nvPr>
        </p:nvSpPr>
        <p:spPr>
          <a:xfrm>
            <a:off x="311700" y="2175450"/>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Heather VanCura</a:t>
            </a:r>
            <a:endParaRPr dirty="0"/>
          </a:p>
        </p:txBody>
      </p:sp>
      <p:pic>
        <p:nvPicPr>
          <p:cNvPr id="60" name="Google Shape;60;p14"/>
          <p:cNvPicPr preferRelativeResize="0"/>
          <p:nvPr/>
        </p:nvPicPr>
        <p:blipFill>
          <a:blip r:embed="rId3">
            <a:alphaModFix/>
          </a:blip>
          <a:stretch>
            <a:fillRect/>
          </a:stretch>
        </p:blipFill>
        <p:spPr>
          <a:xfrm>
            <a:off x="2614275" y="2762700"/>
            <a:ext cx="3815100" cy="21460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¿Dónde se usa Java?</a:t>
            </a:r>
            <a:endParaRPr/>
          </a:p>
        </p:txBody>
      </p:sp>
      <p:pic>
        <p:nvPicPr>
          <p:cNvPr id="66" name="Google Shape;66;p15"/>
          <p:cNvPicPr preferRelativeResize="0"/>
          <p:nvPr/>
        </p:nvPicPr>
        <p:blipFill>
          <a:blip r:embed="rId3">
            <a:alphaModFix/>
          </a:blip>
          <a:stretch>
            <a:fillRect/>
          </a:stretch>
        </p:blipFill>
        <p:spPr>
          <a:xfrm>
            <a:off x="1230463" y="1116013"/>
            <a:ext cx="6524625" cy="3667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¿Dónde se usa Java?</a:t>
            </a:r>
            <a:endParaRPr/>
          </a:p>
        </p:txBody>
      </p:sp>
      <p:pic>
        <p:nvPicPr>
          <p:cNvPr id="72" name="Google Shape;72;p16"/>
          <p:cNvPicPr preferRelativeResize="0"/>
          <p:nvPr/>
        </p:nvPicPr>
        <p:blipFill>
          <a:blip r:embed="rId3">
            <a:alphaModFix/>
          </a:blip>
          <a:stretch>
            <a:fillRect/>
          </a:stretch>
        </p:blipFill>
        <p:spPr>
          <a:xfrm>
            <a:off x="2908300" y="1017725"/>
            <a:ext cx="3327408" cy="38209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¿Dónde se usa Java?</a:t>
            </a:r>
            <a:endParaRPr/>
          </a:p>
        </p:txBody>
      </p:sp>
      <p:pic>
        <p:nvPicPr>
          <p:cNvPr id="78" name="Google Shape;78;p17"/>
          <p:cNvPicPr preferRelativeResize="0"/>
          <p:nvPr/>
        </p:nvPicPr>
        <p:blipFill>
          <a:blip r:embed="rId3">
            <a:alphaModFix/>
          </a:blip>
          <a:stretch>
            <a:fillRect/>
          </a:stretch>
        </p:blipFill>
        <p:spPr>
          <a:xfrm>
            <a:off x="2864300" y="1194500"/>
            <a:ext cx="2552700" cy="3552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p18"/>
          <p:cNvPicPr preferRelativeResize="0"/>
          <p:nvPr/>
        </p:nvPicPr>
        <p:blipFill>
          <a:blip r:embed="rId3">
            <a:alphaModFix/>
          </a:blip>
          <a:stretch>
            <a:fillRect/>
          </a:stretch>
        </p:blipFill>
        <p:spPr>
          <a:xfrm>
            <a:off x="610525" y="1033950"/>
            <a:ext cx="7716698" cy="3824950"/>
          </a:xfrm>
          <a:prstGeom prst="rect">
            <a:avLst/>
          </a:prstGeom>
          <a:noFill/>
          <a:ln>
            <a:noFill/>
          </a:ln>
        </p:spPr>
      </p:pic>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Popularidad de los lenguajes de programación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9"/>
          <p:cNvPicPr preferRelativeResize="0"/>
          <p:nvPr/>
        </p:nvPicPr>
        <p:blipFill>
          <a:blip r:embed="rId3">
            <a:alphaModFix/>
          </a:blip>
          <a:stretch>
            <a:fillRect/>
          </a:stretch>
        </p:blipFill>
        <p:spPr>
          <a:xfrm>
            <a:off x="1931925" y="1189625"/>
            <a:ext cx="5186127" cy="3636950"/>
          </a:xfrm>
          <a:prstGeom prst="rect">
            <a:avLst/>
          </a:prstGeom>
          <a:noFill/>
          <a:ln>
            <a:noFill/>
          </a:ln>
        </p:spPr>
      </p:pic>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Uso del lenguaje en todo el mundo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Una mirada a posibles tendencias futuras</a:t>
            </a:r>
            <a:endParaRPr/>
          </a:p>
        </p:txBody>
      </p:sp>
      <p:pic>
        <p:nvPicPr>
          <p:cNvPr id="96" name="Google Shape;96;p20"/>
          <p:cNvPicPr preferRelativeResize="0"/>
          <p:nvPr/>
        </p:nvPicPr>
        <p:blipFill>
          <a:blip r:embed="rId3">
            <a:alphaModFix/>
          </a:blip>
          <a:stretch>
            <a:fillRect/>
          </a:stretch>
        </p:blipFill>
        <p:spPr>
          <a:xfrm>
            <a:off x="648600" y="1153525"/>
            <a:ext cx="4863059" cy="3820975"/>
          </a:xfrm>
          <a:prstGeom prst="rect">
            <a:avLst/>
          </a:prstGeom>
          <a:noFill/>
          <a:ln>
            <a:noFill/>
          </a:ln>
        </p:spPr>
      </p:pic>
      <p:pic>
        <p:nvPicPr>
          <p:cNvPr id="97" name="Google Shape;97;p20"/>
          <p:cNvPicPr preferRelativeResize="0"/>
          <p:nvPr/>
        </p:nvPicPr>
        <p:blipFill>
          <a:blip r:embed="rId4">
            <a:alphaModFix/>
          </a:blip>
          <a:stretch>
            <a:fillRect/>
          </a:stretch>
        </p:blipFill>
        <p:spPr>
          <a:xfrm>
            <a:off x="6277800" y="1941925"/>
            <a:ext cx="1925225" cy="1384600"/>
          </a:xfrm>
          <a:prstGeom prst="rect">
            <a:avLst/>
          </a:prstGeom>
          <a:noFill/>
          <a:ln>
            <a:noFill/>
          </a:ln>
        </p:spPr>
      </p:pic>
      <p:sp>
        <p:nvSpPr>
          <p:cNvPr id="98" name="Google Shape;98;p20"/>
          <p:cNvSpPr/>
          <p:nvPr/>
        </p:nvSpPr>
        <p:spPr>
          <a:xfrm>
            <a:off x="4949400" y="1307575"/>
            <a:ext cx="516000" cy="3729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0"/>
          <p:cNvSpPr/>
          <p:nvPr/>
        </p:nvSpPr>
        <p:spPr>
          <a:xfrm>
            <a:off x="6277800" y="1941925"/>
            <a:ext cx="1878600" cy="1384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0" name="Google Shape;100;p20"/>
          <p:cNvCxnSpPr/>
          <p:nvPr/>
        </p:nvCxnSpPr>
        <p:spPr>
          <a:xfrm>
            <a:off x="5470725" y="1311500"/>
            <a:ext cx="2685600" cy="632400"/>
          </a:xfrm>
          <a:prstGeom prst="straightConnector1">
            <a:avLst/>
          </a:prstGeom>
          <a:noFill/>
          <a:ln w="9525" cap="flat" cmpd="sng">
            <a:solidFill>
              <a:srgbClr val="FF0000"/>
            </a:solidFill>
            <a:prstDash val="solid"/>
            <a:round/>
            <a:headEnd type="none" w="med" len="med"/>
            <a:tailEnd type="none" w="med" len="med"/>
          </a:ln>
        </p:spPr>
      </p:cxnSp>
      <p:cxnSp>
        <p:nvCxnSpPr>
          <p:cNvPr id="101" name="Google Shape;101;p20"/>
          <p:cNvCxnSpPr/>
          <p:nvPr/>
        </p:nvCxnSpPr>
        <p:spPr>
          <a:xfrm>
            <a:off x="4953675" y="1679075"/>
            <a:ext cx="1325400" cy="1644600"/>
          </a:xfrm>
          <a:prstGeom prst="straightConnector1">
            <a:avLst/>
          </a:prstGeom>
          <a:noFill/>
          <a:ln w="9525" cap="flat" cmpd="sng">
            <a:solidFill>
              <a:srgbClr val="FF0000"/>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 está en todas partes!</a:t>
            </a:r>
            <a:endParaRPr/>
          </a:p>
        </p:txBody>
      </p:sp>
      <p:pic>
        <p:nvPicPr>
          <p:cNvPr id="107" name="Google Shape;107;p21"/>
          <p:cNvPicPr preferRelativeResize="0"/>
          <p:nvPr/>
        </p:nvPicPr>
        <p:blipFill>
          <a:blip r:embed="rId3">
            <a:alphaModFix/>
          </a:blip>
          <a:stretch>
            <a:fillRect/>
          </a:stretch>
        </p:blipFill>
        <p:spPr>
          <a:xfrm>
            <a:off x="152400" y="1432175"/>
            <a:ext cx="8839203" cy="28840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¿Qué empresas usan Java?</a:t>
            </a:r>
            <a:endParaRPr/>
          </a:p>
        </p:txBody>
      </p:sp>
      <p:pic>
        <p:nvPicPr>
          <p:cNvPr id="113" name="Google Shape;113;p22"/>
          <p:cNvPicPr preferRelativeResize="0"/>
          <p:nvPr/>
        </p:nvPicPr>
        <p:blipFill rotWithShape="1">
          <a:blip r:embed="rId3">
            <a:alphaModFix/>
          </a:blip>
          <a:srcRect l="9883" t="36680" r="9891" b="36683"/>
          <a:stretch/>
        </p:blipFill>
        <p:spPr>
          <a:xfrm>
            <a:off x="397850" y="1424350"/>
            <a:ext cx="1724965" cy="572700"/>
          </a:xfrm>
          <a:prstGeom prst="rect">
            <a:avLst/>
          </a:prstGeom>
          <a:noFill/>
          <a:ln>
            <a:noFill/>
          </a:ln>
        </p:spPr>
      </p:pic>
      <p:pic>
        <p:nvPicPr>
          <p:cNvPr id="114" name="Google Shape;114;p22"/>
          <p:cNvPicPr preferRelativeResize="0"/>
          <p:nvPr/>
        </p:nvPicPr>
        <p:blipFill>
          <a:blip r:embed="rId4">
            <a:alphaModFix/>
          </a:blip>
          <a:stretch>
            <a:fillRect/>
          </a:stretch>
        </p:blipFill>
        <p:spPr>
          <a:xfrm>
            <a:off x="525000" y="3997863"/>
            <a:ext cx="907850" cy="907850"/>
          </a:xfrm>
          <a:prstGeom prst="rect">
            <a:avLst/>
          </a:prstGeom>
          <a:noFill/>
          <a:ln>
            <a:noFill/>
          </a:ln>
        </p:spPr>
      </p:pic>
      <p:pic>
        <p:nvPicPr>
          <p:cNvPr id="115" name="Google Shape;115;p22"/>
          <p:cNvPicPr preferRelativeResize="0"/>
          <p:nvPr/>
        </p:nvPicPr>
        <p:blipFill>
          <a:blip r:embed="rId5">
            <a:alphaModFix/>
          </a:blip>
          <a:stretch>
            <a:fillRect/>
          </a:stretch>
        </p:blipFill>
        <p:spPr>
          <a:xfrm>
            <a:off x="4373625" y="2944853"/>
            <a:ext cx="1837251" cy="1033453"/>
          </a:xfrm>
          <a:prstGeom prst="rect">
            <a:avLst/>
          </a:prstGeom>
          <a:noFill/>
          <a:ln>
            <a:noFill/>
          </a:ln>
        </p:spPr>
      </p:pic>
      <p:pic>
        <p:nvPicPr>
          <p:cNvPr id="116" name="Google Shape;116;p22"/>
          <p:cNvPicPr preferRelativeResize="0"/>
          <p:nvPr/>
        </p:nvPicPr>
        <p:blipFill>
          <a:blip r:embed="rId6">
            <a:alphaModFix/>
          </a:blip>
          <a:stretch>
            <a:fillRect/>
          </a:stretch>
        </p:blipFill>
        <p:spPr>
          <a:xfrm>
            <a:off x="6722050" y="3023863"/>
            <a:ext cx="1837252" cy="765525"/>
          </a:xfrm>
          <a:prstGeom prst="rect">
            <a:avLst/>
          </a:prstGeom>
          <a:noFill/>
          <a:ln>
            <a:noFill/>
          </a:ln>
        </p:spPr>
      </p:pic>
      <p:pic>
        <p:nvPicPr>
          <p:cNvPr id="117" name="Google Shape;117;p22"/>
          <p:cNvPicPr preferRelativeResize="0"/>
          <p:nvPr/>
        </p:nvPicPr>
        <p:blipFill>
          <a:blip r:embed="rId7">
            <a:alphaModFix/>
          </a:blip>
          <a:stretch>
            <a:fillRect/>
          </a:stretch>
        </p:blipFill>
        <p:spPr>
          <a:xfrm>
            <a:off x="2558525" y="3942925"/>
            <a:ext cx="1017725" cy="1017725"/>
          </a:xfrm>
          <a:prstGeom prst="rect">
            <a:avLst/>
          </a:prstGeom>
          <a:noFill/>
          <a:ln>
            <a:noFill/>
          </a:ln>
        </p:spPr>
      </p:pic>
      <p:pic>
        <p:nvPicPr>
          <p:cNvPr id="118" name="Google Shape;118;p22"/>
          <p:cNvPicPr preferRelativeResize="0"/>
          <p:nvPr/>
        </p:nvPicPr>
        <p:blipFill rotWithShape="1">
          <a:blip r:embed="rId8">
            <a:alphaModFix/>
          </a:blip>
          <a:srcRect l="9192" t="20721" r="9168" b="21398"/>
          <a:stretch/>
        </p:blipFill>
        <p:spPr>
          <a:xfrm>
            <a:off x="4572000" y="4241525"/>
            <a:ext cx="2069849" cy="658225"/>
          </a:xfrm>
          <a:prstGeom prst="rect">
            <a:avLst/>
          </a:prstGeom>
          <a:noFill/>
          <a:ln>
            <a:noFill/>
          </a:ln>
        </p:spPr>
      </p:pic>
      <p:pic>
        <p:nvPicPr>
          <p:cNvPr id="119" name="Google Shape;119;p22"/>
          <p:cNvPicPr preferRelativeResize="0"/>
          <p:nvPr/>
        </p:nvPicPr>
        <p:blipFill>
          <a:blip r:embed="rId9">
            <a:alphaModFix/>
          </a:blip>
          <a:stretch>
            <a:fillRect/>
          </a:stretch>
        </p:blipFill>
        <p:spPr>
          <a:xfrm>
            <a:off x="7603600" y="3942925"/>
            <a:ext cx="1017725" cy="1017725"/>
          </a:xfrm>
          <a:prstGeom prst="rect">
            <a:avLst/>
          </a:prstGeom>
          <a:noFill/>
          <a:ln>
            <a:noFill/>
          </a:ln>
        </p:spPr>
      </p:pic>
      <p:pic>
        <p:nvPicPr>
          <p:cNvPr id="120" name="Google Shape;120;p22"/>
          <p:cNvPicPr preferRelativeResize="0"/>
          <p:nvPr/>
        </p:nvPicPr>
        <p:blipFill rotWithShape="1">
          <a:blip r:embed="rId10">
            <a:alphaModFix/>
          </a:blip>
          <a:srcRect l="13255" t="13928" r="13144" b="12298"/>
          <a:stretch/>
        </p:blipFill>
        <p:spPr>
          <a:xfrm>
            <a:off x="6348775" y="875125"/>
            <a:ext cx="1188109" cy="1190825"/>
          </a:xfrm>
          <a:prstGeom prst="rect">
            <a:avLst/>
          </a:prstGeom>
          <a:noFill/>
          <a:ln>
            <a:noFill/>
          </a:ln>
        </p:spPr>
      </p:pic>
      <p:pic>
        <p:nvPicPr>
          <p:cNvPr id="121" name="Google Shape;121;p22"/>
          <p:cNvPicPr preferRelativeResize="0"/>
          <p:nvPr/>
        </p:nvPicPr>
        <p:blipFill>
          <a:blip r:embed="rId11">
            <a:alphaModFix/>
          </a:blip>
          <a:stretch>
            <a:fillRect/>
          </a:stretch>
        </p:blipFill>
        <p:spPr>
          <a:xfrm>
            <a:off x="4275025" y="1278575"/>
            <a:ext cx="1289106" cy="1017725"/>
          </a:xfrm>
          <a:prstGeom prst="rect">
            <a:avLst/>
          </a:prstGeom>
          <a:noFill/>
          <a:ln>
            <a:noFill/>
          </a:ln>
        </p:spPr>
      </p:pic>
      <p:pic>
        <p:nvPicPr>
          <p:cNvPr id="122" name="Google Shape;122;p22"/>
          <p:cNvPicPr preferRelativeResize="0"/>
          <p:nvPr/>
        </p:nvPicPr>
        <p:blipFill>
          <a:blip r:embed="rId12">
            <a:alphaModFix/>
          </a:blip>
          <a:stretch>
            <a:fillRect/>
          </a:stretch>
        </p:blipFill>
        <p:spPr>
          <a:xfrm>
            <a:off x="2906288" y="2117825"/>
            <a:ext cx="840592" cy="907850"/>
          </a:xfrm>
          <a:prstGeom prst="rect">
            <a:avLst/>
          </a:prstGeom>
          <a:noFill/>
          <a:ln>
            <a:noFill/>
          </a:ln>
        </p:spPr>
      </p:pic>
      <p:pic>
        <p:nvPicPr>
          <p:cNvPr id="123" name="Google Shape;123;p22"/>
          <p:cNvPicPr preferRelativeResize="0"/>
          <p:nvPr/>
        </p:nvPicPr>
        <p:blipFill>
          <a:blip r:embed="rId13">
            <a:alphaModFix/>
          </a:blip>
          <a:stretch>
            <a:fillRect/>
          </a:stretch>
        </p:blipFill>
        <p:spPr>
          <a:xfrm>
            <a:off x="1089250" y="2462738"/>
            <a:ext cx="1069450" cy="106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¿Cómo empezar con Java?</a:t>
            </a:r>
            <a:endParaRPr/>
          </a:p>
        </p:txBody>
      </p:sp>
      <p:pic>
        <p:nvPicPr>
          <p:cNvPr id="129" name="Google Shape;129;p23"/>
          <p:cNvPicPr preferRelativeResize="0"/>
          <p:nvPr/>
        </p:nvPicPr>
        <p:blipFill>
          <a:blip r:embed="rId3">
            <a:alphaModFix/>
          </a:blip>
          <a:stretch>
            <a:fillRect/>
          </a:stretch>
        </p:blipFill>
        <p:spPr>
          <a:xfrm>
            <a:off x="451000" y="1358200"/>
            <a:ext cx="6996097" cy="3053949"/>
          </a:xfrm>
          <a:prstGeom prst="rect">
            <a:avLst/>
          </a:prstGeom>
          <a:noFill/>
          <a:ln>
            <a:noFill/>
          </a:ln>
        </p:spPr>
      </p:pic>
      <p:sp>
        <p:nvSpPr>
          <p:cNvPr id="130" name="Google Shape;130;p23"/>
          <p:cNvSpPr txBox="1"/>
          <p:nvPr/>
        </p:nvSpPr>
        <p:spPr>
          <a:xfrm>
            <a:off x="451000" y="4491425"/>
            <a:ext cx="1870800" cy="4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4"/>
              </a:rPr>
              <a:t>academy.oracle.com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1125" y="614714"/>
            <a:ext cx="4722875" cy="617220"/>
          </a:xfrm>
        </p:spPr>
        <p:txBody>
          <a:bodyPr/>
          <a:lstStyle/>
          <a:p>
            <a:r>
              <a:rPr lang="en-US" dirty="0"/>
              <a:t>Involucrando a los estudiantes</a:t>
            </a:r>
          </a:p>
        </p:txBody>
      </p:sp>
      <p:sp>
        <p:nvSpPr>
          <p:cNvPr id="3" name="Text Placeholder 2"/>
          <p:cNvSpPr>
            <a:spLocks noGrp="1"/>
          </p:cNvSpPr>
          <p:nvPr>
            <p:ph type="body" sz="quarter" idx="16"/>
          </p:nvPr>
        </p:nvSpPr>
        <p:spPr>
          <a:xfrm>
            <a:off x="4446811" y="1428750"/>
            <a:ext cx="3952307" cy="849365"/>
          </a:xfrm>
        </p:spPr>
        <p:txBody>
          <a:bodyPr>
            <a:noAutofit/>
          </a:bodyPr>
          <a:lstStyle/>
          <a:p>
            <a:pPr marL="114300" indent="0">
              <a:buNone/>
            </a:pPr>
            <a:r>
              <a:rPr lang="en-US" sz="1650" b="1" dirty="0">
                <a:latin typeface="Oracle Sans Light" panose="020B0403020204020204" pitchFamily="34" charset="0"/>
                <a:cs typeface="Oracle Sans Light" panose="020B0403020204020204" pitchFamily="34" charset="0"/>
              </a:rPr>
              <a:t>Oracle Academy </a:t>
            </a:r>
            <a:r>
              <a:rPr lang="en-US" sz="1650" dirty="0">
                <a:latin typeface="Oracle Sans Light" panose="020B0403020204020204" pitchFamily="34" charset="0"/>
                <a:cs typeface="Oracle Sans Light" panose="020B0403020204020204" pitchFamily="34" charset="0"/>
              </a:rPr>
              <a:t>ofrece a las instituciones educativas y al profesorado los recursos de enseñanza en computación y tecnología que necesitan para motivar, inspirar y preparar a los estudiantes con habilidades relevantes para la industria, formando así a los innovadores tecnológicos y líderes del futuro.</a:t>
            </a:r>
          </a:p>
        </p:txBody>
      </p:sp>
      <p:sp>
        <p:nvSpPr>
          <p:cNvPr id="6" name="Footer Placeholder 5"/>
          <p:cNvSpPr>
            <a:spLocks noGrp="1"/>
          </p:cNvSpPr>
          <p:nvPr>
            <p:ph type="ftr" sz="quarter" idx="22"/>
          </p:nvPr>
        </p:nvSpPr>
        <p:spPr/>
        <p:txBody>
          <a:bodyPr/>
          <a:lstStyle/>
          <a:p>
            <a:pPr defTabSz="685800">
              <a:buClrTx/>
              <a:defRPr/>
            </a:pPr>
            <a:r>
              <a:rPr lang="en-US" sz="675" kern="1200" dirty="0">
                <a:solidFill>
                  <a:srgbClr val="8B8580"/>
                </a:solidFill>
                <a:latin typeface="Oracle Sans Tab"/>
                <a:ea typeface="+mn-ea"/>
                <a:cs typeface="+mn-cs"/>
              </a:rPr>
              <a:t>Copyright © 2021, Oracle y/o sus afiliados</a:t>
            </a:r>
          </a:p>
        </p:txBody>
      </p:sp>
      <p:sp>
        <p:nvSpPr>
          <p:cNvPr id="7" name="Slide Number Placeholder 6"/>
          <p:cNvSpPr>
            <a:spLocks noGrp="1"/>
          </p:cNvSpPr>
          <p:nvPr>
            <p:ph type="sldNum" sz="quarter" idx="23"/>
          </p:nvPr>
        </p:nvSpPr>
        <p:spPr/>
        <p:txBody>
          <a:bodyPr/>
          <a:lstStyle/>
          <a:p>
            <a:pPr algn="l" defTabSz="685800">
              <a:buClrTx/>
              <a:defRPr/>
            </a:pPr>
            <a:fld id="{345D60D9-5372-5F40-9443-0F9AE5BDC3C8}" type="slidenum">
              <a:rPr lang="en-US" sz="675" kern="1200">
                <a:solidFill>
                  <a:srgbClr val="8B8580"/>
                </a:solidFill>
                <a:latin typeface="Oracle Sans Tab"/>
                <a:ea typeface="+mn-ea"/>
                <a:cs typeface="+mn-cs"/>
              </a:rPr>
              <a:pPr algn="l" defTabSz="685800">
                <a:buClrTx/>
                <a:defRPr/>
              </a:pPr>
              <a:t>11</a:t>
            </a:fld>
            <a:endParaRPr lang="en-US" sz="675" kern="1200" dirty="0">
              <a:solidFill>
                <a:srgbClr val="8B8580"/>
              </a:solidFill>
              <a:latin typeface="Oracle Sans Tab"/>
              <a:ea typeface="+mn-ea"/>
              <a:cs typeface="+mn-cs"/>
            </a:endParaRPr>
          </a:p>
        </p:txBody>
      </p:sp>
      <p:pic>
        <p:nvPicPr>
          <p:cNvPr id="5" name="Picture Placeholder 4"/>
          <p:cNvPicPr>
            <a:picLocks noGrp="1" noChangeAspect="1"/>
          </p:cNvPicPr>
          <p:nvPr>
            <p:ph type="pic" sz="quarter" idx="20"/>
          </p:nvPr>
        </p:nvPicPr>
        <p:blipFill rotWithShape="1">
          <a:blip r:embed="rId3" cstate="hqprint">
            <a:extLst>
              <a:ext uri="{28A0092B-C50C-407E-A947-70E740481C1C}">
                <a14:useLocalDpi xmlns:a14="http://schemas.microsoft.com/office/drawing/2010/main" val="0"/>
              </a:ext>
            </a:extLst>
          </a:blip>
          <a:srcRect l="14444" t="12108" r="14444" b="12926"/>
          <a:stretch/>
        </p:blipFill>
        <p:spPr>
          <a:xfrm>
            <a:off x="-1" y="0"/>
            <a:ext cx="4191778" cy="5143500"/>
          </a:xfrm>
        </p:spPr>
      </p:pic>
      <p:sp>
        <p:nvSpPr>
          <p:cNvPr id="8" name="TextBox 7">
            <a:extLst>
              <a:ext uri="{FF2B5EF4-FFF2-40B4-BE49-F238E27FC236}">
                <a16:creationId xmlns:a16="http://schemas.microsoft.com/office/drawing/2014/main" id="{61A8FB25-AC82-42CE-AE69-B88DB14C2B7C}"/>
              </a:ext>
            </a:extLst>
          </p:cNvPr>
          <p:cNvSpPr txBox="1"/>
          <p:nvPr/>
        </p:nvSpPr>
        <p:spPr>
          <a:xfrm>
            <a:off x="4446811" y="3590279"/>
            <a:ext cx="4604106" cy="528478"/>
          </a:xfrm>
          <a:prstGeom prst="rect">
            <a:avLst/>
          </a:prstGeom>
          <a:noFill/>
        </p:spPr>
        <p:txBody>
          <a:bodyPr wrap="square">
            <a:spAutoFit/>
          </a:bodyPr>
          <a:lstStyle/>
          <a:p>
            <a:pPr>
              <a:lnSpc>
                <a:spcPct val="90000"/>
              </a:lnSpc>
              <a:spcBef>
                <a:spcPct val="0"/>
              </a:spcBef>
              <a:spcAft>
                <a:spcPct val="0"/>
              </a:spcAft>
              <a:defRPr/>
            </a:pPr>
            <a:r>
              <a:rPr lang="en-US" sz="1800" dirty="0">
                <a:solidFill>
                  <a:schemeClr val="accent2"/>
                </a:solidFill>
                <a:latin typeface="+mj-lt"/>
              </a:rPr>
              <a:t>Gratuito</a:t>
            </a:r>
            <a:r>
              <a:rPr lang="en-US" sz="1499" dirty="0">
                <a:solidFill>
                  <a:srgbClr val="FFFFFF"/>
                </a:solidFill>
                <a:latin typeface="Oracle Sans Regular" panose="020B0503020204020204" pitchFamily="34" charset="0"/>
              </a:rPr>
              <a:t> </a:t>
            </a:r>
            <a:r>
              <a:rPr lang="en-US" sz="1349" dirty="0">
                <a:solidFill>
                  <a:srgbClr val="FFFFFF"/>
                </a:solidFill>
                <a:cs typeface="Oracle Sans Light" panose="020B0403020204020204" pitchFamily="34" charset="0"/>
              </a:rPr>
              <a:t>programa para instituciones educativas, docentes y sus estudiantes</a:t>
            </a:r>
          </a:p>
        </p:txBody>
      </p:sp>
      <p:sp>
        <p:nvSpPr>
          <p:cNvPr id="10" name="TextBox 9">
            <a:extLst>
              <a:ext uri="{FF2B5EF4-FFF2-40B4-BE49-F238E27FC236}">
                <a16:creationId xmlns:a16="http://schemas.microsoft.com/office/drawing/2014/main" id="{328C7268-5EC3-4FFF-A670-41CF543D929B}"/>
              </a:ext>
            </a:extLst>
          </p:cNvPr>
          <p:cNvSpPr txBox="1"/>
          <p:nvPr/>
        </p:nvSpPr>
        <p:spPr>
          <a:xfrm>
            <a:off x="4389455" y="3714929"/>
            <a:ext cx="4573284" cy="279179"/>
          </a:xfrm>
          <a:prstGeom prst="rect">
            <a:avLst/>
          </a:prstGeom>
          <a:noFill/>
        </p:spPr>
        <p:txBody>
          <a:bodyPr wrap="square">
            <a:spAutoFit/>
          </a:bodyPr>
          <a:lstStyle/>
          <a:p>
            <a:pPr>
              <a:lnSpc>
                <a:spcPct val="90000"/>
              </a:lnSpc>
              <a:spcBef>
                <a:spcPct val="0"/>
              </a:spcBef>
              <a:spcAft>
                <a:spcPct val="0"/>
              </a:spcAft>
              <a:defRPr/>
            </a:pPr>
            <a:r>
              <a:rPr lang="en-US" sz="1349" dirty="0">
                <a:solidFill>
                  <a:srgbClr val="FFFFFF"/>
                </a:solidFill>
              </a:rPr>
              <a:t>Ayuda a que los </a:t>
            </a:r>
            <a:r>
              <a:rPr lang="en-US" sz="1050" dirty="0">
                <a:solidFill>
                  <a:srgbClr val="FFFFFF"/>
                </a:solidFill>
                <a:cs typeface="Oracle Sans Regular" panose="020B0503020204020204" pitchFamily="34" charset="0"/>
              </a:rPr>
              <a:t>estudiantes estén listos para iniciar su carrera profesional</a:t>
            </a:r>
          </a:p>
        </p:txBody>
      </p:sp>
      <p:sp>
        <p:nvSpPr>
          <p:cNvPr id="12" name="TextBox 11">
            <a:extLst>
              <a:ext uri="{FF2B5EF4-FFF2-40B4-BE49-F238E27FC236}">
                <a16:creationId xmlns:a16="http://schemas.microsoft.com/office/drawing/2014/main" id="{E0E4C978-A913-49E3-BED0-C900FE27FBDA}"/>
              </a:ext>
            </a:extLst>
          </p:cNvPr>
          <p:cNvSpPr txBox="1"/>
          <p:nvPr/>
        </p:nvSpPr>
        <p:spPr>
          <a:xfrm>
            <a:off x="4394155" y="4148732"/>
            <a:ext cx="4611812" cy="369332"/>
          </a:xfrm>
          <a:prstGeom prst="rect">
            <a:avLst/>
          </a:prstGeom>
          <a:noFill/>
        </p:spPr>
        <p:txBody>
          <a:bodyPr wrap="square">
            <a:spAutoFit/>
          </a:bodyPr>
          <a:lstStyle/>
          <a:p>
            <a:r>
              <a:rPr lang="en-US" sz="1800" dirty="0"/>
              <a:t>El programa educativo filantrópico de Oracle</a:t>
            </a:r>
          </a:p>
        </p:txBody>
      </p:sp>
    </p:spTree>
    <p:extLst>
      <p:ext uri="{BB962C8B-B14F-4D97-AF65-F5344CB8AC3E}">
        <p14:creationId xmlns:p14="http://schemas.microsoft.com/office/powerpoint/2010/main" val="256944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Copyright © 2024 Oracle y/o sus afiliados</a:t>
            </a:r>
          </a:p>
        </p:txBody>
      </p:sp>
      <p:sp>
        <p:nvSpPr>
          <p:cNvPr id="4" name="Slide Number Placeholder 3"/>
          <p:cNvSpPr>
            <a:spLocks noGrp="1"/>
          </p:cNvSpPr>
          <p:nvPr>
            <p:ph type="sldNum" sz="quarter" idx="12"/>
          </p:nvPr>
        </p:nvSpPr>
        <p:spPr/>
        <p:txBody>
          <a:bodyPr/>
          <a:lstStyle/>
          <a:p>
            <a:fld id="{345D60D9-5372-5F40-9443-0F9AE5BDC3C8}" type="slidenum">
              <a:rPr lang="en-US" smtClean="0"/>
              <a:pPr/>
              <a:t>12</a:t>
            </a:fld>
            <a:endParaRPr lang="en-US" dirty="0"/>
          </a:p>
        </p:txBody>
      </p:sp>
      <p:sp>
        <p:nvSpPr>
          <p:cNvPr id="6" name="Text Placeholder 2">
            <a:extLst>
              <a:ext uri="{FF2B5EF4-FFF2-40B4-BE49-F238E27FC236}">
                <a16:creationId xmlns:a16="http://schemas.microsoft.com/office/drawing/2014/main" id="{1F714D97-2391-495E-8C13-180C0EB286B9}"/>
              </a:ext>
            </a:extLst>
          </p:cNvPr>
          <p:cNvSpPr txBox="1">
            <a:spLocks/>
          </p:cNvSpPr>
          <p:nvPr/>
        </p:nvSpPr>
        <p:spPr>
          <a:xfrm>
            <a:off x="653193" y="323451"/>
            <a:ext cx="6559061" cy="449633"/>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1"/>
                </a:solidFill>
                <a:latin typeface="Oracle Sans Light" panose="020B0403020204020204" pitchFamily="34" charset="0"/>
                <a:ea typeface="+mn-ea"/>
                <a:cs typeface="Oracle Sans Light" panose="020B04030202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b="0" i="0" kern="1200">
                <a:solidFill>
                  <a:schemeClr val="tx1"/>
                </a:solidFill>
                <a:latin typeface="Oracle Sans Light" panose="020B0403020204020204" pitchFamily="34" charset="0"/>
                <a:ea typeface="+mn-ea"/>
                <a:cs typeface="Oracle Sans Light" panose="020B04030202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racle Sans Light" panose="020B0403020204020204" pitchFamily="34" charset="0"/>
                <a:ea typeface="+mn-ea"/>
                <a:cs typeface="Oracle Sans Light" panose="020B04030202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Oracle Sans Light" panose="020B0403020204020204" pitchFamily="34" charset="0"/>
                <a:ea typeface="+mn-ea"/>
                <a:cs typeface="Oracle Sans Light" panose="020B04030202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Oracle Sans Light" panose="020B0403020204020204" pitchFamily="34" charset="0"/>
                <a:ea typeface="+mn-ea"/>
                <a:cs typeface="Oracle Sans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solidFill>
                  <a:srgbClr val="2C5967"/>
                </a:solidFill>
              </a:rPr>
              <a:t>Recursos gratuitos de enseñanza y aprendizaje</a:t>
            </a:r>
          </a:p>
          <a:p>
            <a:endParaRPr lang="en-US" sz="2100" dirty="0">
              <a:solidFill>
                <a:schemeClr val="accent5"/>
              </a:solidFill>
              <a:latin typeface="+mj-lt"/>
              <a:cs typeface="Oracle Sans Semi Bold" panose="020B0603020204020204" pitchFamily="34" charset="0"/>
            </a:endParaRPr>
          </a:p>
        </p:txBody>
      </p:sp>
      <p:sp>
        <p:nvSpPr>
          <p:cNvPr id="7" name="Text Placeholder 2">
            <a:extLst>
              <a:ext uri="{FF2B5EF4-FFF2-40B4-BE49-F238E27FC236}">
                <a16:creationId xmlns:a16="http://schemas.microsoft.com/office/drawing/2014/main" id="{1F714D97-2391-495E-8C13-180C0EB286B9}"/>
              </a:ext>
            </a:extLst>
          </p:cNvPr>
          <p:cNvSpPr txBox="1">
            <a:spLocks/>
          </p:cNvSpPr>
          <p:nvPr/>
        </p:nvSpPr>
        <p:spPr>
          <a:xfrm>
            <a:off x="653192" y="836531"/>
            <a:ext cx="6559061" cy="449633"/>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1"/>
                </a:solidFill>
                <a:latin typeface="Oracle Sans Light" panose="020B0403020204020204" pitchFamily="34" charset="0"/>
                <a:ea typeface="+mn-ea"/>
                <a:cs typeface="Oracle Sans Light" panose="020B04030202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b="0" i="0" kern="1200">
                <a:solidFill>
                  <a:schemeClr val="tx1"/>
                </a:solidFill>
                <a:latin typeface="Oracle Sans Light" panose="020B0403020204020204" pitchFamily="34" charset="0"/>
                <a:ea typeface="+mn-ea"/>
                <a:cs typeface="Oracle Sans Light" panose="020B04030202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racle Sans Light" panose="020B0403020204020204" pitchFamily="34" charset="0"/>
                <a:ea typeface="+mn-ea"/>
                <a:cs typeface="Oracle Sans Light" panose="020B04030202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Oracle Sans Light" panose="020B0403020204020204" pitchFamily="34" charset="0"/>
                <a:ea typeface="+mn-ea"/>
                <a:cs typeface="Oracle Sans Light" panose="020B04030202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Oracle Sans Light" panose="020B0403020204020204" pitchFamily="34" charset="0"/>
                <a:ea typeface="+mn-ea"/>
                <a:cs typeface="Oracle Sans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solidFill>
                  <a:schemeClr val="tx2"/>
                </a:solidFill>
                <a:latin typeface="+mj-lt"/>
              </a:rPr>
              <a:t>Ruta de aprendizaje de Java</a:t>
            </a:r>
            <a:endParaRPr lang="en-US" sz="2100" dirty="0">
              <a:solidFill>
                <a:schemeClr val="tx2"/>
              </a:solidFill>
              <a:latin typeface="+mj-lt"/>
              <a:cs typeface="Oracle Sans Semi Bold" panose="020B0603020204020204" pitchFamily="34" charset="0"/>
            </a:endParaRPr>
          </a:p>
        </p:txBody>
      </p:sp>
      <p:pic>
        <p:nvPicPr>
          <p:cNvPr id="8" name="Picture 7">
            <a:extLst>
              <a:ext uri="{FF2B5EF4-FFF2-40B4-BE49-F238E27FC236}">
                <a16:creationId xmlns:a16="http://schemas.microsoft.com/office/drawing/2014/main" id="{34C86E80-6BE2-1FCB-AF3E-3BF5CC251254}"/>
              </a:ext>
            </a:extLst>
          </p:cNvPr>
          <p:cNvPicPr>
            <a:picLocks noChangeAspect="1"/>
          </p:cNvPicPr>
          <p:nvPr/>
        </p:nvPicPr>
        <p:blipFill>
          <a:blip r:embed="rId3"/>
          <a:stretch>
            <a:fillRect/>
          </a:stretch>
        </p:blipFill>
        <p:spPr>
          <a:xfrm>
            <a:off x="2322398" y="1274055"/>
            <a:ext cx="5798630" cy="3782762"/>
          </a:xfrm>
          <a:prstGeom prst="rect">
            <a:avLst/>
          </a:prstGeom>
        </p:spPr>
      </p:pic>
    </p:spTree>
    <p:extLst>
      <p:ext uri="{BB962C8B-B14F-4D97-AF65-F5344CB8AC3E}">
        <p14:creationId xmlns:p14="http://schemas.microsoft.com/office/powerpoint/2010/main" val="103758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Taller en una caja</a:t>
            </a:r>
            <a:endParaRPr/>
          </a:p>
        </p:txBody>
      </p:sp>
      <p:sp>
        <p:nvSpPr>
          <p:cNvPr id="151" name="Google Shape;151;p26"/>
          <p:cNvSpPr txBox="1"/>
          <p:nvPr/>
        </p:nvSpPr>
        <p:spPr>
          <a:xfrm>
            <a:off x="639158" y="4509475"/>
            <a:ext cx="7304100" cy="37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academy.oracle.com</a:t>
            </a:r>
            <a:r>
              <a:rPr lang="en-US" dirty="0"/>
              <a:t>/</a:t>
            </a:r>
            <a:r>
              <a:rPr lang="en-US" dirty="0" err="1"/>
              <a:t>en</a:t>
            </a:r>
            <a:r>
              <a:rPr lang="en-US" dirty="0"/>
              <a:t>/training-</a:t>
            </a:r>
            <a:r>
              <a:rPr lang="en-US" dirty="0" err="1"/>
              <a:t>workshops.html</a:t>
            </a:r>
            <a:endParaRPr dirty="0"/>
          </a:p>
        </p:txBody>
      </p:sp>
      <p:pic>
        <p:nvPicPr>
          <p:cNvPr id="152" name="Google Shape;152;p26"/>
          <p:cNvPicPr preferRelativeResize="0"/>
          <p:nvPr/>
        </p:nvPicPr>
        <p:blipFill>
          <a:blip r:embed="rId3">
            <a:alphaModFix/>
          </a:blip>
          <a:stretch>
            <a:fillRect/>
          </a:stretch>
        </p:blipFill>
        <p:spPr>
          <a:xfrm>
            <a:off x="7584400" y="593952"/>
            <a:ext cx="717717" cy="378001"/>
          </a:xfrm>
          <a:prstGeom prst="rect">
            <a:avLst/>
          </a:prstGeom>
          <a:noFill/>
          <a:ln w="9525" cap="flat" cmpd="sng">
            <a:solidFill>
              <a:schemeClr val="dk2"/>
            </a:solidFill>
            <a:prstDash val="solid"/>
            <a:round/>
            <a:headEnd type="none" w="sm" len="sm"/>
            <a:tailEnd type="none" w="sm" len="sm"/>
          </a:ln>
        </p:spPr>
      </p:pic>
      <p:pic>
        <p:nvPicPr>
          <p:cNvPr id="153" name="Google Shape;153;p26"/>
          <p:cNvPicPr preferRelativeResize="0"/>
          <p:nvPr/>
        </p:nvPicPr>
        <p:blipFill>
          <a:blip r:embed="rId4">
            <a:alphaModFix/>
          </a:blip>
          <a:stretch>
            <a:fillRect/>
          </a:stretch>
        </p:blipFill>
        <p:spPr>
          <a:xfrm>
            <a:off x="7584400" y="1035915"/>
            <a:ext cx="717725" cy="478478"/>
          </a:xfrm>
          <a:prstGeom prst="rect">
            <a:avLst/>
          </a:prstGeom>
          <a:noFill/>
          <a:ln w="9525" cap="flat" cmpd="sng">
            <a:solidFill>
              <a:schemeClr val="dk2"/>
            </a:solidFill>
            <a:prstDash val="solid"/>
            <a:round/>
            <a:headEnd type="none" w="sm" len="sm"/>
            <a:tailEnd type="none" w="sm" len="sm"/>
          </a:ln>
        </p:spPr>
      </p:pic>
      <p:pic>
        <p:nvPicPr>
          <p:cNvPr id="154" name="Google Shape;154;p26"/>
          <p:cNvPicPr preferRelativeResize="0"/>
          <p:nvPr/>
        </p:nvPicPr>
        <p:blipFill>
          <a:blip r:embed="rId5">
            <a:alphaModFix/>
          </a:blip>
          <a:stretch>
            <a:fillRect/>
          </a:stretch>
        </p:blipFill>
        <p:spPr>
          <a:xfrm>
            <a:off x="7584400" y="1578357"/>
            <a:ext cx="717725" cy="478478"/>
          </a:xfrm>
          <a:prstGeom prst="rect">
            <a:avLst/>
          </a:prstGeom>
          <a:noFill/>
          <a:ln w="9525" cap="flat" cmpd="sng">
            <a:solidFill>
              <a:schemeClr val="dk2"/>
            </a:solidFill>
            <a:prstDash val="solid"/>
            <a:round/>
            <a:headEnd type="none" w="sm" len="sm"/>
            <a:tailEnd type="none" w="sm" len="sm"/>
          </a:ln>
        </p:spPr>
      </p:pic>
      <p:pic>
        <p:nvPicPr>
          <p:cNvPr id="155" name="Google Shape;155;p26"/>
          <p:cNvPicPr preferRelativeResize="0"/>
          <p:nvPr/>
        </p:nvPicPr>
        <p:blipFill>
          <a:blip r:embed="rId6">
            <a:alphaModFix/>
          </a:blip>
          <a:stretch>
            <a:fillRect/>
          </a:stretch>
        </p:blipFill>
        <p:spPr>
          <a:xfrm>
            <a:off x="7584400" y="2120797"/>
            <a:ext cx="717725" cy="478494"/>
          </a:xfrm>
          <a:prstGeom prst="rect">
            <a:avLst/>
          </a:prstGeom>
          <a:noFill/>
          <a:ln w="9525" cap="flat" cmpd="sng">
            <a:solidFill>
              <a:schemeClr val="dk2"/>
            </a:solidFill>
            <a:prstDash val="solid"/>
            <a:round/>
            <a:headEnd type="none" w="sm" len="sm"/>
            <a:tailEnd type="none" w="sm" len="sm"/>
          </a:ln>
        </p:spPr>
      </p:pic>
      <p:pic>
        <p:nvPicPr>
          <p:cNvPr id="156" name="Google Shape;156;p26"/>
          <p:cNvPicPr preferRelativeResize="0"/>
          <p:nvPr/>
        </p:nvPicPr>
        <p:blipFill>
          <a:blip r:embed="rId7">
            <a:alphaModFix/>
          </a:blip>
          <a:stretch>
            <a:fillRect/>
          </a:stretch>
        </p:blipFill>
        <p:spPr>
          <a:xfrm>
            <a:off x="7584400" y="2663254"/>
            <a:ext cx="717725" cy="478477"/>
          </a:xfrm>
          <a:prstGeom prst="rect">
            <a:avLst/>
          </a:prstGeom>
          <a:noFill/>
          <a:ln w="9525" cap="flat" cmpd="sng">
            <a:solidFill>
              <a:schemeClr val="dk2"/>
            </a:solidFill>
            <a:prstDash val="solid"/>
            <a:round/>
            <a:headEnd type="none" w="sm" len="sm"/>
            <a:tailEnd type="none" w="sm" len="sm"/>
          </a:ln>
        </p:spPr>
      </p:pic>
      <p:pic>
        <p:nvPicPr>
          <p:cNvPr id="157" name="Google Shape;157;p26"/>
          <p:cNvPicPr preferRelativeResize="0"/>
          <p:nvPr/>
        </p:nvPicPr>
        <p:blipFill>
          <a:blip r:embed="rId8">
            <a:alphaModFix/>
          </a:blip>
          <a:stretch>
            <a:fillRect/>
          </a:stretch>
        </p:blipFill>
        <p:spPr>
          <a:xfrm>
            <a:off x="7584400" y="3205695"/>
            <a:ext cx="717725" cy="502407"/>
          </a:xfrm>
          <a:prstGeom prst="rect">
            <a:avLst/>
          </a:prstGeom>
          <a:noFill/>
          <a:ln w="9525" cap="flat" cmpd="sng">
            <a:solidFill>
              <a:schemeClr val="dk2"/>
            </a:solidFill>
            <a:prstDash val="solid"/>
            <a:round/>
            <a:headEnd type="none" w="sm" len="sm"/>
            <a:tailEnd type="none" w="sm" len="sm"/>
          </a:ln>
        </p:spPr>
      </p:pic>
      <p:pic>
        <p:nvPicPr>
          <p:cNvPr id="158" name="Google Shape;158;p26"/>
          <p:cNvPicPr preferRelativeResize="0"/>
          <p:nvPr/>
        </p:nvPicPr>
        <p:blipFill>
          <a:blip r:embed="rId9">
            <a:alphaModFix/>
          </a:blip>
          <a:stretch>
            <a:fillRect/>
          </a:stretch>
        </p:blipFill>
        <p:spPr>
          <a:xfrm flipH="1">
            <a:off x="7584401" y="3772065"/>
            <a:ext cx="717724" cy="478197"/>
          </a:xfrm>
          <a:prstGeom prst="rect">
            <a:avLst/>
          </a:prstGeom>
          <a:noFill/>
          <a:ln w="9525" cap="flat" cmpd="sng">
            <a:solidFill>
              <a:schemeClr val="dk2"/>
            </a:solidFill>
            <a:prstDash val="solid"/>
            <a:round/>
            <a:headEnd type="none" w="sm" len="sm"/>
            <a:tailEnd type="none" w="sm" len="sm"/>
          </a:ln>
        </p:spPr>
      </p:pic>
      <p:pic>
        <p:nvPicPr>
          <p:cNvPr id="159" name="Google Shape;159;p26"/>
          <p:cNvPicPr preferRelativeResize="0"/>
          <p:nvPr/>
        </p:nvPicPr>
        <p:blipFill>
          <a:blip r:embed="rId10">
            <a:alphaModFix/>
          </a:blip>
          <a:stretch>
            <a:fillRect/>
          </a:stretch>
        </p:blipFill>
        <p:spPr>
          <a:xfrm>
            <a:off x="7584400" y="4314225"/>
            <a:ext cx="717725" cy="358862"/>
          </a:xfrm>
          <a:prstGeom prst="rect">
            <a:avLst/>
          </a:prstGeom>
          <a:noFill/>
          <a:ln w="9525" cap="flat" cmpd="sng">
            <a:solidFill>
              <a:schemeClr val="dk2"/>
            </a:solidFill>
            <a:prstDash val="solid"/>
            <a:round/>
            <a:headEnd type="none" w="sm" len="sm"/>
            <a:tailEnd type="none" w="sm" len="sm"/>
          </a:ln>
        </p:spPr>
      </p:pic>
      <p:pic>
        <p:nvPicPr>
          <p:cNvPr id="3" name="Picture 2">
            <a:extLst>
              <a:ext uri="{FF2B5EF4-FFF2-40B4-BE49-F238E27FC236}">
                <a16:creationId xmlns:a16="http://schemas.microsoft.com/office/drawing/2014/main" id="{28082B61-212B-104A-F7F3-30E3E6C25797}"/>
              </a:ext>
            </a:extLst>
          </p:cNvPr>
          <p:cNvPicPr>
            <a:picLocks noChangeAspect="1"/>
          </p:cNvPicPr>
          <p:nvPr/>
        </p:nvPicPr>
        <p:blipFill>
          <a:blip r:embed="rId11"/>
          <a:stretch>
            <a:fillRect/>
          </a:stretch>
        </p:blipFill>
        <p:spPr>
          <a:xfrm>
            <a:off x="311700" y="1573837"/>
            <a:ext cx="7071021" cy="17349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Java Explorer de Oracle University: capacitación gratuita</a:t>
            </a:r>
            <a:endParaRPr dirty="0"/>
          </a:p>
        </p:txBody>
      </p:sp>
      <p:pic>
        <p:nvPicPr>
          <p:cNvPr id="136" name="Google Shape;136;p24"/>
          <p:cNvPicPr preferRelativeResize="0"/>
          <p:nvPr/>
        </p:nvPicPr>
        <p:blipFill>
          <a:blip r:embed="rId3">
            <a:alphaModFix/>
          </a:blip>
          <a:stretch>
            <a:fillRect/>
          </a:stretch>
        </p:blipFill>
        <p:spPr>
          <a:xfrm>
            <a:off x="451025" y="1060425"/>
            <a:ext cx="5216576" cy="3410051"/>
          </a:xfrm>
          <a:prstGeom prst="rect">
            <a:avLst/>
          </a:prstGeom>
          <a:noFill/>
          <a:ln>
            <a:noFill/>
          </a:ln>
        </p:spPr>
      </p:pic>
      <p:sp>
        <p:nvSpPr>
          <p:cNvPr id="137" name="Google Shape;137;p24"/>
          <p:cNvSpPr txBox="1"/>
          <p:nvPr/>
        </p:nvSpPr>
        <p:spPr>
          <a:xfrm>
            <a:off x="451000" y="4491425"/>
            <a:ext cx="8381400" cy="40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100" u="sng">
                <a:solidFill>
                  <a:schemeClr val="hlink"/>
                </a:solidFill>
                <a:hlinkClick r:id="rId4"/>
              </a:rPr>
              <a:t>learn.oracle.com/ols/learning-path/java-explorer/40805/79726</a:t>
            </a:r>
            <a:endParaRPr sz="2100" u="sng">
              <a:solidFill>
                <a:schemeClr val="hlink"/>
              </a:solidFill>
            </a:endParaRPr>
          </a:p>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Capacitación y certificaciones de Java</a:t>
            </a:r>
            <a:endParaRPr/>
          </a:p>
        </p:txBody>
      </p:sp>
      <p:sp>
        <p:nvSpPr>
          <p:cNvPr id="143" name="Google Shape;143;p25"/>
          <p:cNvSpPr txBox="1"/>
          <p:nvPr/>
        </p:nvSpPr>
        <p:spPr>
          <a:xfrm>
            <a:off x="451000" y="4734000"/>
            <a:ext cx="2078100" cy="4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education.oracle.com</a:t>
            </a:r>
            <a:endParaRPr/>
          </a:p>
        </p:txBody>
      </p:sp>
      <p:pic>
        <p:nvPicPr>
          <p:cNvPr id="4" name="Picture 3">
            <a:extLst>
              <a:ext uri="{FF2B5EF4-FFF2-40B4-BE49-F238E27FC236}">
                <a16:creationId xmlns:a16="http://schemas.microsoft.com/office/drawing/2014/main" id="{ED5DA05E-02B9-53EE-7111-EBAA7F4F822C}"/>
              </a:ext>
            </a:extLst>
          </p:cNvPr>
          <p:cNvPicPr>
            <a:picLocks noChangeAspect="1"/>
          </p:cNvPicPr>
          <p:nvPr/>
        </p:nvPicPr>
        <p:blipFill>
          <a:blip r:embed="rId4"/>
          <a:stretch>
            <a:fillRect/>
          </a:stretch>
        </p:blipFill>
        <p:spPr>
          <a:xfrm>
            <a:off x="845820" y="1193813"/>
            <a:ext cx="6606540" cy="33640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p:cNvSpPr>
            <a:spLocks noGrp="1"/>
          </p:cNvSpPr>
          <p:nvPr>
            <p:ph type="sldNum" sz="quarter" idx="16"/>
          </p:nvPr>
        </p:nvSpPr>
        <p:spPr/>
        <p:txBody>
          <a:bodyPr/>
          <a:lstStyle/>
          <a:p>
            <a:fld id="{345D60D9-5372-5F40-9443-0F9AE5BDC3C8}" type="slidenum">
              <a:rPr lang="en-US" smtClean="0"/>
              <a:pPr/>
              <a:t>16</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610" y="346627"/>
            <a:ext cx="6448961" cy="4532243"/>
          </a:xfrm>
          <a:prstGeom prst="rect">
            <a:avLst/>
          </a:prstGeom>
        </p:spPr>
      </p:pic>
    </p:spTree>
    <p:extLst>
      <p:ext uri="{BB962C8B-B14F-4D97-AF65-F5344CB8AC3E}">
        <p14:creationId xmlns:p14="http://schemas.microsoft.com/office/powerpoint/2010/main" val="2501596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234187" y="244667"/>
            <a:ext cx="8910000" cy="195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err="1"/>
              <a:t>Aprenda</a:t>
            </a:r>
            <a:r>
              <a:rPr lang="en" sz="3200" dirty="0"/>
              <a:t> Java </a:t>
            </a:r>
            <a:r>
              <a:rPr lang="en" sz="3200" dirty="0" err="1"/>
              <a:t>construyendo</a:t>
            </a:r>
            <a:r>
              <a:rPr lang="en" sz="3200" dirty="0"/>
              <a:t> </a:t>
            </a:r>
            <a:r>
              <a:rPr lang="en" sz="3200" dirty="0" err="1"/>
              <a:t>aplicaciones</a:t>
            </a:r>
            <a:r>
              <a:rPr lang="en" sz="3200" dirty="0"/>
              <a:t> </a:t>
            </a:r>
            <a:r>
              <a:rPr lang="en" sz="3200" dirty="0" err="1"/>
              <a:t>funcionales</a:t>
            </a:r>
            <a:r>
              <a:rPr lang="en" sz="3200" dirty="0"/>
              <a:t> </a:t>
            </a:r>
            <a:endParaRPr dirty="0"/>
          </a:p>
        </p:txBody>
      </p:sp>
      <p:sp>
        <p:nvSpPr>
          <p:cNvPr id="165" name="Google Shape;165;p27"/>
          <p:cNvSpPr txBox="1">
            <a:spLocks noGrp="1"/>
          </p:cNvSpPr>
          <p:nvPr>
            <p:ph type="body" idx="1"/>
          </p:nvPr>
        </p:nvSpPr>
        <p:spPr>
          <a:xfrm>
            <a:off x="4965767" y="1306967"/>
            <a:ext cx="4044000" cy="1264800"/>
          </a:xfrm>
          <a:prstGeom prst="rect">
            <a:avLst/>
          </a:prstGeom>
        </p:spPr>
        <p:txBody>
          <a:bodyPr spcFirstLastPara="1" wrap="square" lIns="91425" tIns="91425" rIns="91425" bIns="91425" anchor="t" anchorCtr="0">
            <a:noAutofit/>
          </a:bodyPr>
          <a:lstStyle/>
          <a:p>
            <a:pPr marL="457200" lvl="0" indent="-292100" algn="l" rtl="0">
              <a:lnSpc>
                <a:spcPct val="100000"/>
              </a:lnSpc>
              <a:spcBef>
                <a:spcPts val="700"/>
              </a:spcBef>
              <a:spcAft>
                <a:spcPts val="0"/>
              </a:spcAft>
              <a:buClr>
                <a:srgbClr val="000000"/>
              </a:buClr>
              <a:buSzPts val="1200"/>
              <a:buChar char="●"/>
            </a:pPr>
            <a:r>
              <a:rPr lang="en" sz="1200">
                <a:solidFill>
                  <a:srgbClr val="000000"/>
                </a:solidFill>
              </a:rPr>
              <a:t>Aprendizaje basado en proyectos:</a:t>
            </a:r>
            <a:br>
              <a:rPr lang="en" sz="1200">
                <a:solidFill>
                  <a:srgbClr val="000000"/>
                </a:solidFill>
              </a:rPr>
            </a:br>
            <a:r>
              <a:rPr lang="en" sz="1200">
                <a:solidFill>
                  <a:srgbClr val="000000"/>
                </a:solidFill>
              </a:rPr>
              <a:t>aprenda Java construyendo aplicaciones funcionales.</a:t>
            </a:r>
            <a:endParaRPr sz="1200">
              <a:solidFill>
                <a:srgbClr val="000000"/>
              </a:solidFill>
            </a:endParaRPr>
          </a:p>
          <a:p>
            <a:pPr marL="457200" lvl="0" indent="-292100" algn="l" rtl="0">
              <a:lnSpc>
                <a:spcPct val="100000"/>
              </a:lnSpc>
              <a:spcBef>
                <a:spcPts val="700"/>
              </a:spcBef>
              <a:spcAft>
                <a:spcPts val="0"/>
              </a:spcAft>
              <a:buClr>
                <a:srgbClr val="000000"/>
              </a:buClr>
              <a:buSzPts val="1200"/>
              <a:buChar char="●"/>
            </a:pPr>
            <a:r>
              <a:rPr lang="en" sz="1200">
                <a:solidFill>
                  <a:srgbClr val="000000"/>
                </a:solidFill>
              </a:rPr>
              <a:t>Mapa de conocimiento con temas de Java de un solo concepto</a:t>
            </a:r>
            <a:br>
              <a:rPr lang="en" sz="1200">
                <a:solidFill>
                  <a:srgbClr val="000000"/>
                </a:solidFill>
              </a:rPr>
            </a:br>
            <a:r>
              <a:rPr lang="en" sz="1200">
                <a:solidFill>
                  <a:srgbClr val="000000"/>
                </a:solidFill>
              </a:rPr>
              <a:t>y las conexiones entre ellos.</a:t>
            </a:r>
            <a:endParaRPr sz="1200">
              <a:solidFill>
                <a:srgbClr val="000000"/>
              </a:solidFill>
            </a:endParaRPr>
          </a:p>
          <a:p>
            <a:pPr marL="457200" lvl="0" indent="-292100" algn="l" rtl="0">
              <a:lnSpc>
                <a:spcPct val="100000"/>
              </a:lnSpc>
              <a:spcBef>
                <a:spcPts val="700"/>
              </a:spcBef>
              <a:spcAft>
                <a:spcPts val="0"/>
              </a:spcAft>
              <a:buClr>
                <a:srgbClr val="000000"/>
              </a:buClr>
              <a:buSzPts val="1200"/>
              <a:buChar char="●"/>
            </a:pPr>
            <a:r>
              <a:rPr lang="en" sz="1200">
                <a:solidFill>
                  <a:srgbClr val="000000"/>
                </a:solidFill>
              </a:rPr>
              <a:t>Su propio plan de estudio personal.</a:t>
            </a:r>
            <a:endParaRPr sz="1200">
              <a:solidFill>
                <a:srgbClr val="000000"/>
              </a:solidFill>
            </a:endParaRPr>
          </a:p>
          <a:p>
            <a:pPr marL="457200" lvl="0" indent="-292100" algn="l" rtl="0">
              <a:lnSpc>
                <a:spcPct val="100000"/>
              </a:lnSpc>
              <a:spcBef>
                <a:spcPts val="700"/>
              </a:spcBef>
              <a:spcAft>
                <a:spcPts val="0"/>
              </a:spcAft>
              <a:buClr>
                <a:srgbClr val="000000"/>
              </a:buClr>
              <a:buSzPts val="1200"/>
              <a:buChar char="●"/>
            </a:pPr>
            <a:r>
              <a:rPr lang="en" sz="1200">
                <a:solidFill>
                  <a:srgbClr val="000000"/>
                </a:solidFill>
              </a:rPr>
              <a:t>Tutoriales basados en texto y desafíos interactivos. </a:t>
            </a:r>
            <a:endParaRPr sz="1200">
              <a:solidFill>
                <a:srgbClr val="000000"/>
              </a:solidFill>
            </a:endParaRPr>
          </a:p>
          <a:p>
            <a:pPr marL="457200" lvl="0" indent="-292100" algn="l" rtl="0">
              <a:lnSpc>
                <a:spcPct val="100000"/>
              </a:lnSpc>
              <a:spcBef>
                <a:spcPts val="700"/>
              </a:spcBef>
              <a:spcAft>
                <a:spcPts val="0"/>
              </a:spcAft>
              <a:buClr>
                <a:srgbClr val="000000"/>
              </a:buClr>
              <a:buSzPts val="1200"/>
              <a:buChar char="●"/>
            </a:pPr>
            <a:r>
              <a:rPr lang="en" sz="1200">
                <a:solidFill>
                  <a:srgbClr val="000000"/>
                </a:solidFill>
              </a:rPr>
              <a:t>Integración con los IDE profesionales de JetBrains.</a:t>
            </a:r>
            <a:endParaRPr sz="1200">
              <a:solidFill>
                <a:srgbClr val="000000"/>
              </a:solidFill>
            </a:endParaRPr>
          </a:p>
          <a:p>
            <a:pPr marL="457200" lvl="0" indent="-292100" algn="l" rtl="0">
              <a:lnSpc>
                <a:spcPct val="100000"/>
              </a:lnSpc>
              <a:spcBef>
                <a:spcPts val="700"/>
              </a:spcBef>
              <a:spcAft>
                <a:spcPts val="0"/>
              </a:spcAft>
              <a:buClr>
                <a:srgbClr val="000000"/>
              </a:buClr>
              <a:buSzPts val="1200"/>
              <a:buChar char="●"/>
            </a:pPr>
            <a:r>
              <a:rPr lang="en" sz="1200">
                <a:solidFill>
                  <a:srgbClr val="000000"/>
                </a:solidFill>
              </a:rPr>
              <a:t>Una comunidad de más de 270 mil estudiantes.</a:t>
            </a:r>
            <a:endParaRPr sz="1200">
              <a:solidFill>
                <a:srgbClr val="000000"/>
              </a:solidFill>
            </a:endParaRPr>
          </a:p>
          <a:p>
            <a:pPr marL="457200" lvl="0" indent="-292100" algn="l" rtl="0">
              <a:lnSpc>
                <a:spcPct val="100000"/>
              </a:lnSpc>
              <a:spcBef>
                <a:spcPts val="700"/>
              </a:spcBef>
              <a:spcAft>
                <a:spcPts val="0"/>
              </a:spcAft>
              <a:buClr>
                <a:srgbClr val="000000"/>
              </a:buClr>
              <a:buSzPts val="1200"/>
              <a:buChar char="●"/>
            </a:pPr>
            <a:r>
              <a:rPr lang="en" sz="1200">
                <a:solidFill>
                  <a:srgbClr val="000000"/>
                </a:solidFill>
              </a:rPr>
              <a:t>Al completar proyectos, publíquelos en GitHub</a:t>
            </a:r>
            <a:br>
              <a:rPr lang="en" sz="1200">
                <a:solidFill>
                  <a:srgbClr val="000000"/>
                </a:solidFill>
              </a:rPr>
            </a:br>
            <a:r>
              <a:rPr lang="en" sz="1200">
                <a:solidFill>
                  <a:srgbClr val="000000"/>
                </a:solidFill>
              </a:rPr>
              <a:t>para construir su portafolio de desarrollador. </a:t>
            </a:r>
            <a:endParaRPr sz="1200">
              <a:solidFill>
                <a:srgbClr val="000000"/>
              </a:solidFill>
            </a:endParaRPr>
          </a:p>
        </p:txBody>
      </p:sp>
      <p:sp>
        <p:nvSpPr>
          <p:cNvPr id="166" name="Google Shape;166;p27"/>
          <p:cNvSpPr txBox="1">
            <a:spLocks noGrp="1"/>
          </p:cNvSpPr>
          <p:nvPr>
            <p:ph type="body" idx="1"/>
          </p:nvPr>
        </p:nvSpPr>
        <p:spPr>
          <a:xfrm>
            <a:off x="270700" y="4343783"/>
            <a:ext cx="4695067" cy="463887"/>
          </a:xfrm>
          <a:prstGeom prst="rect">
            <a:avLst/>
          </a:prstGeom>
          <a:noFill/>
          <a:ln>
            <a:noFill/>
          </a:ln>
        </p:spPr>
        <p:txBody>
          <a:bodyPr spcFirstLastPara="1" wrap="square" lIns="45700" tIns="45700" rIns="45700" bIns="45700" anchor="ctr" anchorCtr="0">
            <a:noAutofit/>
          </a:bodyPr>
          <a:lstStyle/>
          <a:p>
            <a:pPr marL="0" lvl="0" indent="0" algn="l" rtl="0">
              <a:lnSpc>
                <a:spcPct val="80000"/>
              </a:lnSpc>
              <a:spcBef>
                <a:spcPts val="0"/>
              </a:spcBef>
              <a:spcAft>
                <a:spcPts val="0"/>
              </a:spcAft>
              <a:buClr>
                <a:srgbClr val="FFFFFF"/>
              </a:buClr>
              <a:buSzPts val="2300"/>
              <a:buFont typeface="Arial"/>
              <a:buNone/>
            </a:pPr>
            <a:r>
              <a:rPr lang="en" sz="1700" dirty="0">
                <a:solidFill>
                  <a:srgbClr val="000000"/>
                </a:solidFill>
              </a:rPr>
              <a:t>Prueba gratuita extendida de 3 meses en JetBrains Academy: </a:t>
            </a:r>
            <a:r>
              <a:rPr lang="en" sz="1700" dirty="0">
                <a:solidFill>
                  <a:schemeClr val="hlink"/>
                </a:solidFill>
                <a:uFill>
                  <a:noFill/>
                </a:uFill>
                <a:hlinkClick r:id="rId3"/>
              </a:rPr>
              <a:t>jb.gg/academy/java_in_education</a:t>
            </a:r>
            <a:endParaRPr sz="1700" dirty="0">
              <a:solidFill>
                <a:srgbClr val="0097A7"/>
              </a:solidFill>
            </a:endParaRPr>
          </a:p>
          <a:p>
            <a:pPr marL="0" lvl="0" indent="0" algn="ctr" rtl="0">
              <a:lnSpc>
                <a:spcPct val="80000"/>
              </a:lnSpc>
              <a:spcBef>
                <a:spcPts val="0"/>
              </a:spcBef>
              <a:spcAft>
                <a:spcPts val="0"/>
              </a:spcAft>
              <a:buClr>
                <a:srgbClr val="FFFFFF"/>
              </a:buClr>
              <a:buSzPts val="2300"/>
              <a:buFont typeface="Arial"/>
              <a:buNone/>
            </a:pPr>
            <a:endParaRPr sz="500" dirty="0">
              <a:solidFill>
                <a:srgbClr val="000000"/>
              </a:solidFill>
            </a:endParaRPr>
          </a:p>
        </p:txBody>
      </p:sp>
      <p:pic>
        <p:nvPicPr>
          <p:cNvPr id="167" name="Google Shape;167;p27"/>
          <p:cNvPicPr preferRelativeResize="0"/>
          <p:nvPr/>
        </p:nvPicPr>
        <p:blipFill>
          <a:blip r:embed="rId4">
            <a:alphaModFix/>
          </a:blip>
          <a:stretch>
            <a:fillRect/>
          </a:stretch>
        </p:blipFill>
        <p:spPr>
          <a:xfrm>
            <a:off x="354831" y="1259733"/>
            <a:ext cx="4439834" cy="277273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74" name="Google Shape;174;p28"/>
          <p:cNvPicPr preferRelativeResize="0"/>
          <p:nvPr/>
        </p:nvPicPr>
        <p:blipFill>
          <a:blip r:embed="rId3">
            <a:alphaModFix/>
          </a:blip>
          <a:stretch>
            <a:fillRect/>
          </a:stretch>
        </p:blipFill>
        <p:spPr>
          <a:xfrm>
            <a:off x="4763" y="0"/>
            <a:ext cx="9134475"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Próximos pasos</a:t>
            </a:r>
            <a:endParaRPr/>
          </a:p>
        </p:txBody>
      </p:sp>
      <p:sp>
        <p:nvSpPr>
          <p:cNvPr id="180" name="Google Shape;180;p29"/>
          <p:cNvSpPr/>
          <p:nvPr/>
        </p:nvSpPr>
        <p:spPr>
          <a:xfrm>
            <a:off x="475350" y="1712500"/>
            <a:ext cx="3229800" cy="3041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chemeClr val="dk1"/>
              </a:buClr>
              <a:buSzPts val="1200"/>
              <a:buAutoNum type="arabicPeriod"/>
            </a:pPr>
            <a:r>
              <a:rPr lang="en" sz="1100" dirty="0" err="1">
                <a:solidFill>
                  <a:schemeClr val="dk1"/>
                </a:solidFill>
              </a:rPr>
              <a:t>Regístrese</a:t>
            </a:r>
            <a:r>
              <a:rPr lang="en" sz="1100" dirty="0">
                <a:solidFill>
                  <a:schemeClr val="dk1"/>
                </a:solidFill>
              </a:rPr>
              <a:t> </a:t>
            </a:r>
            <a:r>
              <a:rPr lang="en" sz="1100" dirty="0" err="1">
                <a:solidFill>
                  <a:schemeClr val="dk1"/>
                </a:solidFill>
              </a:rPr>
              <a:t>como</a:t>
            </a:r>
            <a:r>
              <a:rPr lang="en" sz="1100" dirty="0">
                <a:solidFill>
                  <a:schemeClr val="dk1"/>
                </a:solidFill>
              </a:rPr>
              <a:t> </a:t>
            </a:r>
            <a:r>
              <a:rPr lang="en" sz="1100" dirty="0" err="1">
                <a:solidFill>
                  <a:schemeClr val="dk1"/>
                </a:solidFill>
              </a:rPr>
              <a:t>miembro</a:t>
            </a:r>
            <a:r>
              <a:rPr lang="en" sz="1100" dirty="0">
                <a:solidFill>
                  <a:schemeClr val="dk1"/>
                </a:solidFill>
              </a:rPr>
              <a:t> </a:t>
            </a:r>
            <a:r>
              <a:rPr lang="en" sz="1100" dirty="0" err="1">
                <a:solidFill>
                  <a:schemeClr val="dk1"/>
                </a:solidFill>
              </a:rPr>
              <a:t>institucional</a:t>
            </a:r>
            <a:r>
              <a:rPr lang="en" sz="1100" dirty="0">
                <a:solidFill>
                  <a:schemeClr val="dk1"/>
                </a:solidFill>
              </a:rPr>
              <a:t> de Oracle Academy para acceder a </a:t>
            </a:r>
            <a:r>
              <a:rPr lang="en" sz="1100" dirty="0" err="1">
                <a:solidFill>
                  <a:schemeClr val="dk1"/>
                </a:solidFill>
              </a:rPr>
              <a:t>recursos</a:t>
            </a:r>
            <a:r>
              <a:rPr lang="en" sz="1100" dirty="0">
                <a:solidFill>
                  <a:schemeClr val="dk1"/>
                </a:solidFill>
              </a:rPr>
              <a:t> de Java, </a:t>
            </a:r>
            <a:r>
              <a:rPr lang="en" sz="1100" dirty="0" err="1">
                <a:solidFill>
                  <a:schemeClr val="dk1"/>
                </a:solidFill>
              </a:rPr>
              <a:t>incluidos</a:t>
            </a:r>
            <a:r>
              <a:rPr lang="en" sz="1100" dirty="0">
                <a:solidFill>
                  <a:schemeClr val="dk1"/>
                </a:solidFill>
              </a:rPr>
              <a:t> </a:t>
            </a:r>
            <a:r>
              <a:rPr lang="en" sz="1100" dirty="0" err="1">
                <a:solidFill>
                  <a:schemeClr val="dk1"/>
                </a:solidFill>
              </a:rPr>
              <a:t>los</a:t>
            </a:r>
            <a:r>
              <a:rPr lang="en" sz="1100" dirty="0">
                <a:solidFill>
                  <a:schemeClr val="dk1"/>
                </a:solidFill>
              </a:rPr>
              <a:t> </a:t>
            </a:r>
            <a:r>
              <a:rPr lang="en" sz="1100" dirty="0" err="1">
                <a:solidFill>
                  <a:schemeClr val="dk1"/>
                </a:solidFill>
              </a:rPr>
              <a:t>recursos</a:t>
            </a:r>
            <a:r>
              <a:rPr lang="en" sz="1100" dirty="0">
                <a:solidFill>
                  <a:schemeClr val="dk1"/>
                </a:solidFill>
              </a:rPr>
              <a:t> de taller </a:t>
            </a:r>
            <a:r>
              <a:rPr lang="en" sz="1100" dirty="0" err="1">
                <a:solidFill>
                  <a:schemeClr val="dk1"/>
                </a:solidFill>
              </a:rPr>
              <a:t>en</a:t>
            </a:r>
            <a:r>
              <a:rPr lang="en" sz="1100" dirty="0">
                <a:solidFill>
                  <a:schemeClr val="dk1"/>
                </a:solidFill>
              </a:rPr>
              <a:t> </a:t>
            </a:r>
            <a:r>
              <a:rPr lang="en" sz="1100" dirty="0" err="1">
                <a:solidFill>
                  <a:schemeClr val="dk1"/>
                </a:solidFill>
              </a:rPr>
              <a:t>una</a:t>
            </a:r>
            <a:r>
              <a:rPr lang="en" sz="1100" dirty="0">
                <a:solidFill>
                  <a:schemeClr val="dk1"/>
                </a:solidFill>
              </a:rPr>
              <a:t> </a:t>
            </a:r>
            <a:r>
              <a:rPr lang="en" sz="1100" dirty="0" err="1">
                <a:solidFill>
                  <a:schemeClr val="dk1"/>
                </a:solidFill>
              </a:rPr>
              <a:t>caja</a:t>
            </a:r>
            <a:r>
              <a:rPr lang="en" sz="1100" dirty="0">
                <a:solidFill>
                  <a:schemeClr val="dk1"/>
                </a:solidFill>
              </a:rPr>
              <a:t> o el plan de </a:t>
            </a:r>
            <a:r>
              <a:rPr lang="en" sz="1100" dirty="0" err="1">
                <a:solidFill>
                  <a:schemeClr val="dk1"/>
                </a:solidFill>
              </a:rPr>
              <a:t>estudios</a:t>
            </a:r>
            <a:r>
              <a:rPr lang="en" sz="1100" dirty="0">
                <a:solidFill>
                  <a:schemeClr val="dk1"/>
                </a:solidFill>
              </a:rPr>
              <a:t> </a:t>
            </a:r>
            <a:r>
              <a:rPr lang="en" sz="1100" dirty="0" err="1">
                <a:solidFill>
                  <a:schemeClr val="dk1"/>
                </a:solidFill>
              </a:rPr>
              <a:t>completo</a:t>
            </a:r>
            <a:r>
              <a:rPr lang="en" sz="1100" dirty="0">
                <a:solidFill>
                  <a:schemeClr val="dk1"/>
                </a:solidFill>
              </a:rPr>
              <a:t> para usar </a:t>
            </a:r>
            <a:r>
              <a:rPr lang="en" sz="1100" dirty="0" err="1">
                <a:solidFill>
                  <a:schemeClr val="dk1"/>
                </a:solidFill>
              </a:rPr>
              <a:t>en</a:t>
            </a:r>
            <a:r>
              <a:rPr lang="en" sz="1100" dirty="0">
                <a:solidFill>
                  <a:schemeClr val="dk1"/>
                </a:solidFill>
              </a:rPr>
              <a:t> el aula al </a:t>
            </a:r>
            <a:r>
              <a:rPr lang="en" sz="1100" dirty="0" err="1">
                <a:solidFill>
                  <a:schemeClr val="dk1"/>
                </a:solidFill>
              </a:rPr>
              <a:t>enseñar</a:t>
            </a:r>
            <a:r>
              <a:rPr lang="en" sz="1100" dirty="0">
                <a:solidFill>
                  <a:schemeClr val="dk1"/>
                </a:solidFill>
              </a:rPr>
              <a:t> a </a:t>
            </a:r>
            <a:r>
              <a:rPr lang="en" sz="1100" dirty="0" err="1">
                <a:solidFill>
                  <a:schemeClr val="dk1"/>
                </a:solidFill>
              </a:rPr>
              <a:t>los</a:t>
            </a:r>
            <a:r>
              <a:rPr lang="en" sz="1100" dirty="0">
                <a:solidFill>
                  <a:schemeClr val="dk1"/>
                </a:solidFill>
              </a:rPr>
              <a:t> </a:t>
            </a:r>
            <a:r>
              <a:rPr lang="en" sz="1100" dirty="0" err="1">
                <a:solidFill>
                  <a:schemeClr val="dk1"/>
                </a:solidFill>
              </a:rPr>
              <a:t>estudiantes</a:t>
            </a:r>
            <a:r>
              <a:rPr lang="en" sz="1100" dirty="0">
                <a:solidFill>
                  <a:schemeClr val="dk1"/>
                </a:solidFill>
              </a:rPr>
              <a:t>. </a:t>
            </a:r>
            <a:endParaRPr sz="1100" dirty="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100" dirty="0">
                <a:solidFill>
                  <a:schemeClr val="dk1"/>
                </a:solidFill>
              </a:rPr>
              <a:t>¿</a:t>
            </a:r>
            <a:r>
              <a:rPr lang="en" sz="1100" dirty="0" err="1">
                <a:solidFill>
                  <a:schemeClr val="dk1"/>
                </a:solidFill>
              </a:rPr>
              <a:t>Trabaja</a:t>
            </a:r>
            <a:r>
              <a:rPr lang="en" sz="1100" dirty="0">
                <a:solidFill>
                  <a:schemeClr val="dk1"/>
                </a:solidFill>
              </a:rPr>
              <a:t> </a:t>
            </a:r>
            <a:r>
              <a:rPr lang="en" sz="1100" dirty="0" err="1">
                <a:solidFill>
                  <a:schemeClr val="dk1"/>
                </a:solidFill>
              </a:rPr>
              <a:t>en</a:t>
            </a:r>
            <a:r>
              <a:rPr lang="en" sz="1100" dirty="0">
                <a:solidFill>
                  <a:schemeClr val="dk1"/>
                </a:solidFill>
              </a:rPr>
              <a:t> </a:t>
            </a:r>
            <a:r>
              <a:rPr lang="en" sz="1100" dirty="0" err="1">
                <a:solidFill>
                  <a:schemeClr val="dk1"/>
                </a:solidFill>
              </a:rPr>
              <a:t>una</a:t>
            </a:r>
            <a:r>
              <a:rPr lang="en" sz="1100" dirty="0">
                <a:solidFill>
                  <a:schemeClr val="dk1"/>
                </a:solidFill>
              </a:rPr>
              <a:t> </a:t>
            </a:r>
            <a:r>
              <a:rPr lang="en" sz="1100" dirty="0" err="1">
                <a:solidFill>
                  <a:schemeClr val="dk1"/>
                </a:solidFill>
              </a:rPr>
              <a:t>institución</a:t>
            </a:r>
            <a:r>
              <a:rPr lang="en" sz="1100" dirty="0">
                <a:solidFill>
                  <a:schemeClr val="dk1"/>
                </a:solidFill>
              </a:rPr>
              <a:t> </a:t>
            </a:r>
            <a:r>
              <a:rPr lang="en" sz="1100" dirty="0" err="1">
                <a:solidFill>
                  <a:schemeClr val="dk1"/>
                </a:solidFill>
              </a:rPr>
              <a:t>educativa</a:t>
            </a:r>
            <a:r>
              <a:rPr lang="en" sz="1100" dirty="0">
                <a:solidFill>
                  <a:schemeClr val="dk1"/>
                </a:solidFill>
              </a:rPr>
              <a:t>? </a:t>
            </a:r>
            <a:r>
              <a:rPr lang="en" sz="1100" dirty="0" err="1">
                <a:solidFill>
                  <a:schemeClr val="dk1"/>
                </a:solidFill>
              </a:rPr>
              <a:t>Verifique</a:t>
            </a:r>
            <a:r>
              <a:rPr lang="en" sz="1100" dirty="0">
                <a:solidFill>
                  <a:schemeClr val="dk1"/>
                </a:solidFill>
              </a:rPr>
              <a:t> </a:t>
            </a:r>
            <a:r>
              <a:rPr lang="en" sz="1100" dirty="0" err="1">
                <a:solidFill>
                  <a:schemeClr val="dk1"/>
                </a:solidFill>
              </a:rPr>
              <a:t>si</a:t>
            </a:r>
            <a:r>
              <a:rPr lang="en" sz="1100" dirty="0">
                <a:solidFill>
                  <a:schemeClr val="dk1"/>
                </a:solidFill>
              </a:rPr>
              <a:t> </a:t>
            </a:r>
            <a:r>
              <a:rPr lang="en" sz="1100" dirty="0" err="1">
                <a:solidFill>
                  <a:schemeClr val="dk1"/>
                </a:solidFill>
              </a:rPr>
              <a:t>su</a:t>
            </a:r>
            <a:r>
              <a:rPr lang="en" sz="1100" dirty="0">
                <a:solidFill>
                  <a:schemeClr val="dk1"/>
                </a:solidFill>
              </a:rPr>
              <a:t> </a:t>
            </a:r>
            <a:r>
              <a:rPr lang="en" sz="1100" dirty="0" err="1">
                <a:solidFill>
                  <a:schemeClr val="dk1"/>
                </a:solidFill>
              </a:rPr>
              <a:t>institución</a:t>
            </a:r>
            <a:r>
              <a:rPr lang="en" sz="1100" dirty="0">
                <a:solidFill>
                  <a:schemeClr val="dk1"/>
                </a:solidFill>
              </a:rPr>
              <a:t> </a:t>
            </a:r>
            <a:r>
              <a:rPr lang="en" sz="1100" dirty="0" err="1">
                <a:solidFill>
                  <a:schemeClr val="dk1"/>
                </a:solidFill>
              </a:rPr>
              <a:t>ya</a:t>
            </a:r>
            <a:r>
              <a:rPr lang="en" sz="1100" dirty="0">
                <a:solidFill>
                  <a:schemeClr val="dk1"/>
                </a:solidFill>
              </a:rPr>
              <a:t> es </a:t>
            </a:r>
            <a:r>
              <a:rPr lang="en" sz="1100" dirty="0" err="1">
                <a:solidFill>
                  <a:schemeClr val="dk1"/>
                </a:solidFill>
              </a:rPr>
              <a:t>miembro</a:t>
            </a:r>
            <a:r>
              <a:rPr lang="en" sz="1100" dirty="0">
                <a:solidFill>
                  <a:schemeClr val="dk1"/>
                </a:solidFill>
              </a:rPr>
              <a:t>.</a:t>
            </a:r>
            <a:endParaRPr sz="1100" dirty="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100" dirty="0" err="1">
                <a:solidFill>
                  <a:schemeClr val="dk1"/>
                </a:solidFill>
              </a:rPr>
              <a:t>Líderes</a:t>
            </a:r>
            <a:r>
              <a:rPr lang="en" sz="1100" dirty="0">
                <a:solidFill>
                  <a:schemeClr val="dk1"/>
                </a:solidFill>
              </a:rPr>
              <a:t> de JUG: </a:t>
            </a:r>
            <a:r>
              <a:rPr lang="en" sz="1100" dirty="0" err="1">
                <a:solidFill>
                  <a:schemeClr val="dk1"/>
                </a:solidFill>
              </a:rPr>
              <a:t>obtengan</a:t>
            </a:r>
            <a:r>
              <a:rPr lang="en" sz="1100" dirty="0">
                <a:solidFill>
                  <a:schemeClr val="dk1"/>
                </a:solidFill>
              </a:rPr>
              <a:t> </a:t>
            </a:r>
            <a:r>
              <a:rPr lang="en" sz="1100" dirty="0" err="1">
                <a:solidFill>
                  <a:schemeClr val="dk1"/>
                </a:solidFill>
              </a:rPr>
              <a:t>más</a:t>
            </a:r>
            <a:r>
              <a:rPr lang="en" sz="1100" dirty="0">
                <a:solidFill>
                  <a:schemeClr val="dk1"/>
                </a:solidFill>
              </a:rPr>
              <a:t> </a:t>
            </a:r>
            <a:r>
              <a:rPr lang="en" sz="1100" dirty="0" err="1">
                <a:solidFill>
                  <a:schemeClr val="dk1"/>
                </a:solidFill>
              </a:rPr>
              <a:t>información</a:t>
            </a:r>
            <a:r>
              <a:rPr lang="en" sz="1100" dirty="0">
                <a:solidFill>
                  <a:schemeClr val="dk1"/>
                </a:solidFill>
              </a:rPr>
              <a:t> </a:t>
            </a:r>
            <a:r>
              <a:rPr lang="en" sz="1100" dirty="0" err="1">
                <a:solidFill>
                  <a:schemeClr val="dk1"/>
                </a:solidFill>
              </a:rPr>
              <a:t>visitando</a:t>
            </a:r>
            <a:r>
              <a:rPr lang="en" sz="1100" dirty="0">
                <a:solidFill>
                  <a:schemeClr val="dk1"/>
                </a:solidFill>
              </a:rPr>
              <a:t> el sitio web de Oracle Academy o </a:t>
            </a:r>
            <a:r>
              <a:rPr lang="en" sz="1100" dirty="0" err="1">
                <a:solidFill>
                  <a:schemeClr val="dk1"/>
                </a:solidFill>
              </a:rPr>
              <a:t>contactando</a:t>
            </a:r>
            <a:r>
              <a:rPr lang="en" sz="1100" dirty="0">
                <a:solidFill>
                  <a:schemeClr val="dk1"/>
                </a:solidFill>
              </a:rPr>
              <a:t> al </a:t>
            </a:r>
            <a:r>
              <a:rPr lang="en" sz="1100" dirty="0" err="1">
                <a:solidFill>
                  <a:schemeClr val="dk1"/>
                </a:solidFill>
              </a:rPr>
              <a:t>equipo</a:t>
            </a:r>
            <a:r>
              <a:rPr lang="en" sz="1100" dirty="0">
                <a:solidFill>
                  <a:schemeClr val="dk1"/>
                </a:solidFill>
              </a:rPr>
              <a:t> de Oracle Academy; </a:t>
            </a:r>
            <a:r>
              <a:rPr lang="en" sz="1100" dirty="0" err="1">
                <a:solidFill>
                  <a:schemeClr val="dk1"/>
                </a:solidFill>
              </a:rPr>
              <a:t>regístrense</a:t>
            </a:r>
            <a:r>
              <a:rPr lang="en" sz="1100" dirty="0">
                <a:solidFill>
                  <a:schemeClr val="dk1"/>
                </a:solidFill>
              </a:rPr>
              <a:t> </a:t>
            </a:r>
            <a:r>
              <a:rPr lang="en" sz="1100" dirty="0" err="1">
                <a:solidFill>
                  <a:schemeClr val="dk1"/>
                </a:solidFill>
              </a:rPr>
              <a:t>como</a:t>
            </a:r>
            <a:r>
              <a:rPr lang="en" sz="1100" dirty="0">
                <a:solidFill>
                  <a:schemeClr val="dk1"/>
                </a:solidFill>
              </a:rPr>
              <a:t> </a:t>
            </a:r>
            <a:r>
              <a:rPr lang="en" sz="1100" dirty="0" err="1">
                <a:solidFill>
                  <a:schemeClr val="dk1"/>
                </a:solidFill>
              </a:rPr>
              <a:t>individuo</a:t>
            </a:r>
            <a:r>
              <a:rPr lang="en" sz="1100" dirty="0">
                <a:solidFill>
                  <a:schemeClr val="dk1"/>
                </a:solidFill>
              </a:rPr>
              <a:t> para </a:t>
            </a:r>
            <a:r>
              <a:rPr lang="en" sz="1100" dirty="0" err="1">
                <a:solidFill>
                  <a:schemeClr val="dk1"/>
                </a:solidFill>
              </a:rPr>
              <a:t>impartir</a:t>
            </a:r>
            <a:r>
              <a:rPr lang="en" sz="1100" dirty="0">
                <a:solidFill>
                  <a:schemeClr val="dk1"/>
                </a:solidFill>
              </a:rPr>
              <a:t> un taller </a:t>
            </a:r>
            <a:r>
              <a:rPr lang="en" sz="1100" dirty="0" err="1">
                <a:solidFill>
                  <a:schemeClr val="dk1"/>
                </a:solidFill>
              </a:rPr>
              <a:t>en</a:t>
            </a:r>
            <a:r>
              <a:rPr lang="en" sz="1100" dirty="0">
                <a:solidFill>
                  <a:schemeClr val="dk1"/>
                </a:solidFill>
              </a:rPr>
              <a:t> </a:t>
            </a:r>
            <a:r>
              <a:rPr lang="en" sz="1100" dirty="0" err="1">
                <a:solidFill>
                  <a:schemeClr val="dk1"/>
                </a:solidFill>
              </a:rPr>
              <a:t>una</a:t>
            </a:r>
            <a:r>
              <a:rPr lang="en" sz="1100" dirty="0">
                <a:solidFill>
                  <a:schemeClr val="dk1"/>
                </a:solidFill>
              </a:rPr>
              <a:t> </a:t>
            </a:r>
            <a:r>
              <a:rPr lang="en" sz="1100" dirty="0" err="1">
                <a:solidFill>
                  <a:schemeClr val="dk1"/>
                </a:solidFill>
              </a:rPr>
              <a:t>caja</a:t>
            </a:r>
            <a:r>
              <a:rPr lang="en" sz="1100" dirty="0">
                <a:solidFill>
                  <a:schemeClr val="dk1"/>
                </a:solidFill>
              </a:rPr>
              <a:t>.</a:t>
            </a:r>
            <a:endParaRPr sz="1100" dirty="0">
              <a:solidFill>
                <a:schemeClr val="dk1"/>
              </a:solidFill>
            </a:endParaRPr>
          </a:p>
          <a:p>
            <a:pPr marL="0" lvl="0" indent="0" algn="l" rtl="0">
              <a:spcBef>
                <a:spcPts val="1200"/>
              </a:spcBef>
              <a:spcAft>
                <a:spcPts val="0"/>
              </a:spcAft>
              <a:buNone/>
            </a:pPr>
            <a:endParaRPr sz="1100" dirty="0"/>
          </a:p>
        </p:txBody>
      </p:sp>
      <p:sp>
        <p:nvSpPr>
          <p:cNvPr id="181" name="Google Shape;181;p29"/>
          <p:cNvSpPr/>
          <p:nvPr/>
        </p:nvSpPr>
        <p:spPr>
          <a:xfrm>
            <a:off x="4046575" y="1712475"/>
            <a:ext cx="3229800" cy="3041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457200" lvl="0" indent="-304800" algn="l" rtl="0">
              <a:spcBef>
                <a:spcPts val="0"/>
              </a:spcBef>
              <a:spcAft>
                <a:spcPts val="0"/>
              </a:spcAft>
              <a:buSzPts val="1200"/>
              <a:buAutoNum type="arabicPeriod"/>
            </a:pPr>
            <a:r>
              <a:rPr lang="en" sz="1200"/>
              <a:t>Tome el curso gratuito Java Explorer de Oracle University.</a:t>
            </a:r>
            <a:endParaRPr sz="1200"/>
          </a:p>
          <a:p>
            <a:pPr marL="457200" lvl="0" indent="-304800" algn="l" rtl="0">
              <a:spcBef>
                <a:spcPts val="0"/>
              </a:spcBef>
              <a:spcAft>
                <a:spcPts val="0"/>
              </a:spcAft>
              <a:buSzPts val="1200"/>
              <a:buAutoNum type="arabicPeriod"/>
            </a:pPr>
            <a:r>
              <a:rPr lang="en" sz="1200"/>
              <a:t>Contacte a su Grupo de Usuarios de Java (JUG) local.</a:t>
            </a:r>
            <a:endParaRPr sz="1200"/>
          </a:p>
          <a:p>
            <a:pPr marL="457200" lvl="0" indent="-304800" algn="l" rtl="0">
              <a:spcBef>
                <a:spcPts val="0"/>
              </a:spcBef>
              <a:spcAft>
                <a:spcPts val="0"/>
              </a:spcAft>
              <a:buSzPts val="1200"/>
              <a:buAutoNum type="arabicPeriod"/>
            </a:pPr>
            <a:r>
              <a:rPr lang="en" sz="1200"/>
              <a:t>Asista a un meetup y preséntese.</a:t>
            </a:r>
            <a:endParaRPr sz="1200"/>
          </a:p>
          <a:p>
            <a:pPr marL="457200" lvl="0" indent="-304800" algn="l" rtl="0">
              <a:spcBef>
                <a:spcPts val="0"/>
              </a:spcBef>
              <a:spcAft>
                <a:spcPts val="0"/>
              </a:spcAft>
              <a:buSzPts val="1200"/>
              <a:buAutoNum type="arabicPeriod"/>
            </a:pPr>
            <a:r>
              <a:rPr lang="en" sz="1200"/>
              <a:t>Pida sugerencias y recomendaciones para el JUG en la lista de discusión.</a:t>
            </a:r>
            <a:endParaRPr sz="1200"/>
          </a:p>
          <a:p>
            <a:pPr marL="457200" lvl="0" indent="-304800" algn="l" rtl="0">
              <a:spcBef>
                <a:spcPts val="0"/>
              </a:spcBef>
              <a:spcAft>
                <a:spcPts val="0"/>
              </a:spcAft>
              <a:buSzPts val="1200"/>
              <a:buAutoNum type="arabicPeriod"/>
            </a:pPr>
            <a:r>
              <a:rPr lang="en" sz="1200"/>
              <a:t>Ofrézcase a dar comentarios y sugerencias sobre su experiencia (aprendiendo) Java.</a:t>
            </a:r>
            <a:endParaRPr sz="1200"/>
          </a:p>
        </p:txBody>
      </p:sp>
      <p:sp>
        <p:nvSpPr>
          <p:cNvPr id="182" name="Google Shape;182;p29"/>
          <p:cNvSpPr txBox="1"/>
          <p:nvPr/>
        </p:nvSpPr>
        <p:spPr>
          <a:xfrm>
            <a:off x="475350" y="1224900"/>
            <a:ext cx="3549000" cy="4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err="1"/>
              <a:t>Educadores</a:t>
            </a:r>
            <a:r>
              <a:rPr lang="en" sz="1600" dirty="0"/>
              <a:t>/</a:t>
            </a:r>
            <a:r>
              <a:rPr lang="en" sz="1600" dirty="0" err="1"/>
              <a:t>Líderes</a:t>
            </a:r>
            <a:r>
              <a:rPr lang="en" sz="1600" dirty="0"/>
              <a:t> </a:t>
            </a:r>
            <a:r>
              <a:rPr lang="en" sz="1600" dirty="0" err="1"/>
              <a:t>comunitarios</a:t>
            </a:r>
            <a:endParaRPr sz="1600" dirty="0"/>
          </a:p>
        </p:txBody>
      </p:sp>
      <p:sp>
        <p:nvSpPr>
          <p:cNvPr id="183" name="Google Shape;183;p29"/>
          <p:cNvSpPr txBox="1"/>
          <p:nvPr/>
        </p:nvSpPr>
        <p:spPr>
          <a:xfrm>
            <a:off x="4046575" y="1224900"/>
            <a:ext cx="1419900" cy="4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err="1"/>
              <a:t>Estudiantes</a:t>
            </a:r>
            <a:endParaRPr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Recursos</a:t>
            </a:r>
            <a:endParaRPr/>
          </a:p>
        </p:txBody>
      </p:sp>
      <p:sp>
        <p:nvSpPr>
          <p:cNvPr id="189" name="Google Shape;189;p30"/>
          <p:cNvSpPr txBox="1">
            <a:spLocks noGrp="1"/>
          </p:cNvSpPr>
          <p:nvPr>
            <p:ph type="body" idx="1"/>
          </p:nvPr>
        </p:nvSpPr>
        <p:spPr>
          <a:xfrm>
            <a:off x="311700" y="86355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Lleve Java a la próxima generación de desarrolladores:</a:t>
            </a:r>
            <a:endParaRPr dirty="0"/>
          </a:p>
          <a:p>
            <a:pPr marL="0" lvl="0" indent="0" algn="l" rtl="0">
              <a:spcBef>
                <a:spcPts val="1600"/>
              </a:spcBef>
              <a:spcAft>
                <a:spcPts val="0"/>
              </a:spcAft>
              <a:buNone/>
            </a:pPr>
            <a:r>
              <a:rPr lang="en" sz="2500" u="sng" dirty="0">
                <a:solidFill>
                  <a:schemeClr val="hlink"/>
                </a:solidFill>
                <a:hlinkClick r:id="rId3"/>
              </a:rPr>
              <a:t>https://jcp.org/java-in-education</a:t>
            </a:r>
            <a:r>
              <a:rPr lang="en" sz="2700" dirty="0">
                <a:solidFill>
                  <a:srgbClr val="9A9B9D"/>
                </a:solidFill>
              </a:rPr>
              <a:t> </a:t>
            </a:r>
            <a:r>
              <a:rPr lang="en" sz="2500" dirty="0">
                <a:solidFill>
                  <a:srgbClr val="9A9B9D"/>
                </a:solidFill>
              </a:rPr>
              <a:t>(únase a la lista de </a:t>
            </a:r>
            <a:r>
              <a:rPr lang="en" sz="2500" dirty="0" err="1">
                <a:solidFill>
                  <a:srgbClr val="9A9B9D"/>
                </a:solidFill>
              </a:rPr>
              <a:t>groups.io</a:t>
            </a:r>
            <a:r>
              <a:rPr lang="en" sz="2500" dirty="0">
                <a:solidFill>
                  <a:srgbClr val="9A9B9D"/>
                </a:solidFill>
              </a:rPr>
              <a:t> aquí)</a:t>
            </a:r>
            <a:endParaRPr sz="2100" u="sng" dirty="0">
              <a:solidFill>
                <a:schemeClr val="hlink"/>
              </a:solidFill>
            </a:endParaRPr>
          </a:p>
          <a:p>
            <a:pPr marL="0" lvl="0" indent="0" algn="l" rtl="0">
              <a:lnSpc>
                <a:spcPct val="90000"/>
              </a:lnSpc>
              <a:spcBef>
                <a:spcPts val="1600"/>
              </a:spcBef>
              <a:spcAft>
                <a:spcPts val="0"/>
              </a:spcAft>
              <a:buClr>
                <a:schemeClr val="dk1"/>
              </a:buClr>
              <a:buSzPts val="1100"/>
              <a:buFont typeface="Arial"/>
              <a:buNone/>
            </a:pPr>
            <a:r>
              <a:rPr lang="en" sz="2100" dirty="0">
                <a:solidFill>
                  <a:srgbClr val="9A9B9D"/>
                </a:solidFill>
              </a:rPr>
              <a:t>–</a:t>
            </a:r>
            <a:r>
              <a:rPr lang="en" sz="2100" dirty="0">
                <a:solidFill>
                  <a:srgbClr val="58595B"/>
                </a:solidFill>
              </a:rPr>
              <a:t>Cómo se usa Java en la industria (escuche a miembros del JCP)</a:t>
            </a:r>
            <a:endParaRPr sz="2100" dirty="0">
              <a:solidFill>
                <a:srgbClr val="58595B"/>
              </a:solidFill>
            </a:endParaRPr>
          </a:p>
          <a:p>
            <a:pPr marL="0" lvl="0" indent="0" algn="l" rtl="0">
              <a:lnSpc>
                <a:spcPct val="90000"/>
              </a:lnSpc>
              <a:spcBef>
                <a:spcPts val="0"/>
              </a:spcBef>
              <a:spcAft>
                <a:spcPts val="0"/>
              </a:spcAft>
              <a:buClr>
                <a:schemeClr val="dk1"/>
              </a:buClr>
              <a:buSzPts val="1100"/>
              <a:buFont typeface="Arial"/>
              <a:buNone/>
            </a:pPr>
            <a:r>
              <a:rPr lang="en" sz="2100" dirty="0">
                <a:solidFill>
                  <a:srgbClr val="9A9B9D"/>
                </a:solidFill>
              </a:rPr>
              <a:t>–</a:t>
            </a:r>
            <a:r>
              <a:rPr lang="en" sz="2100" dirty="0">
                <a:solidFill>
                  <a:srgbClr val="58595B"/>
                </a:solidFill>
              </a:rPr>
              <a:t>Cómo organizar una discusión con los miembros de su comunidad sobre cómo involucrarse en la iniciativa</a:t>
            </a:r>
          </a:p>
          <a:p>
            <a:pPr marL="0" lvl="0" indent="0" algn="l" rtl="0">
              <a:lnSpc>
                <a:spcPct val="90000"/>
              </a:lnSpc>
              <a:spcBef>
                <a:spcPts val="0"/>
              </a:spcBef>
              <a:spcAft>
                <a:spcPts val="0"/>
              </a:spcAft>
              <a:buClr>
                <a:schemeClr val="dk1"/>
              </a:buClr>
              <a:buSzPts val="1100"/>
              <a:buFont typeface="Arial"/>
              <a:buNone/>
            </a:pPr>
            <a:r>
              <a:rPr lang="en-US" sz="2100" dirty="0">
                <a:solidFill>
                  <a:srgbClr val="58595B"/>
                </a:solidFill>
                <a:hlinkClick r:id="rId4"/>
              </a:rPr>
              <a:t>https://github.com/jcp-org/Java-in-Education/wiki/Java-in-Education---Wiki-Page</a:t>
            </a:r>
            <a:endParaRPr lang="en" sz="2100" dirty="0">
              <a:solidFill>
                <a:srgbClr val="58595B"/>
              </a:solidFill>
            </a:endParaRPr>
          </a:p>
          <a:p>
            <a:pPr marL="0" lvl="0" indent="0" algn="l" rtl="0">
              <a:lnSpc>
                <a:spcPct val="90000"/>
              </a:lnSpc>
              <a:spcBef>
                <a:spcPts val="0"/>
              </a:spcBef>
              <a:spcAft>
                <a:spcPts val="0"/>
              </a:spcAft>
              <a:buClr>
                <a:schemeClr val="dk1"/>
              </a:buClr>
              <a:buSzPts val="1100"/>
              <a:buFont typeface="Arial"/>
              <a:buNone/>
            </a:pPr>
            <a:endParaRPr sz="2100" dirty="0">
              <a:solidFill>
                <a:srgbClr val="58595B"/>
              </a:solidFill>
            </a:endParaRPr>
          </a:p>
          <a:p>
            <a:pPr marL="0" lvl="0" indent="0" algn="l" rtl="0">
              <a:spcBef>
                <a:spcPts val="0"/>
              </a:spcBef>
              <a:spcAft>
                <a:spcPts val="1600"/>
              </a:spcAft>
              <a:buNone/>
            </a:pPr>
            <a:endParaRPr sz="13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397</TotalTime>
  <Words>2160</Words>
  <Application>Microsoft Macintosh PowerPoint</Application>
  <PresentationFormat>On-screen Show (16:9)</PresentationFormat>
  <Paragraphs>130</Paragraphs>
  <Slides>20</Slides>
  <Notes>20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Oracle Sans Regular</vt:lpstr>
      <vt:lpstr>Oracle Sans Light</vt:lpstr>
      <vt:lpstr>Arial</vt:lpstr>
      <vt:lpstr>Roboto</vt:lpstr>
      <vt:lpstr>inherit</vt:lpstr>
      <vt:lpstr>Oracle Sans Tab</vt:lpstr>
      <vt:lpstr>Simple Light</vt:lpstr>
      <vt:lpstr>Qué es Java y por qué debería aprenderlo </vt:lpstr>
      <vt:lpstr>¿Dónde se usa Java?</vt:lpstr>
      <vt:lpstr>¿Dónde se usa Java?</vt:lpstr>
      <vt:lpstr>¿Dónde se usa Java?</vt:lpstr>
      <vt:lpstr>Popularidad de los lenguajes de programación</vt:lpstr>
      <vt:lpstr>Uso del lenguaje en todo el mundo</vt:lpstr>
      <vt:lpstr>Una mirada a posibles tendencias futuras</vt:lpstr>
      <vt:lpstr>¡Java está en todas partes!</vt:lpstr>
      <vt:lpstr>¿Qué empresas usan Java?</vt:lpstr>
      <vt:lpstr>¿Cómo empezar con Java?</vt:lpstr>
      <vt:lpstr>Involucrando a los estudiantes</vt:lpstr>
      <vt:lpstr>PowerPoint Presentation</vt:lpstr>
      <vt:lpstr>Taller en una caja</vt:lpstr>
      <vt:lpstr>Java Explorer de Oracle University: capacitación gratuita</vt:lpstr>
      <vt:lpstr>Capacitación y certificaciones de Java</vt:lpstr>
      <vt:lpstr>PowerPoint Presentation</vt:lpstr>
      <vt:lpstr>Aprenda Java construyendo aplicaciones funcionales </vt:lpstr>
      <vt:lpstr>PowerPoint Presentation</vt:lpstr>
      <vt:lpstr>Próximos pasos</vt:lpstr>
      <vt:lpstr>Recursos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in Education - Bring Java to Young Developers</dc:title>
  <cp:lastModifiedBy>BRAYAN  MUÑOZ VARGAS</cp:lastModifiedBy>
  <cp:revision>17</cp:revision>
  <dcterms:modified xsi:type="dcterms:W3CDTF">2026-09-23T13:38:15Z</dcterms:modified>
</cp:coreProperties>
</file>