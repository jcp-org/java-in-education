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9"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8288000" cy="10287000"/>
  <p:notesSz cx="10287000" cy="18288000"/>
  <p:embeddedFontLst>
    <p:embeddedFont>
      <p:font typeface="Newsreader" panose="02000000000000000000" pitchFamily="2" charset="77"/>
      <p:regular r:id="rId17"/>
      <p:bold r:id="rId18"/>
      <p:italic r:id="rId19"/>
      <p:boldItalic r:id="rId20"/>
    </p:embeddedFont>
    <p:embeddedFont>
      <p:font typeface="Space Mono" panose="02010509030202000204" pitchFamily="49" charset="77"/>
      <p:regular r:id="rId21"/>
      <p:bold r:id="rId22"/>
      <p:italic r:id="rId23"/>
      <p:boldItalic r:id="rId24"/>
    </p:embeddedFont>
    <p:embeddedFont>
      <p:font typeface="Special Elite" panose="02000506000000020004" pitchFamily="2" charset="0"/>
      <p:regular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64"/>
    <p:restoredTop sz="94699"/>
  </p:normalViewPr>
  <p:slideViewPr>
    <p:cSldViewPr snapToGrid="0">
      <p:cViewPr varScale="1">
        <p:scale>
          <a:sx n="76" d="100"/>
          <a:sy n="76" d="100"/>
        </p:scale>
        <p:origin x="424"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spring.io/projects/spring-ai" TargetMode="External"/><Relationship Id="rId2" Type="http://schemas.openxmlformats.org/officeDocument/2006/relationships/slide" Target="../slides/slide3.xml"/><Relationship Id="rId1" Type="http://schemas.openxmlformats.org/officeDocument/2006/relationships/notesMaster" Target="../notesMasters/notesMaster1.xml"/><Relationship Id="rId5" Type="http://schemas.openxmlformats.org/officeDocument/2006/relationships/hyperlink" Target="https://modelcontextprotocol.io/docs/2026-07-28/getting-started/intro" TargetMode="External"/><Relationship Id="rId4" Type="http://schemas.openxmlformats.org/officeDocument/2006/relationships/hyperlink" Target="https://quarkus.io/"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 name="Google Shape;1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Una afirmación controvertida: ¿ha muerto la programación? </a:t>
            </a:r>
            <a:endParaRPr/>
          </a:p>
          <a:p>
            <a:pPr marL="0" lvl="0" indent="0" algn="l" rtl="0">
              <a:spcBef>
                <a:spcPts val="0"/>
              </a:spcBef>
              <a:spcAft>
                <a:spcPts val="0"/>
              </a:spcAft>
              <a:buNone/>
            </a:pPr>
            <a:endParaRPr/>
          </a:p>
          <a:p>
            <a:pPr marL="0" lvl="0" indent="0" algn="l" rtl="0">
              <a:spcBef>
                <a:spcPts val="0"/>
              </a:spcBef>
              <a:spcAft>
                <a:spcPts val="0"/>
              </a:spcAft>
              <a:buNone/>
            </a:pPr>
            <a:r>
              <a:rPr lang="en-US"/>
              <a:t>Hablemos de la realidad. Honesta, sin exageraciones, y basada en lo que los desarrolladores de Java realmente necesitan.</a:t>
            </a:r>
            <a:endParaRPr/>
          </a:p>
          <a:p>
            <a:pPr marL="0" lvl="0" indent="0" algn="l" rtl="0">
              <a:spcBef>
                <a:spcPts val="0"/>
              </a:spcBef>
              <a:spcAft>
                <a:spcPts val="0"/>
              </a:spcAft>
              <a:buNone/>
            </a:pPr>
            <a:endParaRPr/>
          </a:p>
          <a:p>
            <a:pPr marL="0" lvl="0" indent="0" algn="l" rtl="0">
              <a:spcBef>
                <a:spcPts val="0"/>
              </a:spcBef>
              <a:spcAft>
                <a:spcPts val="0"/>
              </a:spcAft>
              <a:buNone/>
            </a:pPr>
            <a:r>
              <a:rPr lang="en-US"/>
              <a:t>Gran parte de este material surgió de conversaciones que he tenido con estudiantes universitarios y educadores. Me preguntan “Oye Frank, ¿ha muerto la programación?” todo el tiempo.</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US"/>
              <a:t>Frank Greco - julio de 2026</a:t>
            </a:r>
            <a:endParaRPr/>
          </a:p>
          <a:p>
            <a:pPr marL="457200" lvl="0" indent="0" algn="l" rtl="0">
              <a:spcBef>
                <a:spcPts val="0"/>
              </a:spcBef>
              <a:spcAft>
                <a:spcPts val="0"/>
              </a:spcAft>
              <a:buClr>
                <a:schemeClr val="dk1"/>
              </a:buClr>
              <a:buFont typeface="Arial"/>
              <a:buNone/>
            </a:pPr>
            <a:r>
              <a:rPr lang="en-US"/>
              <a:t>Se usó Claude Design para crear la plantilla de la presentación</a:t>
            </a:r>
            <a:endParaRPr/>
          </a:p>
          <a:p>
            <a:pPr marL="457200" lvl="0" indent="0" algn="l" rtl="0">
              <a:spcBef>
                <a:spcPts val="0"/>
              </a:spcBef>
              <a:spcAft>
                <a:spcPts val="0"/>
              </a:spcAft>
              <a:buClr>
                <a:schemeClr val="dk1"/>
              </a:buClr>
              <a:buFont typeface="Arial"/>
              <a:buNone/>
            </a:pPr>
            <a:r>
              <a:rPr lang="en-US"/>
              <a:t>Se usó Grammarly para revisar gramática/ortografía</a:t>
            </a:r>
            <a:endParaRPr/>
          </a:p>
          <a:p>
            <a:pPr marL="457200" lvl="0" indent="0" algn="l" rtl="0">
              <a:spcBef>
                <a:spcPts val="0"/>
              </a:spcBef>
              <a:spcAft>
                <a:spcPts val="0"/>
              </a:spcAft>
              <a:buClr>
                <a:schemeClr val="dk1"/>
              </a:buClr>
              <a:buFont typeface="Arial"/>
              <a:buNone/>
            </a:pPr>
            <a:r>
              <a:rPr lang="en-US"/>
              <a:t>Se usó ChatGPT para organizar el esquema original</a:t>
            </a:r>
            <a:endParaRPr/>
          </a:p>
          <a:p>
            <a:pPr marL="0" lvl="0" indent="0" algn="l" rtl="0">
              <a:spcBef>
                <a:spcPts val="0"/>
              </a:spcBef>
              <a:spcAft>
                <a:spcPts val="0"/>
              </a:spcAft>
              <a:buNone/>
            </a:pPr>
            <a:r>
              <a:rPr lang="en-US"/>
              <a:t>Si haces una copia de esta presentación, por favor sé respetuoso.</a:t>
            </a:r>
            <a:endParaRPr/>
          </a:p>
        </p:txBody>
      </p:sp>
      <p:sp>
        <p:nvSpPr>
          <p:cNvPr id="14" name="Google Shape;1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
        <p:cNvGrpSpPr/>
        <p:nvPr/>
      </p:nvGrpSpPr>
      <p:grpSpPr>
        <a:xfrm>
          <a:off x="0" y="0"/>
          <a:ext cx="0" cy="0"/>
          <a:chOff x="0" y="0"/>
          <a:chExt cx="0" cy="0"/>
        </a:xfrm>
      </p:grpSpPr>
      <p:sp>
        <p:nvSpPr>
          <p:cNvPr id="20" name="Google Shape;20;g3ef0811ebd9_0_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 name="Google Shape;21;g3ef0811ebd9_0_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Presenta el debate con honestidad. </a:t>
            </a:r>
            <a:endParaRPr/>
          </a:p>
          <a:p>
            <a:pPr marL="0" lvl="0" indent="0" algn="l" rtl="0">
              <a:spcBef>
                <a:spcPts val="0"/>
              </a:spcBef>
              <a:spcAft>
                <a:spcPts val="0"/>
              </a:spcAft>
              <a:buNone/>
            </a:pPr>
            <a:endParaRPr/>
          </a:p>
          <a:p>
            <a:pPr marL="0" lvl="0" indent="0" algn="l" rtl="0">
              <a:spcBef>
                <a:spcPts val="0"/>
              </a:spcBef>
              <a:spcAft>
                <a:spcPts val="0"/>
              </a:spcAft>
              <a:buNone/>
            </a:pPr>
            <a:r>
              <a:rPr lang="en-US"/>
              <a:t>Dos extremos ruidosos: los agoreros dicen que los desarrolladores están acabados; los influencers venden curanderismo digital. </a:t>
            </a:r>
            <a:endParaRPr/>
          </a:p>
          <a:p>
            <a:pPr marL="0" lvl="0" indent="0" algn="l" rtl="0">
              <a:spcBef>
                <a:spcPts val="0"/>
              </a:spcBef>
              <a:spcAft>
                <a:spcPts val="0"/>
              </a:spcAft>
              <a:buNone/>
            </a:pPr>
            <a:r>
              <a:rPr lang="en-US"/>
              <a:t>La visión racional está en el medio: la IA es un cambio real de productividad, no un reemplazo. </a:t>
            </a:r>
            <a:endParaRPr/>
          </a:p>
          <a:p>
            <a:pPr marL="0" lvl="0" indent="0" algn="l" rtl="0">
              <a:spcBef>
                <a:spcPts val="0"/>
              </a:spcBef>
              <a:spcAft>
                <a:spcPts val="0"/>
              </a:spcAft>
              <a:buNone/>
            </a:pPr>
            <a:endParaRPr/>
          </a:p>
          <a:p>
            <a:pPr marL="0" lvl="0" indent="0" algn="l" rtl="0">
              <a:spcBef>
                <a:spcPts val="0"/>
              </a:spcBef>
              <a:spcAft>
                <a:spcPts val="0"/>
              </a:spcAft>
              <a:buNone/>
            </a:pPr>
            <a:r>
              <a:rPr lang="en-US"/>
              <a:t>Concluye con: el valor de la IA, y el valor de Java + IA juntos.</a:t>
            </a:r>
            <a:endParaRPr/>
          </a:p>
        </p:txBody>
      </p:sp>
      <p:sp>
        <p:nvSpPr>
          <p:cNvPr id="22" name="Google Shape;22;g3ef0811ebd9_0_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
        <p:cNvGrpSpPr/>
        <p:nvPr/>
      </p:nvGrpSpPr>
      <p:grpSpPr>
        <a:xfrm>
          <a:off x="0" y="0"/>
          <a:ext cx="0" cy="0"/>
          <a:chOff x="0" y="0"/>
          <a:chExt cx="0" cy="0"/>
        </a:xfrm>
      </p:grpSpPr>
      <p:sp>
        <p:nvSpPr>
          <p:cNvPr id="39" name="Google Shape;39;g3f40ef5c3c5_0_7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 name="Google Shape;40;g3f40ef5c3c5_0_7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Java impulsa la empresa.</a:t>
            </a:r>
            <a:endParaRPr/>
          </a:p>
          <a:p>
            <a:pPr marL="0" lvl="0" indent="0" algn="l" rtl="0">
              <a:spcBef>
                <a:spcPts val="0"/>
              </a:spcBef>
              <a:spcAft>
                <a:spcPts val="0"/>
              </a:spcAft>
              <a:buNone/>
            </a:pPr>
            <a:endParaRPr/>
          </a:p>
          <a:p>
            <a:pPr marL="0" lvl="0" indent="0" algn="l" rtl="0">
              <a:spcBef>
                <a:spcPts val="0"/>
              </a:spcBef>
              <a:spcAft>
                <a:spcPts val="0"/>
              </a:spcAft>
              <a:buNone/>
            </a:pPr>
            <a:r>
              <a:rPr lang="en-US"/>
              <a:t>En la empresa, la IA debe integrarse con datos internos y APIs. La integración es fundamental para las organizaciones. Los datos/APIs internos suelen ser propietarios, así que un ingeniero de software profesional debe entender la seguridad y la privacidad al trabajar con código generado.</a:t>
            </a:r>
            <a:endParaRPr/>
          </a:p>
          <a:p>
            <a:pPr marL="0" lvl="0" indent="0" algn="l" rtl="0">
              <a:spcBef>
                <a:spcPts val="0"/>
              </a:spcBef>
              <a:spcAft>
                <a:spcPts val="0"/>
              </a:spcAft>
              <a:buNone/>
            </a:pPr>
            <a:endParaRPr/>
          </a:p>
          <a:p>
            <a:pPr marL="0" lvl="0" indent="0" algn="l" rtl="0">
              <a:spcBef>
                <a:spcPts val="0"/>
              </a:spcBef>
              <a:spcAft>
                <a:spcPts val="0"/>
              </a:spcAft>
              <a:buNone/>
            </a:pPr>
            <a:r>
              <a:rPr lang="en-US"/>
              <a:t>Python domina la investigación y el entrenamiento de datasets de IA/ML.</a:t>
            </a:r>
            <a:endParaRPr/>
          </a:p>
          <a:p>
            <a:pPr marL="0" lvl="0" indent="0" algn="l" rtl="0">
              <a:spcBef>
                <a:spcPts val="0"/>
              </a:spcBef>
              <a:spcAft>
                <a:spcPts val="0"/>
              </a:spcAft>
              <a:buNone/>
            </a:pPr>
            <a:r>
              <a:rPr lang="en-US"/>
              <a:t>Java domina la producción, la integración, la escala, la seguridad y la fiabilidad. </a:t>
            </a:r>
            <a:endParaRPr/>
          </a:p>
          <a:p>
            <a:pPr marL="0" lvl="0" indent="0" algn="l" rtl="0">
              <a:spcBef>
                <a:spcPts val="0"/>
              </a:spcBef>
              <a:spcAft>
                <a:spcPts val="0"/>
              </a:spcAft>
              <a:buNone/>
            </a:pPr>
            <a:endParaRPr/>
          </a:p>
          <a:p>
            <a:pPr marL="0" lvl="0" indent="0" algn="l" rtl="0">
              <a:spcBef>
                <a:spcPts val="0"/>
              </a:spcBef>
              <a:spcAft>
                <a:spcPts val="0"/>
              </a:spcAft>
              <a:buNone/>
            </a:pPr>
            <a:r>
              <a:rPr lang="en-US"/>
              <a:t>Las aplicaciones de producción, especialmente en la empresa, dependen de la integración. Esta es una de las características más fuertes de Java.</a:t>
            </a:r>
            <a:endParaRPr/>
          </a:p>
          <a:p>
            <a:pPr marL="0" lvl="0" indent="0" algn="l" rtl="0">
              <a:spcBef>
                <a:spcPts val="0"/>
              </a:spcBef>
              <a:spcAft>
                <a:spcPts val="0"/>
              </a:spcAft>
              <a:buNone/>
            </a:pPr>
            <a:endParaRPr/>
          </a:p>
          <a:p>
            <a:pPr marL="0" lvl="0" indent="0" algn="l" rtl="0">
              <a:spcBef>
                <a:spcPts val="0"/>
              </a:spcBef>
              <a:spcAft>
                <a:spcPts val="0"/>
              </a:spcAft>
              <a:buNone/>
            </a:pPr>
            <a:r>
              <a:rPr lang="en-US"/>
              <a:t>Explica a los estudiantes el stack de IA para Java: </a:t>
            </a:r>
            <a:endParaRPr/>
          </a:p>
          <a:p>
            <a:pPr marL="0" lvl="0" indent="0" algn="l" rtl="0">
              <a:spcBef>
                <a:spcPts val="0"/>
              </a:spcBef>
              <a:spcAft>
                <a:spcPts val="0"/>
              </a:spcAft>
              <a:buNone/>
            </a:pPr>
            <a:r>
              <a:rPr lang="en-US"/>
              <a:t>     tu app → orquestación (LangChain4j / Spring AI) → modelos → almacén vectorial ←→ tus datos.</a:t>
            </a:r>
            <a:endParaRPr/>
          </a:p>
          <a:p>
            <a:pPr marL="0" lvl="0" indent="0" algn="l" rtl="0">
              <a:spcBef>
                <a:spcPts val="0"/>
              </a:spcBef>
              <a:spcAft>
                <a:spcPts val="0"/>
              </a:spcAft>
              <a:buNone/>
            </a:pPr>
            <a:endParaRPr/>
          </a:p>
          <a:p>
            <a:pPr marL="0" lvl="0" indent="0" algn="l" rtl="0">
              <a:spcBef>
                <a:spcPts val="0"/>
              </a:spcBef>
              <a:spcAft>
                <a:spcPts val="0"/>
              </a:spcAft>
              <a:buNone/>
            </a:pPr>
            <a:r>
              <a:rPr lang="en-US"/>
              <a:t>SpringAI - </a:t>
            </a:r>
            <a:r>
              <a:rPr lang="en-US" u="sng">
                <a:solidFill>
                  <a:schemeClr val="hlink"/>
                </a:solidFill>
                <a:hlinkClick r:id="rId3"/>
              </a:rPr>
              <a:t>https://spring.io/projects/spring-ai</a:t>
            </a:r>
            <a:endParaRPr/>
          </a:p>
          <a:p>
            <a:pPr marL="0" lvl="0" indent="0" algn="l" rtl="0">
              <a:spcBef>
                <a:spcPts val="0"/>
              </a:spcBef>
              <a:spcAft>
                <a:spcPts val="0"/>
              </a:spcAft>
              <a:buNone/>
            </a:pPr>
            <a:r>
              <a:rPr lang="en-US"/>
              <a:t>Quarkus - </a:t>
            </a:r>
            <a:r>
              <a:rPr lang="en-US" u="sng">
                <a:solidFill>
                  <a:schemeClr val="hlink"/>
                </a:solidFill>
                <a:hlinkClick r:id="rId4"/>
              </a:rPr>
              <a:t>https://quarkus.io/</a:t>
            </a:r>
            <a:endParaRPr/>
          </a:p>
          <a:p>
            <a:pPr marL="0" lvl="0" indent="0" algn="l" rtl="0">
              <a:spcBef>
                <a:spcPts val="0"/>
              </a:spcBef>
              <a:spcAft>
                <a:spcPts val="0"/>
              </a:spcAft>
              <a:buNone/>
            </a:pPr>
            <a:r>
              <a:rPr lang="en-US"/>
              <a:t>MCP - </a:t>
            </a:r>
            <a:r>
              <a:rPr lang="en-US" u="sng">
                <a:solidFill>
                  <a:schemeClr val="hlink"/>
                </a:solidFill>
                <a:hlinkClick r:id="rId5"/>
              </a:rPr>
              <a:t>https://modelcontextprotocol.io/docs/2026-07-28/getting-started/intro</a:t>
            </a:r>
            <a:r>
              <a:rPr lang="en-US"/>
              <a:t> </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41" name="Google Shape;41;g3f40ef5c3c5_0_7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 name="Google Shape;65;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Dos ideas fundamentales (desde mi perspectiva [FG]). </a:t>
            </a:r>
            <a:endParaRPr/>
          </a:p>
          <a:p>
            <a:pPr marL="0" lvl="0" indent="0" algn="l" rtl="0">
              <a:spcBef>
                <a:spcPts val="0"/>
              </a:spcBef>
              <a:spcAft>
                <a:spcPts val="0"/>
              </a:spcAft>
              <a:buNone/>
            </a:pPr>
            <a:endParaRPr/>
          </a:p>
          <a:p>
            <a:pPr marL="457200" lvl="0" indent="-317500" algn="l" rtl="0">
              <a:spcBef>
                <a:spcPts val="0"/>
              </a:spcBef>
              <a:spcAft>
                <a:spcPts val="0"/>
              </a:spcAft>
              <a:buSzPts val="1400"/>
              <a:buAutoNum type="arabicPeriod"/>
            </a:pPr>
            <a:r>
              <a:rPr lang="en-US"/>
              <a:t>Los LLM no son deterministas, lo que significa que el mismo prompt puede dar respuestas distintas. El prompting y el contexto son tus controles, no instrucciones exactas. </a:t>
            </a:r>
            <a:endParaRPr/>
          </a:p>
          <a:p>
            <a:pPr marL="457200" lvl="0" indent="0" algn="l" rtl="0">
              <a:spcBef>
                <a:spcPts val="0"/>
              </a:spcBef>
              <a:spcAft>
                <a:spcPts val="0"/>
              </a:spcAft>
              <a:buNone/>
            </a:pPr>
            <a:r>
              <a:rPr lang="en-US"/>
              <a:t>Entiende qué significa el no determinismo. Aprende cómo puede fallar. Entiende dónde *NO* usar el no determinismo.</a:t>
            </a:r>
            <a:endParaRPr/>
          </a:p>
          <a:p>
            <a:pPr marL="457200" lvl="0" indent="-317500" algn="l" rtl="0">
              <a:spcBef>
                <a:spcPts val="0"/>
              </a:spcBef>
              <a:spcAft>
                <a:spcPts val="0"/>
              </a:spcAft>
              <a:buSzPts val="1400"/>
              <a:buAutoNum type="arabicPeriod"/>
            </a:pPr>
            <a:r>
              <a:rPr lang="en-US"/>
              <a:t>RAG fundamenta las respuestas en TUS datos: convierte texto en vectores (embeddings), los almacena en una BD vectorial, los recupera por similitud, y le da ese contexto al modelo.</a:t>
            </a:r>
            <a:endParaRPr/>
          </a:p>
          <a:p>
            <a:pPr marL="0" lvl="0" indent="0" algn="l" rtl="0">
              <a:spcBef>
                <a:spcPts val="0"/>
              </a:spcBef>
              <a:spcAft>
                <a:spcPts val="0"/>
              </a:spcAft>
              <a:buNone/>
            </a:pPr>
            <a:endParaRPr/>
          </a:p>
          <a:p>
            <a:pPr marL="0" lvl="0" indent="0" algn="l" rtl="0">
              <a:spcBef>
                <a:spcPts val="0"/>
              </a:spcBef>
              <a:spcAft>
                <a:spcPts val="0"/>
              </a:spcAft>
              <a:buNone/>
            </a:pPr>
            <a:r>
              <a:rPr lang="en-US"/>
              <a:t>El contexto es fundamental. RAG, chatbots, agentes de programación, agentes de propósito general, etc., todos dependen del contexto (formalmente llamado In-Context Learning o ICL).</a:t>
            </a:r>
            <a:endParaRPr/>
          </a:p>
          <a:p>
            <a:pPr marL="0" lvl="0" indent="0" algn="l" rtl="0">
              <a:spcBef>
                <a:spcPts val="0"/>
              </a:spcBef>
              <a:spcAft>
                <a:spcPts val="0"/>
              </a:spcAft>
              <a:buNone/>
            </a:pPr>
            <a:r>
              <a:rPr lang="en-US"/>
              <a:t>Un estudiante puede preguntar qué es una “skill” de IA. Puedes describirla como un tipo de ICL. Si entienden la noción de contexto en un LLM, una “skill” es fácil de explicar.</a:t>
            </a:r>
            <a:endParaRPr/>
          </a:p>
          <a:p>
            <a:pPr marL="0" lvl="0" indent="0" algn="l" rtl="0">
              <a:spcBef>
                <a:spcPts val="0"/>
              </a:spcBef>
              <a:spcAft>
                <a:spcPts val="0"/>
              </a:spcAft>
              <a:buNone/>
            </a:pPr>
            <a:endParaRPr/>
          </a:p>
          <a:p>
            <a:pPr marL="0" lvl="0" indent="0" algn="l" rtl="0">
              <a:spcBef>
                <a:spcPts val="0"/>
              </a:spcBef>
              <a:spcAft>
                <a:spcPts val="0"/>
              </a:spcAft>
              <a:buNone/>
            </a:pPr>
            <a:r>
              <a:rPr lang="en-US"/>
              <a:t>Explica los servicios sin estado (stateless) a los principiantes. Un servicio LLM es stateless. Este es un concepto importante.</a:t>
            </a:r>
            <a:endParaRPr/>
          </a:p>
          <a:p>
            <a:pPr marL="0" lvl="0" indent="0" algn="l" rtl="0">
              <a:spcBef>
                <a:spcPts val="0"/>
              </a:spcBef>
              <a:spcAft>
                <a:spcPts val="0"/>
              </a:spcAft>
              <a:buNone/>
            </a:pPr>
            <a:endParaRPr/>
          </a:p>
          <a:p>
            <a:pPr marL="0" lvl="0" indent="0" algn="l" rtl="0">
              <a:spcBef>
                <a:spcPts val="0"/>
              </a:spcBef>
              <a:spcAft>
                <a:spcPts val="0"/>
              </a:spcAft>
              <a:buNone/>
            </a:pPr>
            <a:r>
              <a:rPr lang="en-US"/>
              <a:t>Un chatbot no es un LLM. Un chatbot usa un LLM (o varios) más código adicional (“herramientas”).</a:t>
            </a:r>
            <a:endParaRPr/>
          </a:p>
          <a:p>
            <a:pPr marL="0" lvl="0" indent="0" algn="l" rtl="0">
              <a:spcBef>
                <a:spcPts val="0"/>
              </a:spcBef>
              <a:spcAft>
                <a:spcPts val="0"/>
              </a:spcAft>
              <a:buNone/>
            </a:pPr>
            <a:endParaRPr/>
          </a:p>
          <a:p>
            <a:pPr marL="0" lvl="0" indent="0" algn="l" rtl="0">
              <a:spcBef>
                <a:spcPts val="0"/>
              </a:spcBef>
              <a:spcAft>
                <a:spcPts val="0"/>
              </a:spcAft>
              <a:buNone/>
            </a:pPr>
            <a:r>
              <a:rPr lang="en-US"/>
              <a:t>No puedes hacer que un LLM produzca respuestas 100% deterministas y 100% confiables. Su diseño probabilístico inherente no funciona así (y por eso un curso de probabilidad/estadística sería valioso para los estudiantes).</a:t>
            </a:r>
            <a:endParaRPr/>
          </a:p>
          <a:p>
            <a:pPr marL="0" lvl="0" indent="0" algn="l" rtl="0">
              <a:spcBef>
                <a:spcPts val="0"/>
              </a:spcBef>
              <a:spcAft>
                <a:spcPts val="0"/>
              </a:spcAft>
              <a:buNone/>
            </a:pPr>
            <a:r>
              <a:rPr lang="en-US"/>
              <a:t>Pero puedes agregar “guardrails” (barreras de seguridad) adicionales, ya sean otros LLM o incluso reglas deterministas tradicionales.</a:t>
            </a:r>
            <a:endParaRPr/>
          </a:p>
          <a:p>
            <a:pPr marL="0" lvl="0" indent="0" algn="l" rtl="0">
              <a:spcBef>
                <a:spcPts val="0"/>
              </a:spcBef>
              <a:spcAft>
                <a:spcPts val="0"/>
              </a:spcAft>
              <a:buNone/>
            </a:pPr>
            <a:endParaRPr/>
          </a:p>
          <a:p>
            <a:pPr marL="0" lvl="0" indent="0" algn="l" rtl="0">
              <a:spcBef>
                <a:spcPts val="0"/>
              </a:spcBef>
              <a:spcAft>
                <a:spcPts val="0"/>
              </a:spcAft>
              <a:buNone/>
            </a:pPr>
            <a:r>
              <a:rPr lang="en-US"/>
              <a:t>El determinismo importa en ciertas industrias: automotriz, aeroespacial, médica/salud… piénsalo dos veces antes de usar LLM en estos campos.</a:t>
            </a:r>
            <a:endParaRPr/>
          </a:p>
          <a:p>
            <a:pPr marL="0" lvl="0" indent="0" algn="l" rtl="0">
              <a:spcBef>
                <a:spcPts val="0"/>
              </a:spcBef>
              <a:spcAft>
                <a:spcPts val="0"/>
              </a:spcAft>
              <a:buNone/>
            </a:pPr>
            <a:r>
              <a:rPr lang="en-US"/>
              <a:t>El no determinismo es incompatible con muchos requisitos de certificación y gobernanza, donde la repetibilidad y la trazabilidad son esenciales.</a:t>
            </a:r>
            <a:endParaRPr/>
          </a:p>
          <a:p>
            <a:pPr marL="0" lvl="0" indent="0" algn="l" rtl="0">
              <a:spcBef>
                <a:spcPts val="0"/>
              </a:spcBef>
              <a:spcAft>
                <a:spcPts val="0"/>
              </a:spcAft>
              <a:buNone/>
            </a:pPr>
            <a:endParaRPr/>
          </a:p>
          <a:p>
            <a:pPr marL="0" lvl="0" indent="0" algn="l" rtl="0">
              <a:spcBef>
                <a:spcPts val="0"/>
              </a:spcBef>
              <a:spcAft>
                <a:spcPts val="0"/>
              </a:spcAft>
              <a:buNone/>
            </a:pPr>
            <a:r>
              <a:rPr lang="en-US"/>
              <a:t>Los LLM “alucinan” (producen respuestas inesperadas) más de lo que crees. Sin suficientes guardrails, pueden generar código de baja calidad con problemas de seguridad. No asumas que un LLM va a respetar un guardrail. Las tasas de alucinación son más altas de lo que crees: Tasas de Alucinación 2026: https://suprmind.ai/hub/ai-hallucination-rates-and-benchmarks/</a:t>
            </a:r>
            <a:endParaRPr/>
          </a:p>
        </p:txBody>
      </p:sp>
      <p:sp>
        <p:nvSpPr>
          <p:cNvPr id="66" name="Google Shape;66;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 name="Google Shape;114;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El tercer concepto: los agentes. </a:t>
            </a:r>
            <a:endParaRPr/>
          </a:p>
          <a:p>
            <a:pPr marL="0" lvl="0" indent="0" algn="l" rtl="0">
              <a:spcBef>
                <a:spcPts val="0"/>
              </a:spcBef>
              <a:spcAft>
                <a:spcPts val="0"/>
              </a:spcAft>
              <a:buNone/>
            </a:pPr>
            <a:endParaRPr/>
          </a:p>
          <a:p>
            <a:pPr marL="0" lvl="0" indent="0" algn="l" rtl="0">
              <a:spcBef>
                <a:spcPts val="0"/>
              </a:spcBef>
              <a:spcAft>
                <a:spcPts val="0"/>
              </a:spcAft>
              <a:buNone/>
            </a:pPr>
            <a:r>
              <a:rPr lang="en-US"/>
              <a:t>Un agente es un LLM en un bucle con herramientas. Las “herramientas” son código adicional (Java, Python, C#, C/C++, entre otros) que ayuda a crear contexto para el LLM.</a:t>
            </a:r>
            <a:endParaRPr/>
          </a:p>
          <a:p>
            <a:pPr marL="0" lvl="0" indent="0" algn="l" rtl="0">
              <a:spcBef>
                <a:spcPts val="0"/>
              </a:spcBef>
              <a:spcAft>
                <a:spcPts val="0"/>
              </a:spcAft>
              <a:buNone/>
            </a:pPr>
            <a:r>
              <a:rPr lang="en-US"/>
              <a:t>El “bucle” también es muy importante de entender; es simple pero importante.</a:t>
            </a:r>
            <a:endParaRPr/>
          </a:p>
          <a:p>
            <a:pPr marL="0" lvl="0" indent="0" algn="l" rtl="0">
              <a:spcBef>
                <a:spcPts val="0"/>
              </a:spcBef>
              <a:spcAft>
                <a:spcPts val="0"/>
              </a:spcAft>
              <a:buNone/>
            </a:pPr>
            <a:endParaRPr/>
          </a:p>
          <a:p>
            <a:pPr marL="0" lvl="0" indent="0" algn="l" rtl="0">
              <a:spcBef>
                <a:spcPts val="0"/>
              </a:spcBef>
              <a:spcAft>
                <a:spcPts val="0"/>
              </a:spcAft>
              <a:buNone/>
            </a:pPr>
            <a:r>
              <a:rPr lang="en-US"/>
              <a:t>Un agente planifica un paso con la ayuda de un LLM, actúa llamando a una de tus funciones, observa el resultado, y repite hasta cumplir el objetivo. </a:t>
            </a:r>
            <a:endParaRPr/>
          </a:p>
          <a:p>
            <a:pPr marL="0" lvl="0" indent="0" algn="l" rtl="0">
              <a:spcBef>
                <a:spcPts val="0"/>
              </a:spcBef>
              <a:spcAft>
                <a:spcPts val="0"/>
              </a:spcAft>
              <a:buNone/>
            </a:pPr>
            <a:r>
              <a:rPr lang="en-US"/>
              <a:t>Usa agentes cuando una tarea tiene varios pasos y toca sistemas reales.</a:t>
            </a:r>
            <a:endParaRPr/>
          </a:p>
          <a:p>
            <a:pPr marL="0" lvl="0" indent="0" algn="l" rtl="0">
              <a:spcBef>
                <a:spcPts val="0"/>
              </a:spcBef>
              <a:spcAft>
                <a:spcPts val="0"/>
              </a:spcAft>
              <a:buNone/>
            </a:pPr>
            <a:endParaRPr/>
          </a:p>
          <a:p>
            <a:pPr marL="0" lvl="0" indent="0" algn="l" rtl="0">
              <a:spcBef>
                <a:spcPts val="0"/>
              </a:spcBef>
              <a:spcAft>
                <a:spcPts val="0"/>
              </a:spcAft>
              <a:buNone/>
            </a:pPr>
            <a:r>
              <a:rPr lang="en-US"/>
              <a:t>Ten cuidado con el uso del no determinismo en una aplicación.</a:t>
            </a:r>
            <a:endParaRPr/>
          </a:p>
          <a:p>
            <a:pPr marL="0" lvl="0" indent="0" algn="l" rtl="0">
              <a:spcBef>
                <a:spcPts val="0"/>
              </a:spcBef>
              <a:spcAft>
                <a:spcPts val="0"/>
              </a:spcAft>
              <a:buNone/>
            </a:pPr>
            <a:endParaRPr/>
          </a:p>
          <a:p>
            <a:pPr marL="0" lvl="0" indent="0" algn="l" rtl="0">
              <a:spcBef>
                <a:spcPts val="0"/>
              </a:spcBef>
              <a:spcAft>
                <a:spcPts val="0"/>
              </a:spcAft>
              <a:buNone/>
            </a:pPr>
            <a:r>
              <a:rPr lang="en-US"/>
              <a:t> Para aplicaciones menos complejas, por ejemplo sistemas de preguntas y respuestas sobre tus documentos, RAG por sí solo basta.</a:t>
            </a:r>
            <a:endParaRPr/>
          </a:p>
        </p:txBody>
      </p:sp>
      <p:sp>
        <p:nvSpPr>
          <p:cNvPr id="115" name="Google Shape;115;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El stack generativo Java-first, de abajo hacia arriba.</a:t>
            </a:r>
            <a:endParaRPr/>
          </a:p>
          <a:p>
            <a:pPr marL="0" lvl="0" indent="0" algn="l" rtl="0">
              <a:spcBef>
                <a:spcPts val="0"/>
              </a:spcBef>
              <a:spcAft>
                <a:spcPts val="0"/>
              </a:spcAft>
              <a:buNone/>
            </a:pPr>
            <a:endParaRPr/>
          </a:p>
          <a:p>
            <a:pPr marL="0" lvl="0" indent="0" algn="l" rtl="0">
              <a:spcBef>
                <a:spcPts val="0"/>
              </a:spcBef>
              <a:spcAft>
                <a:spcPts val="0"/>
              </a:spcAft>
              <a:buNone/>
            </a:pPr>
            <a:r>
              <a:rPr lang="en-US"/>
              <a:t>Asistentes de IA para programar a diario. Úsalos desde la línea de comandos (CLI) o dentro de un IDE.</a:t>
            </a:r>
            <a:endParaRPr/>
          </a:p>
          <a:p>
            <a:pPr marL="0" lvl="0" indent="0" algn="l" rtl="0">
              <a:spcBef>
                <a:spcPts val="0"/>
              </a:spcBef>
              <a:spcAft>
                <a:spcPts val="0"/>
              </a:spcAft>
              <a:buNone/>
            </a:pPr>
            <a:endParaRPr/>
          </a:p>
          <a:p>
            <a:pPr marL="0" lvl="0" indent="0" algn="l" rtl="0">
              <a:spcBef>
                <a:spcPts val="0"/>
              </a:spcBef>
              <a:spcAft>
                <a:spcPts val="0"/>
              </a:spcAft>
              <a:buNone/>
            </a:pPr>
            <a:r>
              <a:rPr lang="en-US"/>
              <a:t>Usa LLM locales mediante Ollama/LMStudio (por ejemplo) para cargas de trabajo privadas, sin conexión y sin costo. LangChain4j puede ser una buena capa de orquestación para chat, RAG, herramientas y agentes. Quarkus LC4j y Spring AI para conectar todo esto en tus frameworks con configuración, DI y observabilidad. Embabel para desarrollo y producción de agentes de calidad empresarial.</a:t>
            </a:r>
            <a:endParaRPr/>
          </a:p>
          <a:p>
            <a:pPr marL="0" lvl="0" indent="0" algn="l" rtl="0">
              <a:spcBef>
                <a:spcPts val="0"/>
              </a:spcBef>
              <a:spcAft>
                <a:spcPts val="0"/>
              </a:spcAft>
              <a:buNone/>
            </a:pPr>
            <a:endParaRPr/>
          </a:p>
          <a:p>
            <a:pPr marL="0" lvl="0" indent="0" algn="l" rtl="0">
              <a:spcBef>
                <a:spcPts val="0"/>
              </a:spcBef>
              <a:spcAft>
                <a:spcPts val="0"/>
              </a:spcAft>
              <a:buNone/>
            </a:pPr>
            <a:r>
              <a:rPr lang="en-US"/>
              <a:t>Si no conoces Spring, Quarkus o Embabel, te sugiero aprender los fundamentos de IA/ML usando LangChain4j. Una vez que entiendas los fundamentos de IA/ML, puedes aprender los frameworks de Java que dan soporte a estos fundamentos.</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US"/>
              <a:t>QR - promoción descarada de mi curso de LinkedIn Learning… :)   frankg</a:t>
            </a:r>
            <a:endParaRPr/>
          </a:p>
        </p:txBody>
      </p:sp>
      <p:sp>
        <p:nvSpPr>
          <p:cNvPr id="149" name="Google Shape;149;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3f40ef5c3c5_0_2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7" name="Google Shape;177;g3f40ef5c3c5_0_2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“IA” es un campo amplio con una historia profunda.</a:t>
            </a:r>
            <a:endParaRPr/>
          </a:p>
          <a:p>
            <a:pPr marL="0" lvl="0" indent="0" algn="l" rtl="0">
              <a:spcBef>
                <a:spcPts val="0"/>
              </a:spcBef>
              <a:spcAft>
                <a:spcPts val="0"/>
              </a:spcAft>
              <a:buNone/>
            </a:pPr>
            <a:endParaRPr/>
          </a:p>
          <a:p>
            <a:pPr marL="0" lvl="0" indent="0" algn="l" rtl="0">
              <a:spcBef>
                <a:spcPts val="0"/>
              </a:spcBef>
              <a:spcAft>
                <a:spcPts val="0"/>
              </a:spcAft>
              <a:buNone/>
            </a:pPr>
            <a:r>
              <a:rPr lang="en-US"/>
              <a:t>El uso cotidiano de “IA” normalmente implica IA generativa (GenAI), pero debes saber que la IA predictiva (PredAI) se ha usado durante décadas con la búsqueda de Google, Amazon, Netflix, Spotify, etc.</a:t>
            </a:r>
            <a:endParaRPr/>
          </a:p>
          <a:p>
            <a:pPr marL="0" lvl="0" indent="0" algn="l" rtl="0">
              <a:spcBef>
                <a:spcPts val="0"/>
              </a:spcBef>
              <a:spcAft>
                <a:spcPts val="0"/>
              </a:spcAft>
              <a:buNone/>
            </a:pPr>
            <a:r>
              <a:rPr lang="en-US"/>
              <a:t>Tanto PredAI como GenAI son tipos de machine learning.</a:t>
            </a:r>
            <a:endParaRPr/>
          </a:p>
          <a:p>
            <a:pPr marL="0" lvl="0" indent="0" algn="l" rtl="0">
              <a:spcBef>
                <a:spcPts val="0"/>
              </a:spcBef>
              <a:spcAft>
                <a:spcPts val="0"/>
              </a:spcAft>
              <a:buNone/>
            </a:pPr>
            <a:endParaRPr/>
          </a:p>
          <a:p>
            <a:pPr marL="0" lvl="0" indent="0" algn="l" rtl="0">
              <a:spcBef>
                <a:spcPts val="0"/>
              </a:spcBef>
              <a:spcAft>
                <a:spcPts val="0"/>
              </a:spcAft>
              <a:buNone/>
            </a:pPr>
            <a:r>
              <a:rPr lang="en-US"/>
              <a:t>Muchos hitos revolucionarios en la ciencia, por ejemplo el plegamiento de proteínas, la cosmología, la física nuclear, han involucrado PredAI, no GenAI.</a:t>
            </a:r>
            <a:endParaRPr/>
          </a:p>
        </p:txBody>
      </p:sp>
      <p:sp>
        <p:nvSpPr>
          <p:cNvPr id="178" name="Google Shape;178;g3f40ef5c3c5_0_2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1" name="Google Shape;201;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No olvides la otra IA: la IA predictiva. PredAI ha sido usada por muchas grandes empresas durante más de 25 años, es decir, Google, Netflix, Spotify, Amazon, entre otras. </a:t>
            </a:r>
            <a:endParaRPr/>
          </a:p>
          <a:p>
            <a:pPr marL="0" lvl="0" indent="0" algn="l" rtl="0">
              <a:spcBef>
                <a:spcPts val="0"/>
              </a:spcBef>
              <a:spcAft>
                <a:spcPts val="0"/>
              </a:spcAft>
              <a:buNone/>
            </a:pPr>
            <a:endParaRPr/>
          </a:p>
          <a:p>
            <a:pPr marL="0" lvl="0" indent="0" algn="l" rtl="0">
              <a:spcBef>
                <a:spcPts val="0"/>
              </a:spcBef>
              <a:spcAft>
                <a:spcPts val="0"/>
              </a:spcAft>
              <a:buNone/>
            </a:pPr>
            <a:r>
              <a:rPr lang="en-US"/>
              <a:t>No todo problema necesita un LLM. El pronóstico, la clasificación y la detección de anomalías son ML clásico, y todo se ejecuta en la JVM. Sin costos financieros adicionales. Se necesitan menos recursos de cómputo.</a:t>
            </a:r>
            <a:endParaRPr/>
          </a:p>
          <a:p>
            <a:pPr marL="0" lvl="0" indent="0" algn="l" rtl="0">
              <a:spcBef>
                <a:spcPts val="0"/>
              </a:spcBef>
              <a:spcAft>
                <a:spcPts val="0"/>
              </a:spcAft>
              <a:buNone/>
            </a:pPr>
            <a:endParaRPr/>
          </a:p>
          <a:p>
            <a:pPr marL="0" lvl="0" indent="0" algn="l" rtl="0">
              <a:spcBef>
                <a:spcPts val="0"/>
              </a:spcBef>
              <a:spcAft>
                <a:spcPts val="0"/>
              </a:spcAft>
              <a:buNone/>
            </a:pPr>
            <a:r>
              <a:rPr lang="en-US"/>
              <a:t>DeepNetts y DeepLearning4j para deep learning en Java puro, Weka como el banco de trabajo clásico, y Mahout para ML distribuido y escalable.</a:t>
            </a:r>
            <a:endParaRPr/>
          </a:p>
          <a:p>
            <a:pPr marL="0" lvl="0" indent="0" algn="l" rtl="0">
              <a:spcBef>
                <a:spcPts val="0"/>
              </a:spcBef>
              <a:spcAft>
                <a:spcPts val="0"/>
              </a:spcAft>
              <a:buNone/>
            </a:pPr>
            <a:endParaRPr/>
          </a:p>
          <a:p>
            <a:pPr marL="0" lvl="0" indent="0" algn="l" rtl="0">
              <a:spcBef>
                <a:spcPts val="0"/>
              </a:spcBef>
              <a:spcAft>
                <a:spcPts val="0"/>
              </a:spcAft>
              <a:buNone/>
            </a:pPr>
            <a:r>
              <a:rPr lang="en-US"/>
              <a:t>JSR 381 - Reconocimiento visual para Java - API de IA predictiva para reconocimiento de imágenes. API sencilla. Varias implementaciones; la mayoría son bibliotecas muy pequeñas. No se necesita un LLM.</a:t>
            </a:r>
            <a:endParaRPr/>
          </a:p>
        </p:txBody>
      </p:sp>
      <p:sp>
        <p:nvSpPr>
          <p:cNvPr id="202" name="Google Shape;202;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2" name="Google Shape;222;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Dónde invertir tu tiempo como desarrollador de software. </a:t>
            </a:r>
            <a:endParaRPr/>
          </a:p>
          <a:p>
            <a:pPr marL="0" lvl="0" indent="0" algn="l" rtl="0">
              <a:spcBef>
                <a:spcPts val="0"/>
              </a:spcBef>
              <a:spcAft>
                <a:spcPts val="0"/>
              </a:spcAft>
              <a:buNone/>
            </a:pPr>
            <a:endParaRPr/>
          </a:p>
          <a:p>
            <a:pPr marL="0" lvl="0" indent="0" algn="l" rtl="0">
              <a:spcBef>
                <a:spcPts val="0"/>
              </a:spcBef>
              <a:spcAft>
                <a:spcPts val="0"/>
              </a:spcAft>
              <a:buNone/>
            </a:pPr>
            <a:r>
              <a:rPr lang="en-US"/>
              <a:t>La habilidad importante es el pensamiento crítico.  </a:t>
            </a:r>
            <a:endParaRPr/>
          </a:p>
          <a:p>
            <a:pPr marL="0" lvl="0" indent="0" algn="l" rtl="0">
              <a:spcBef>
                <a:spcPts val="0"/>
              </a:spcBef>
              <a:spcAft>
                <a:spcPts val="0"/>
              </a:spcAft>
              <a:buNone/>
            </a:pPr>
            <a:r>
              <a:rPr lang="en-US"/>
              <a:t>Aquí es donde evalúas el código generado, no solo lo produces. </a:t>
            </a:r>
            <a:endParaRPr/>
          </a:p>
          <a:p>
            <a:pPr marL="0" lvl="0" indent="0" algn="l" rtl="0">
              <a:spcBef>
                <a:spcPts val="0"/>
              </a:spcBef>
              <a:spcAft>
                <a:spcPts val="0"/>
              </a:spcAft>
              <a:buNone/>
            </a:pPr>
            <a:endParaRPr/>
          </a:p>
          <a:p>
            <a:pPr marL="0" lvl="0" indent="0" algn="l" rtl="0">
              <a:spcBef>
                <a:spcPts val="0"/>
              </a:spcBef>
              <a:spcAft>
                <a:spcPts val="0"/>
              </a:spcAft>
              <a:buNone/>
            </a:pPr>
            <a:r>
              <a:rPr lang="en-US"/>
              <a:t>Luego necesitas entender el diseño de sistemas heterogéneos, la colaboración, la seguridad y privacidad, y la disciplina operativa: costos, observabilidad, explicabilidad, gestión de riesgos.</a:t>
            </a:r>
            <a:endParaRPr/>
          </a:p>
          <a:p>
            <a:pPr marL="0" lvl="0" indent="0" algn="l" rtl="0">
              <a:spcBef>
                <a:spcPts val="0"/>
              </a:spcBef>
              <a:spcAft>
                <a:spcPts val="0"/>
              </a:spcAft>
              <a:buNone/>
            </a:pPr>
            <a:endParaRPr/>
          </a:p>
          <a:p>
            <a:pPr marL="0" lvl="0" indent="0" algn="l" rtl="0">
              <a:spcBef>
                <a:spcPts val="0"/>
              </a:spcBef>
              <a:spcAft>
                <a:spcPts val="0"/>
              </a:spcAft>
              <a:buNone/>
            </a:pPr>
            <a:r>
              <a:rPr lang="en-US"/>
              <a:t>En nuestra industria, sabemos que generar código es solo una pequeña parte de nuestras responsabilidades. La mayoría de las personas no técnicas no entienden que crear una aplicación de producción requiere mucho más que solo generar código. </a:t>
            </a:r>
            <a:endParaRPr/>
          </a:p>
          <a:p>
            <a:pPr marL="0" lvl="0" indent="0" algn="l" rtl="0">
              <a:spcBef>
                <a:spcPts val="0"/>
              </a:spcBef>
              <a:spcAft>
                <a:spcPts val="0"/>
              </a:spcAft>
              <a:buNone/>
            </a:pPr>
            <a:endParaRPr/>
          </a:p>
          <a:p>
            <a:pPr marL="0" lvl="0" indent="0" algn="l" rtl="0">
              <a:spcBef>
                <a:spcPts val="0"/>
              </a:spcBef>
              <a:spcAft>
                <a:spcPts val="0"/>
              </a:spcAft>
              <a:buNone/>
            </a:pPr>
            <a:r>
              <a:rPr lang="en-US"/>
              <a:t>La seguridad/privacidad es extremadamente importante. Y potencialmente una gran área en la que enfocar tu atención. La ciberseguridad es un campo cada vez más importante de la informática.</a:t>
            </a:r>
            <a:endParaRPr/>
          </a:p>
          <a:p>
            <a:pPr marL="0" lvl="0" indent="0" algn="l" rtl="0">
              <a:spcBef>
                <a:spcPts val="0"/>
              </a:spcBef>
              <a:spcAft>
                <a:spcPts val="0"/>
              </a:spcAft>
              <a:buNone/>
            </a:pPr>
            <a:r>
              <a:rPr lang="en-US"/>
              <a:t>Los datos son el alimento de la IA. La ingeniería de datos es un campo fundamental de la informática.</a:t>
            </a:r>
            <a:endParaRPr/>
          </a:p>
        </p:txBody>
      </p:sp>
      <p:sp>
        <p:nvSpPr>
          <p:cNvPr id="223" name="Google Shape;223;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3f40ef5c3c5_0_1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g3f40ef5c3c5_0_17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Habilidades técnicas fundamentales</a:t>
            </a:r>
            <a:endParaRPr/>
          </a:p>
          <a:p>
            <a:pPr marL="0" lvl="0" indent="0" algn="l" rtl="0">
              <a:lnSpc>
                <a:spcPct val="140000"/>
              </a:lnSpc>
              <a:spcBef>
                <a:spcPts val="0"/>
              </a:spcBef>
              <a:spcAft>
                <a:spcPts val="0"/>
              </a:spcAft>
              <a:buClr>
                <a:srgbClr val="5E564B"/>
              </a:buClr>
              <a:buSzPts val="1875"/>
              <a:buFont typeface="Arial"/>
              <a:buNone/>
            </a:pPr>
            <a:r>
              <a:rPr lang="en-US">
                <a:solidFill>
                  <a:srgbClr val="5E564B"/>
                </a:solidFill>
              </a:rPr>
              <a:t>Álgebra, probabilidad/estadística, conceptos de ML, redes neuronales, fundamentos de ingeniería de software, estructuras de datos/algoritmos, SO, redes, bases de datos (SQL, MySQL), ecosistema Java (JVM, concurrencia, ajuste de rendimiento, Java nativo de nube)</a:t>
            </a:r>
            <a:endParaRPr/>
          </a:p>
          <a:p>
            <a:pPr marL="0" lvl="0" indent="0" algn="l" rtl="0">
              <a:spcBef>
                <a:spcPts val="0"/>
              </a:spcBef>
              <a:spcAft>
                <a:spcPts val="0"/>
              </a:spcAft>
              <a:buNone/>
            </a:pPr>
            <a:endParaRPr/>
          </a:p>
          <a:p>
            <a:pPr marL="0" lvl="0" indent="0" algn="l" rtl="0">
              <a:spcBef>
                <a:spcPts val="0"/>
              </a:spcBef>
              <a:spcAft>
                <a:spcPts val="0"/>
              </a:spcAft>
              <a:buNone/>
            </a:pPr>
            <a:r>
              <a:rPr lang="en-US"/>
              <a:t>Habilidades modernas de desarrollo</a:t>
            </a:r>
            <a:endParaRPr/>
          </a:p>
          <a:p>
            <a:pPr marL="0" lvl="0" indent="0" algn="l" rtl="0">
              <a:lnSpc>
                <a:spcPct val="140000"/>
              </a:lnSpc>
              <a:spcBef>
                <a:spcPts val="0"/>
              </a:spcBef>
              <a:spcAft>
                <a:spcPts val="0"/>
              </a:spcAft>
              <a:buClr>
                <a:srgbClr val="5E564B"/>
              </a:buClr>
              <a:buSzPts val="1875"/>
              <a:buFont typeface="Arial"/>
              <a:buNone/>
            </a:pPr>
            <a:r>
              <a:rPr lang="en-US">
                <a:solidFill>
                  <a:srgbClr val="5E564B"/>
                </a:solidFill>
              </a:rPr>
              <a:t>Aprende despliegue en producción, ingeniería de IA (ingeniería de prompts, RAG, flujos de agentes, evaluación/pruebas), plataformas en la nube, Docker, Kubernetes, herramientas de desarrollo asistidas por IA, control de versiones, codificación segura, diseño de API</a:t>
            </a:r>
            <a:endParaRPr/>
          </a:p>
          <a:p>
            <a:pPr marL="0" lvl="0" indent="0" algn="l" rtl="0">
              <a:spcBef>
                <a:spcPts val="0"/>
              </a:spcBef>
              <a:spcAft>
                <a:spcPts val="0"/>
              </a:spcAft>
              <a:buNone/>
            </a:pPr>
            <a:endParaRPr/>
          </a:p>
          <a:p>
            <a:pPr marL="0" lvl="0" indent="0" algn="l" rtl="0">
              <a:spcBef>
                <a:spcPts val="0"/>
              </a:spcBef>
              <a:spcAft>
                <a:spcPts val="0"/>
              </a:spcAft>
              <a:buNone/>
            </a:pPr>
            <a:r>
              <a:rPr lang="en-US"/>
              <a:t>Práctica directa y código abierto</a:t>
            </a:r>
            <a:endParaRPr/>
          </a:p>
          <a:p>
            <a:pPr marL="0" lvl="0" indent="0" algn="l" rtl="0">
              <a:lnSpc>
                <a:spcPct val="140000"/>
              </a:lnSpc>
              <a:spcBef>
                <a:spcPts val="0"/>
              </a:spcBef>
              <a:spcAft>
                <a:spcPts val="0"/>
              </a:spcAft>
              <a:buClr>
                <a:srgbClr val="5E564B"/>
              </a:buClr>
              <a:buSzPts val="1875"/>
              <a:buFont typeface="Arial"/>
              <a:buNone/>
            </a:pPr>
            <a:r>
              <a:rPr lang="en-US">
                <a:solidFill>
                  <a:srgbClr val="5E564B"/>
                </a:solidFill>
              </a:rPr>
              <a:t>Construir aplicaciones, trabajar en proyectos reales (resolución de problemas, pruebas, documentación, monitoreo), contribuciones de código abierto (leer código base, PRs, revisiones de código, git, CI/CD, gestores de incidencias), construir integraciones de herramientas de IA, participar en hackathons/concursos</a:t>
            </a:r>
            <a:endParaRPr/>
          </a:p>
          <a:p>
            <a:pPr marL="0" lvl="0" indent="0" algn="l" rtl="0">
              <a:spcBef>
                <a:spcPts val="0"/>
              </a:spcBef>
              <a:spcAft>
                <a:spcPts val="0"/>
              </a:spcAft>
              <a:buNone/>
            </a:pPr>
            <a:endParaRPr/>
          </a:p>
          <a:p>
            <a:pPr marL="0" lvl="0" indent="0" algn="l" rtl="0">
              <a:spcBef>
                <a:spcPts val="0"/>
              </a:spcBef>
              <a:spcAft>
                <a:spcPts val="0"/>
              </a:spcAft>
              <a:buNone/>
            </a:pPr>
            <a:r>
              <a:rPr lang="en-US"/>
              <a:t>Preparación profesional y comunidad</a:t>
            </a:r>
            <a:endParaRPr/>
          </a:p>
          <a:p>
            <a:pPr marL="0" lvl="0" indent="0" algn="l" rtl="0">
              <a:lnSpc>
                <a:spcPct val="140000"/>
              </a:lnSpc>
              <a:spcBef>
                <a:spcPts val="0"/>
              </a:spcBef>
              <a:spcAft>
                <a:spcPts val="0"/>
              </a:spcAft>
              <a:buSzPts val="1875"/>
              <a:buNone/>
            </a:pPr>
            <a:r>
              <a:rPr lang="en-US">
                <a:solidFill>
                  <a:srgbClr val="5E564B"/>
                </a:solidFill>
              </a:rPr>
              <a:t>Construir un portafolio, participar en comunidades de IA/tecnología, pasantías, habilidades de comunicación(!), entender el valor de negocio/privacidad/UX, y preparación para entrevistas (codificación, diseño de sistemas, discutir proyectos en profundidad)</a:t>
            </a:r>
            <a:endParaRPr>
              <a:solidFill>
                <a:srgbClr val="5E564B"/>
              </a:solidFill>
            </a:endParaRPr>
          </a:p>
          <a:p>
            <a:pPr marL="0" lvl="0" indent="0" algn="l" rtl="0">
              <a:lnSpc>
                <a:spcPct val="140000"/>
              </a:lnSpc>
              <a:spcBef>
                <a:spcPts val="0"/>
              </a:spcBef>
              <a:spcAft>
                <a:spcPts val="0"/>
              </a:spcAft>
              <a:buSzPts val="1875"/>
              <a:buNone/>
            </a:pPr>
            <a:endParaRPr>
              <a:solidFill>
                <a:srgbClr val="5E564B"/>
              </a:solidFill>
            </a:endParaRPr>
          </a:p>
          <a:p>
            <a:pPr marL="0" lvl="0" indent="0" algn="l" rtl="0">
              <a:spcBef>
                <a:spcPts val="0"/>
              </a:spcBef>
              <a:spcAft>
                <a:spcPts val="0"/>
              </a:spcAft>
              <a:buClr>
                <a:schemeClr val="dk1"/>
              </a:buClr>
              <a:buFont typeface="Arial"/>
              <a:buNone/>
            </a:pPr>
            <a:r>
              <a:rPr lang="en-US"/>
              <a:t>Aprende primero los fundamentos. La IA no reemplaza tu comprensión de los fundamentos, ni elimina la necesidad de habilidades de pensamiento crítico.</a:t>
            </a:r>
            <a:endParaRPr/>
          </a:p>
          <a:p>
            <a:pPr marL="0" lvl="0" indent="0" algn="l" rtl="0">
              <a:spcBef>
                <a:spcPts val="0"/>
              </a:spcBef>
              <a:spcAft>
                <a:spcPts val="0"/>
              </a:spcAft>
              <a:buClr>
                <a:schemeClr val="dk1"/>
              </a:buClr>
              <a:buFont typeface="Arial"/>
              <a:buNone/>
            </a:pPr>
            <a:endParaRPr/>
          </a:p>
          <a:p>
            <a:pPr marL="0" lvl="0" indent="0" algn="l" rtl="0">
              <a:spcBef>
                <a:spcPts val="0"/>
              </a:spcBef>
              <a:spcAft>
                <a:spcPts val="0"/>
              </a:spcAft>
              <a:buClr>
                <a:schemeClr val="dk1"/>
              </a:buClr>
              <a:buFont typeface="Arial"/>
              <a:buNone/>
            </a:pPr>
            <a:r>
              <a:rPr lang="en-US"/>
              <a:t>No pienses en la IA como un reemplazo. Piensa en la IA como un amplificador.</a:t>
            </a:r>
            <a:endParaRPr/>
          </a:p>
          <a:p>
            <a:pPr marL="0" lvl="0" indent="0" algn="l" rtl="0">
              <a:spcBef>
                <a:spcPts val="0"/>
              </a:spcBef>
              <a:spcAft>
                <a:spcPts val="0"/>
              </a:spcAft>
              <a:buClr>
                <a:schemeClr val="dk1"/>
              </a:buClr>
              <a:buFont typeface="Arial"/>
              <a:buNone/>
            </a:pPr>
            <a:endParaRPr/>
          </a:p>
          <a:p>
            <a:pPr marL="0" lvl="0" indent="0" algn="l" rtl="0">
              <a:spcBef>
                <a:spcPts val="0"/>
              </a:spcBef>
              <a:spcAft>
                <a:spcPts val="0"/>
              </a:spcAft>
              <a:buClr>
                <a:schemeClr val="dk1"/>
              </a:buClr>
              <a:buFont typeface="Arial"/>
              <a:buNone/>
            </a:pPr>
            <a:r>
              <a:rPr lang="en-US"/>
              <a:t>La IA amplificará a un buen desarrollador de manera positiva.</a:t>
            </a:r>
            <a:endParaRPr/>
          </a:p>
          <a:p>
            <a:pPr marL="0" lvl="0" indent="0" algn="l" rtl="0">
              <a:spcBef>
                <a:spcPts val="0"/>
              </a:spcBef>
              <a:spcAft>
                <a:spcPts val="0"/>
              </a:spcAft>
              <a:buClr>
                <a:schemeClr val="dk1"/>
              </a:buClr>
              <a:buFont typeface="Arial"/>
              <a:buNone/>
            </a:pPr>
            <a:r>
              <a:rPr lang="en-US"/>
              <a:t>La IA amplificará a un mal desarrollador de manera negativa. </a:t>
            </a:r>
            <a:endParaRPr/>
          </a:p>
          <a:p>
            <a:pPr marL="0" lvl="0" indent="0" algn="l" rtl="0">
              <a:spcBef>
                <a:spcPts val="0"/>
              </a:spcBef>
              <a:spcAft>
                <a:spcPts val="0"/>
              </a:spcAft>
              <a:buClr>
                <a:schemeClr val="dk1"/>
              </a:buClr>
              <a:buFont typeface="Arial"/>
              <a:buNone/>
            </a:pPr>
            <a:endParaRPr/>
          </a:p>
          <a:p>
            <a:pPr marL="0" lvl="0" indent="0" algn="l" rtl="0">
              <a:spcBef>
                <a:spcPts val="0"/>
              </a:spcBef>
              <a:spcAft>
                <a:spcPts val="0"/>
              </a:spcAft>
              <a:buClr>
                <a:schemeClr val="dk1"/>
              </a:buClr>
              <a:buFont typeface="Arial"/>
              <a:buNone/>
            </a:pPr>
            <a:r>
              <a:rPr lang="en-US"/>
              <a:t>En manos de un ingeniero de software experto, puedes aumentar tu productividad en órdenes de magnitud.</a:t>
            </a:r>
            <a:endParaRPr/>
          </a:p>
          <a:p>
            <a:pPr marL="0" lvl="0" indent="0" algn="l" rtl="0">
              <a:spcBef>
                <a:spcPts val="0"/>
              </a:spcBef>
              <a:spcAft>
                <a:spcPts val="0"/>
              </a:spcAft>
              <a:buClr>
                <a:schemeClr val="dk1"/>
              </a:buClr>
              <a:buFont typeface="Arial"/>
              <a:buNone/>
            </a:pPr>
            <a:r>
              <a:rPr lang="en-US"/>
              <a:t>En manos de un mal desarrollador de software, puedes crear mucho software malo, poco confiable y de bajo rendimiento.</a:t>
            </a:r>
            <a:endParaRPr>
              <a:solidFill>
                <a:srgbClr val="5E564B"/>
              </a:solidFill>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247" name="Google Shape;247;g3f40ef5c3c5_0_17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3f40ef5c3c5_0_20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2" name="Google Shape;262;g3f40ef5c3c5_0_20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en-US"/>
              <a:t>Construye proyectos concretos que demuestren que puedes construir con IA en Java. </a:t>
            </a:r>
            <a:endParaRPr/>
          </a:p>
          <a:p>
            <a:pPr marL="457200" lvl="0" indent="-298450" algn="l" rtl="0">
              <a:spcBef>
                <a:spcPts val="0"/>
              </a:spcBef>
              <a:spcAft>
                <a:spcPts val="0"/>
              </a:spcAft>
              <a:buClr>
                <a:schemeClr val="dk1"/>
              </a:buClr>
              <a:buSzPts val="1100"/>
              <a:buAutoNum type="arabicPeriod"/>
            </a:pPr>
            <a:r>
              <a:rPr lang="en-US" sz="1100"/>
              <a:t>Un RAG simple sobre tus propios documentos - </a:t>
            </a:r>
            <a:r>
              <a:rPr lang="en-US" sz="1100">
                <a:solidFill>
                  <a:srgbClr val="5E564B"/>
                </a:solidFill>
              </a:rPr>
              <a:t>Indexa tus propios documentos y responde preguntas fundamentadas en ellos. El "hola mundo" de la IA útil.</a:t>
            </a:r>
            <a:endParaRPr sz="1100"/>
          </a:p>
          <a:p>
            <a:pPr marL="457200" lvl="0" indent="-298450" algn="l" rtl="0">
              <a:spcBef>
                <a:spcPts val="0"/>
              </a:spcBef>
              <a:spcAft>
                <a:spcPts val="0"/>
              </a:spcAft>
              <a:buClr>
                <a:schemeClr val="dk1"/>
              </a:buClr>
              <a:buSzPts val="1100"/>
              <a:buAutoNum type="arabicPeriod"/>
            </a:pPr>
            <a:r>
              <a:rPr lang="en-US" sz="1100"/>
              <a:t>Un chatbot privado sobre un LLM local - </a:t>
            </a:r>
            <a:r>
              <a:rPr lang="en-US" sz="1100">
                <a:solidFill>
                  <a:srgbClr val="5E564B"/>
                </a:solidFill>
              </a:rPr>
              <a:t>Un LLM local detrás de un servicio Java. Donde nada sale de tu máquina. Ideal para datos sensibles.</a:t>
            </a:r>
            <a:endParaRPr sz="1100"/>
          </a:p>
          <a:p>
            <a:pPr marL="457200" lvl="0" indent="-298450" algn="l" rtl="0">
              <a:spcBef>
                <a:spcPts val="0"/>
              </a:spcBef>
              <a:spcAft>
                <a:spcPts val="0"/>
              </a:spcAft>
              <a:buClr>
                <a:schemeClr val="dk1"/>
              </a:buClr>
              <a:buSzPts val="1100"/>
              <a:buAutoNum type="arabicPeriod"/>
            </a:pPr>
            <a:r>
              <a:rPr lang="en-US" sz="1100"/>
              <a:t>Un agente que llama a herramientas Java reales mediante llamado a funciones - </a:t>
            </a:r>
            <a:r>
              <a:rPr lang="en-US" sz="1100">
                <a:solidFill>
                  <a:srgbClr val="5E564B"/>
                </a:solidFill>
              </a:rPr>
              <a:t>Deja que el modelo llame a tus funciones, por ejemplo consultar una BD, llamar a una API vía llamado a herramientas/funciones. Comprende el bucle del agente.</a:t>
            </a:r>
            <a:endParaRPr sz="1100"/>
          </a:p>
          <a:p>
            <a:pPr marL="457200" lvl="0" indent="-298450" algn="l" rtl="0">
              <a:spcBef>
                <a:spcPts val="0"/>
              </a:spcBef>
              <a:spcAft>
                <a:spcPts val="0"/>
              </a:spcAft>
              <a:buClr>
                <a:schemeClr val="dk1"/>
              </a:buClr>
              <a:buSzPts val="1100"/>
              <a:buAutoNum type="arabicPeriod"/>
            </a:pPr>
            <a:r>
              <a:rPr lang="en-US" sz="1100"/>
              <a:t>Una experiencia de IA en streaming que devuelve los tokens a medida que se generan. - </a:t>
            </a:r>
            <a:r>
              <a:rPr lang="en-US" sz="1100">
                <a:solidFill>
                  <a:srgbClr val="5E564B"/>
                </a:solidFill>
              </a:rPr>
              <a:t>Transmite los tokens a la interfaz a medida que se generan. Da la sensación de respuesta inmediata que los usuarios ahora esperan.</a:t>
            </a:r>
            <a:endParaRPr sz="1100"/>
          </a:p>
          <a:p>
            <a:pPr marL="0" lvl="0" indent="0" algn="l" rtl="0">
              <a:spcBef>
                <a:spcPts val="0"/>
              </a:spcBef>
              <a:spcAft>
                <a:spcPts val="0"/>
              </a:spcAft>
              <a:buClr>
                <a:schemeClr val="dk1"/>
              </a:buClr>
              <a:buFont typeface="Arial"/>
              <a:buNone/>
            </a:pPr>
            <a:endParaRPr/>
          </a:p>
          <a:p>
            <a:pPr marL="0" lvl="0" indent="0" algn="l" rtl="0">
              <a:spcBef>
                <a:spcPts val="0"/>
              </a:spcBef>
              <a:spcAft>
                <a:spcPts val="0"/>
              </a:spcAft>
              <a:buClr>
                <a:schemeClr val="dk1"/>
              </a:buClr>
              <a:buFont typeface="Arial"/>
              <a:buNone/>
            </a:pPr>
            <a:r>
              <a:rPr lang="en-US"/>
              <a:t>Cada uno es pequeño, entregable, y digno de tu CV.</a:t>
            </a:r>
            <a:endParaRPr/>
          </a:p>
          <a:p>
            <a:pPr marL="0" lvl="0" indent="0" algn="l" rtl="0">
              <a:spcBef>
                <a:spcPts val="0"/>
              </a:spcBef>
              <a:spcAft>
                <a:spcPts val="0"/>
              </a:spcAft>
              <a:buClr>
                <a:schemeClr val="dk1"/>
              </a:buClr>
              <a:buFont typeface="Arial"/>
              <a:buNone/>
            </a:pPr>
            <a:endParaRPr/>
          </a:p>
          <a:p>
            <a:pPr marL="0" lvl="0" indent="0" algn="l" rtl="0">
              <a:spcBef>
                <a:spcPts val="0"/>
              </a:spcBef>
              <a:spcAft>
                <a:spcPts val="0"/>
              </a:spcAft>
              <a:buClr>
                <a:schemeClr val="dk1"/>
              </a:buClr>
              <a:buFont typeface="Arial"/>
              <a:buNone/>
            </a:pPr>
            <a:r>
              <a:rPr lang="en-US"/>
              <a:t>Temas adicionales para investigar una vez que aprendas los fundamentos:</a:t>
            </a:r>
            <a:endParaRPr/>
          </a:p>
          <a:p>
            <a:pPr marL="457200" lvl="0" indent="0" algn="l" rtl="0">
              <a:lnSpc>
                <a:spcPct val="115000"/>
              </a:lnSpc>
              <a:spcBef>
                <a:spcPts val="0"/>
              </a:spcBef>
              <a:spcAft>
                <a:spcPts val="0"/>
              </a:spcAft>
              <a:buClr>
                <a:schemeClr val="dk1"/>
              </a:buClr>
              <a:buSzPts val="1100"/>
              <a:buFont typeface="Arial"/>
              <a:buNone/>
            </a:pPr>
            <a:r>
              <a:rPr lang="en-US" sz="1100" b="1">
                <a:solidFill>
                  <a:srgbClr val="222222"/>
                </a:solidFill>
                <a:latin typeface="Arial"/>
                <a:ea typeface="Arial"/>
                <a:cs typeface="Arial"/>
                <a:sym typeface="Arial"/>
              </a:rPr>
              <a:t>RAG agéntico</a:t>
            </a:r>
            <a:r>
              <a:rPr lang="en-US" sz="1100">
                <a:solidFill>
                  <a:srgbClr val="222222"/>
                </a:solidFill>
                <a:latin typeface="Arial"/>
                <a:ea typeface="Arial"/>
                <a:cs typeface="Arial"/>
                <a:sym typeface="Arial"/>
              </a:rPr>
              <a:t> - Un sistema RAG que usa herramientas, realiza múltiples pasos de recuperación, y refina su contexto según resultados intermedios</a:t>
            </a:r>
            <a:endParaRPr sz="1100">
              <a:solidFill>
                <a:srgbClr val="222222"/>
              </a:solidFill>
              <a:latin typeface="Arial"/>
              <a:ea typeface="Arial"/>
              <a:cs typeface="Arial"/>
              <a:sym typeface="Arial"/>
            </a:endParaRPr>
          </a:p>
          <a:p>
            <a:pPr marL="457200" lvl="0" indent="0" algn="l" rtl="0">
              <a:lnSpc>
                <a:spcPct val="115000"/>
              </a:lnSpc>
              <a:spcBef>
                <a:spcPts val="0"/>
              </a:spcBef>
              <a:spcAft>
                <a:spcPts val="0"/>
              </a:spcAft>
              <a:buClr>
                <a:schemeClr val="dk1"/>
              </a:buClr>
              <a:buSzPts val="1100"/>
              <a:buFont typeface="Arial"/>
              <a:buNone/>
            </a:pPr>
            <a:r>
              <a:rPr lang="en-US" sz="1100" b="1">
                <a:solidFill>
                  <a:srgbClr val="222222"/>
                </a:solidFill>
                <a:latin typeface="Arial"/>
                <a:ea typeface="Arial"/>
                <a:cs typeface="Arial"/>
                <a:sym typeface="Arial"/>
              </a:rPr>
              <a:t>Generación aumentada por caché (CAG)</a:t>
            </a:r>
            <a:r>
              <a:rPr lang="en-US" sz="1100">
                <a:solidFill>
                  <a:srgbClr val="222222"/>
                </a:solidFill>
                <a:latin typeface="Arial"/>
                <a:ea typeface="Arial"/>
                <a:cs typeface="Arial"/>
                <a:sym typeface="Arial"/>
              </a:rPr>
              <a:t> - Un sistema RAG que precarga y reutiliza contexto para reducir la latencia y el costo.</a:t>
            </a:r>
            <a:endParaRPr sz="1100">
              <a:solidFill>
                <a:srgbClr val="222222"/>
              </a:solidFill>
              <a:latin typeface="Arial"/>
              <a:ea typeface="Arial"/>
              <a:cs typeface="Arial"/>
              <a:sym typeface="Arial"/>
            </a:endParaRPr>
          </a:p>
          <a:p>
            <a:pPr marL="457200" lvl="0" indent="0" algn="l" rtl="0">
              <a:lnSpc>
                <a:spcPct val="115000"/>
              </a:lnSpc>
              <a:spcBef>
                <a:spcPts val="0"/>
              </a:spcBef>
              <a:spcAft>
                <a:spcPts val="0"/>
              </a:spcAft>
              <a:buClr>
                <a:schemeClr val="dk1"/>
              </a:buClr>
              <a:buSzPts val="1100"/>
              <a:buFont typeface="Arial"/>
              <a:buNone/>
            </a:pPr>
            <a:r>
              <a:rPr lang="en-US" sz="1100" b="1">
                <a:solidFill>
                  <a:srgbClr val="222222"/>
                </a:solidFill>
                <a:latin typeface="Arial"/>
                <a:ea typeface="Arial"/>
                <a:cs typeface="Arial"/>
                <a:sym typeface="Arial"/>
              </a:rPr>
              <a:t>Fine-tuning:</a:t>
            </a:r>
            <a:r>
              <a:rPr lang="en-US" sz="1100">
                <a:solidFill>
                  <a:srgbClr val="222222"/>
                </a:solidFill>
                <a:latin typeface="Arial"/>
                <a:ea typeface="Arial"/>
                <a:cs typeface="Arial"/>
                <a:sym typeface="Arial"/>
              </a:rPr>
              <a:t> Un concepto para estudiantes interesados en ciencia de datos (requiere matemáticas y estadística avanzadas). A diferencia del in-context learning (ICL), es decir el prompting, el fine-tuning actualiza los pesos del modelo.</a:t>
            </a:r>
            <a:endParaRPr sz="1100">
              <a:solidFill>
                <a:srgbClr val="222222"/>
              </a:solidFill>
              <a:latin typeface="Arial"/>
              <a:ea typeface="Arial"/>
              <a:cs typeface="Arial"/>
              <a:sym typeface="Arial"/>
            </a:endParaRPr>
          </a:p>
          <a:p>
            <a:pPr marL="0" lvl="0" indent="0" algn="l" rtl="0">
              <a:spcBef>
                <a:spcPts val="0"/>
              </a:spcBef>
              <a:spcAft>
                <a:spcPts val="0"/>
              </a:spcAft>
              <a:buClr>
                <a:schemeClr val="dk1"/>
              </a:buClr>
              <a:buFont typeface="Arial"/>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263" name="Google Shape;263;g3f40ef5c3c5_0_20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g3f40ef5c3c5_0_1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8" name="Google Shape;278;g3f40ef5c3c5_0_15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endParaRPr sz="1100">
              <a:solidFill>
                <a:srgbClr val="222222"/>
              </a:solidFill>
              <a:latin typeface="Arial"/>
              <a:ea typeface="Arial"/>
              <a:cs typeface="Arial"/>
              <a:sym typeface="Arial"/>
            </a:endParaRPr>
          </a:p>
          <a:p>
            <a:pPr marL="457200" lvl="0" indent="0" algn="l" rtl="0">
              <a:lnSpc>
                <a:spcPct val="115000"/>
              </a:lnSpc>
              <a:spcBef>
                <a:spcPts val="0"/>
              </a:spcBef>
              <a:spcAft>
                <a:spcPts val="0"/>
              </a:spcAft>
              <a:buClr>
                <a:schemeClr val="dk1"/>
              </a:buClr>
              <a:buSzPts val="1100"/>
              <a:buFont typeface="Arial"/>
              <a:buNone/>
            </a:pPr>
            <a:endParaRPr sz="1100">
              <a:solidFill>
                <a:srgbClr val="222222"/>
              </a:solidFill>
              <a:latin typeface="Arial"/>
              <a:ea typeface="Arial"/>
              <a:cs typeface="Arial"/>
              <a:sym typeface="Arial"/>
            </a:endParaRPr>
          </a:p>
          <a:p>
            <a:pPr marL="457200" lvl="0" indent="-298450" algn="l" rtl="0">
              <a:lnSpc>
                <a:spcPct val="140000"/>
              </a:lnSpc>
              <a:spcBef>
                <a:spcPts val="0"/>
              </a:spcBef>
              <a:spcAft>
                <a:spcPts val="0"/>
              </a:spcAft>
              <a:buClr>
                <a:srgbClr val="5E564B"/>
              </a:buClr>
              <a:buSzPts val="1100"/>
              <a:buChar char="●"/>
            </a:pPr>
            <a:r>
              <a:rPr lang="en-US" sz="1100" b="1">
                <a:latin typeface="Arial"/>
                <a:ea typeface="Arial"/>
                <a:cs typeface="Arial"/>
                <a:sym typeface="Arial"/>
              </a:rPr>
              <a:t>Selección de problemas y ambición</a:t>
            </a:r>
            <a:br>
              <a:rPr lang="en-US" sz="1100" b="1">
                <a:latin typeface="Arial"/>
                <a:ea typeface="Arial"/>
                <a:cs typeface="Arial"/>
                <a:sym typeface="Arial"/>
              </a:rPr>
            </a:br>
            <a:r>
              <a:rPr lang="en-US" sz="1100">
                <a:latin typeface="Arial"/>
                <a:ea typeface="Arial"/>
                <a:cs typeface="Arial"/>
                <a:sym typeface="Arial"/>
              </a:rPr>
              <a:t> Elige problemas que valga la pena resolver. Favorece problemas ambiciosos y significativos donde la IA pueda encargarse del trabajo rutinario y el criterio humano siga importando.</a:t>
            </a:r>
            <a:endParaRPr sz="1100">
              <a:latin typeface="Arial"/>
              <a:ea typeface="Arial"/>
              <a:cs typeface="Arial"/>
              <a:sym typeface="Arial"/>
            </a:endParaRPr>
          </a:p>
          <a:p>
            <a:pPr marL="457200" lvl="0" indent="-298450" algn="l" rtl="0">
              <a:lnSpc>
                <a:spcPct val="140000"/>
              </a:lnSpc>
              <a:spcBef>
                <a:spcPts val="0"/>
              </a:spcBef>
              <a:spcAft>
                <a:spcPts val="0"/>
              </a:spcAft>
              <a:buClr>
                <a:srgbClr val="5E564B"/>
              </a:buClr>
              <a:buSzPts val="1100"/>
              <a:buChar char="●"/>
            </a:pPr>
            <a:r>
              <a:rPr lang="en-US" sz="1100" b="1">
                <a:latin typeface="Arial"/>
                <a:ea typeface="Arial"/>
                <a:cs typeface="Arial"/>
                <a:sym typeface="Arial"/>
              </a:rPr>
              <a:t>Experiencia de dominio y criterio</a:t>
            </a:r>
            <a:br>
              <a:rPr lang="en-US" sz="1100" b="1">
                <a:latin typeface="Arial"/>
                <a:ea typeface="Arial"/>
                <a:cs typeface="Arial"/>
                <a:sym typeface="Arial"/>
              </a:rPr>
            </a:br>
            <a:r>
              <a:rPr lang="en-US" sz="1100">
                <a:latin typeface="Arial"/>
                <a:ea typeface="Arial"/>
                <a:cs typeface="Arial"/>
                <a:sym typeface="Arial"/>
              </a:rPr>
              <a:t> Desarrolla un conocimiento profundo del dominio para poder definir bien los problemas, evaluar el resultado de la IA, y guiarla hacia mejores soluciones.</a:t>
            </a:r>
            <a:endParaRPr sz="1100">
              <a:latin typeface="Arial"/>
              <a:ea typeface="Arial"/>
              <a:cs typeface="Arial"/>
              <a:sym typeface="Arial"/>
            </a:endParaRPr>
          </a:p>
          <a:p>
            <a:pPr marL="457200" lvl="0" indent="-298450" algn="l" rtl="0">
              <a:lnSpc>
                <a:spcPct val="140000"/>
              </a:lnSpc>
              <a:spcBef>
                <a:spcPts val="0"/>
              </a:spcBef>
              <a:spcAft>
                <a:spcPts val="0"/>
              </a:spcAft>
              <a:buClr>
                <a:srgbClr val="5E564B"/>
              </a:buClr>
              <a:buSzPts val="1100"/>
              <a:buChar char="●"/>
            </a:pPr>
            <a:r>
              <a:rPr lang="en-US" sz="1100" b="1">
                <a:latin typeface="Arial"/>
                <a:ea typeface="Arial"/>
                <a:cs typeface="Arial"/>
                <a:sym typeface="Arial"/>
              </a:rPr>
              <a:t>Responsabilidad, ejecución y calidad</a:t>
            </a:r>
            <a:br>
              <a:rPr lang="en-US" sz="1100" b="1">
                <a:latin typeface="Arial"/>
                <a:ea typeface="Arial"/>
                <a:cs typeface="Arial"/>
                <a:sym typeface="Arial"/>
              </a:rPr>
            </a:br>
            <a:r>
              <a:rPr lang="en-US" sz="1100">
                <a:latin typeface="Arial"/>
                <a:ea typeface="Arial"/>
                <a:cs typeface="Arial"/>
                <a:sym typeface="Arial"/>
              </a:rPr>
              <a:t> Asume responsabilidad por partes sustanciales de los proyectos. Trabaja donde haya más por hacer que personas para hacerlo, y entrega con excelencia y atención al detalle.</a:t>
            </a:r>
            <a:endParaRPr sz="1100">
              <a:latin typeface="Arial"/>
              <a:ea typeface="Arial"/>
              <a:cs typeface="Arial"/>
              <a:sym typeface="Arial"/>
            </a:endParaRPr>
          </a:p>
          <a:p>
            <a:pPr marL="457200" lvl="0" indent="-298450" algn="l" rtl="0">
              <a:lnSpc>
                <a:spcPct val="140000"/>
              </a:lnSpc>
              <a:spcBef>
                <a:spcPts val="0"/>
              </a:spcBef>
              <a:spcAft>
                <a:spcPts val="0"/>
              </a:spcAft>
              <a:buClr>
                <a:srgbClr val="5E564B"/>
              </a:buClr>
              <a:buSzPts val="1100"/>
              <a:buChar char="●"/>
            </a:pPr>
            <a:r>
              <a:rPr lang="en-US" sz="1100" b="1">
                <a:latin typeface="Arial"/>
                <a:ea typeface="Arial"/>
                <a:cs typeface="Arial"/>
                <a:sym typeface="Arial"/>
              </a:rPr>
              <a:t>Aprendizaje, experimentación y resiliencia</a:t>
            </a:r>
            <a:br>
              <a:rPr lang="en-US" sz="1100" b="1">
                <a:latin typeface="Arial"/>
                <a:ea typeface="Arial"/>
                <a:cs typeface="Arial"/>
                <a:sym typeface="Arial"/>
              </a:rPr>
            </a:br>
            <a:r>
              <a:rPr lang="en-US" sz="1100">
                <a:latin typeface="Arial"/>
                <a:ea typeface="Arial"/>
                <a:cs typeface="Arial"/>
                <a:sym typeface="Arial"/>
              </a:rPr>
              <a:t> Desarrolla una mentalidad de investigador: mantente curioso, experimenta, mide resultados, aprende del fracaso, y mejora continuamente.</a:t>
            </a:r>
            <a:endParaRPr sz="1100">
              <a:latin typeface="Arial"/>
              <a:ea typeface="Arial"/>
              <a:cs typeface="Arial"/>
              <a:sym typeface="Arial"/>
            </a:endParaRPr>
          </a:p>
          <a:p>
            <a:pPr marL="457200" lvl="0" indent="-298450" algn="l" rtl="0">
              <a:lnSpc>
                <a:spcPct val="140000"/>
              </a:lnSpc>
              <a:spcBef>
                <a:spcPts val="0"/>
              </a:spcBef>
              <a:spcAft>
                <a:spcPts val="0"/>
              </a:spcAft>
              <a:buClr>
                <a:srgbClr val="5E564B"/>
              </a:buClr>
              <a:buSzPts val="1100"/>
              <a:buChar char="●"/>
            </a:pPr>
            <a:r>
              <a:rPr lang="en-US" sz="1100" b="1">
                <a:latin typeface="Arial"/>
                <a:ea typeface="Arial"/>
                <a:cs typeface="Arial"/>
                <a:sym typeface="Arial"/>
              </a:rPr>
              <a:t>Carrera, relaciones e IA responsable</a:t>
            </a:r>
            <a:br>
              <a:rPr lang="en-US" sz="1100" b="1">
                <a:latin typeface="Arial"/>
                <a:ea typeface="Arial"/>
                <a:cs typeface="Arial"/>
                <a:sym typeface="Arial"/>
              </a:rPr>
            </a:br>
            <a:r>
              <a:rPr lang="en-US" sz="1100">
                <a:latin typeface="Arial"/>
                <a:ea typeface="Arial"/>
                <a:cs typeface="Arial"/>
                <a:sym typeface="Arial"/>
              </a:rPr>
              <a:t> Invierte en relaciones y oportunidades profesionales mientras entiendes las consecuencias más amplias de seguridad, privacidad, ética y sociales del uso de la IA.</a:t>
            </a:r>
            <a:endParaRPr sz="1100">
              <a:solidFill>
                <a:srgbClr val="222222"/>
              </a:solidFill>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endParaRPr sz="1100">
              <a:solidFill>
                <a:srgbClr val="222222"/>
              </a:solidFill>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endParaRPr sz="1100">
              <a:solidFill>
                <a:srgbClr val="222222"/>
              </a:solidFill>
              <a:latin typeface="Arial"/>
              <a:ea typeface="Arial"/>
              <a:cs typeface="Arial"/>
              <a:sym typeface="Arial"/>
            </a:endParaRPr>
          </a:p>
          <a:p>
            <a:pPr marL="0" lvl="0" indent="0" algn="l" rtl="0">
              <a:spcBef>
                <a:spcPts val="0"/>
              </a:spcBef>
              <a:spcAft>
                <a:spcPts val="0"/>
              </a:spcAft>
              <a:buNone/>
            </a:pPr>
            <a:endParaRPr sz="1100"/>
          </a:p>
        </p:txBody>
      </p:sp>
      <p:sp>
        <p:nvSpPr>
          <p:cNvPr id="279" name="Google Shape;279;g3f40ef5c3c5_0_15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3f40ef5c3c5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8" name="Google Shape;288;g3f40ef5c3c5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endParaRPr sz="1100">
              <a:solidFill>
                <a:srgbClr val="222222"/>
              </a:solidFill>
              <a:latin typeface="Arial"/>
              <a:ea typeface="Arial"/>
              <a:cs typeface="Arial"/>
              <a:sym typeface="Arial"/>
            </a:endParaRPr>
          </a:p>
          <a:p>
            <a:pPr marL="457200" lvl="0" indent="0" algn="l" rtl="0">
              <a:lnSpc>
                <a:spcPct val="115000"/>
              </a:lnSpc>
              <a:spcBef>
                <a:spcPts val="0"/>
              </a:spcBef>
              <a:spcAft>
                <a:spcPts val="0"/>
              </a:spcAft>
              <a:buClr>
                <a:schemeClr val="dk1"/>
              </a:buClr>
              <a:buSzPts val="1100"/>
              <a:buFont typeface="Arial"/>
              <a:buNone/>
            </a:pPr>
            <a:endParaRPr sz="1100">
              <a:solidFill>
                <a:srgbClr val="222222"/>
              </a:solidFill>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r>
              <a:rPr lang="en-US" sz="1100">
                <a:solidFill>
                  <a:srgbClr val="222222"/>
                </a:solidFill>
                <a:latin typeface="Arial"/>
                <a:ea typeface="Arial"/>
                <a:cs typeface="Arial"/>
                <a:sym typeface="Arial"/>
              </a:rPr>
              <a:t>Además de estos temas, un ingeniero de software debe entender cómo resolver problemas bajo un conjunto de restricciones (la definición misma de “ingeniería”).</a:t>
            </a:r>
            <a:endParaRPr sz="1100">
              <a:solidFill>
                <a:srgbClr val="222222"/>
              </a:solidFill>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endParaRPr sz="1100">
              <a:solidFill>
                <a:srgbClr val="222222"/>
              </a:solidFill>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r>
              <a:rPr lang="en-US" sz="1100">
                <a:solidFill>
                  <a:srgbClr val="222222"/>
                </a:solidFill>
                <a:latin typeface="Arial"/>
                <a:ea typeface="Arial"/>
                <a:cs typeface="Arial"/>
                <a:sym typeface="Arial"/>
              </a:rPr>
              <a:t>Un ingeniero de software debe aprender a combinar y equilibrar sistemas no deterministas con herramientas deterministas tradicionales.</a:t>
            </a:r>
            <a:endParaRPr sz="1100">
              <a:solidFill>
                <a:srgbClr val="222222"/>
              </a:solidFill>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endParaRPr sz="1100">
              <a:solidFill>
                <a:srgbClr val="222222"/>
              </a:solidFill>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r>
              <a:rPr lang="en-US" sz="1100">
                <a:solidFill>
                  <a:srgbClr val="222222"/>
                </a:solidFill>
                <a:latin typeface="Arial"/>
                <a:ea typeface="Arial"/>
                <a:cs typeface="Arial"/>
                <a:sym typeface="Arial"/>
              </a:rPr>
              <a:t>Estos elementos de la diapositiva son responsabilidades no técnicas importantes. Generar código no es lo único que hacen a diario los ingenieros de software profesionales.</a:t>
            </a:r>
            <a:endParaRPr sz="1100">
              <a:solidFill>
                <a:srgbClr val="222222"/>
              </a:solidFill>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endParaRPr sz="1100">
              <a:solidFill>
                <a:srgbClr val="222222"/>
              </a:solidFill>
              <a:latin typeface="Arial"/>
              <a:ea typeface="Arial"/>
              <a:cs typeface="Arial"/>
              <a:sym typeface="Arial"/>
            </a:endParaRPr>
          </a:p>
          <a:p>
            <a:pPr marL="0" lvl="0" indent="0" algn="l" rtl="0">
              <a:lnSpc>
                <a:spcPct val="115000"/>
              </a:lnSpc>
              <a:spcBef>
                <a:spcPts val="0"/>
              </a:spcBef>
              <a:spcAft>
                <a:spcPts val="0"/>
              </a:spcAft>
              <a:buClr>
                <a:schemeClr val="dk1"/>
              </a:buClr>
              <a:buSzPts val="1100"/>
              <a:buFont typeface="Arial"/>
              <a:buNone/>
            </a:pPr>
            <a:endParaRPr sz="1100">
              <a:solidFill>
                <a:srgbClr val="222222"/>
              </a:solidFill>
              <a:latin typeface="Arial"/>
              <a:ea typeface="Arial"/>
              <a:cs typeface="Arial"/>
              <a:sym typeface="Arial"/>
            </a:endParaRPr>
          </a:p>
          <a:p>
            <a:pPr marL="0" lvl="0" indent="0" algn="l" rtl="0">
              <a:spcBef>
                <a:spcPts val="0"/>
              </a:spcBef>
              <a:spcAft>
                <a:spcPts val="0"/>
              </a:spcAft>
              <a:buNone/>
            </a:pPr>
            <a:endParaRPr/>
          </a:p>
        </p:txBody>
      </p:sp>
      <p:sp>
        <p:nvSpPr>
          <p:cNvPr id="289" name="Google Shape;289;g3f40ef5c3c5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5" name="Google Shape;315;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La programación no ha muerto.</a:t>
            </a:r>
            <a:endParaRPr/>
          </a:p>
          <a:p>
            <a:pPr marL="0" lvl="0" indent="0" algn="l" rtl="0">
              <a:spcBef>
                <a:spcPts val="0"/>
              </a:spcBef>
              <a:spcAft>
                <a:spcPts val="0"/>
              </a:spcAft>
              <a:buNone/>
            </a:pPr>
            <a:r>
              <a:rPr lang="en-US"/>
              <a:t>Mucha gente (¡incluso los técnicos!) confunde programar con teclear. Programar = teclear + pensamiento crítico.</a:t>
            </a:r>
            <a:endParaRPr/>
          </a:p>
          <a:p>
            <a:pPr marL="0" lvl="0" indent="0" algn="l" rtl="0">
              <a:spcBef>
                <a:spcPts val="0"/>
              </a:spcBef>
              <a:spcAft>
                <a:spcPts val="0"/>
              </a:spcAft>
              <a:buClr>
                <a:schemeClr val="dk1"/>
              </a:buClr>
              <a:buFont typeface="Arial"/>
              <a:buNone/>
            </a:pPr>
            <a:endParaRPr/>
          </a:p>
          <a:p>
            <a:pPr marL="0" lvl="0" indent="0" algn="l" rtl="0">
              <a:spcBef>
                <a:spcPts val="0"/>
              </a:spcBef>
              <a:spcAft>
                <a:spcPts val="0"/>
              </a:spcAft>
              <a:buNone/>
            </a:pPr>
            <a:r>
              <a:rPr lang="en-US"/>
              <a:t>Aunque los LLM pueden generar buen código (y rápidamente), por naturaleza alucinan más de lo que crees. Incluso los mejores modelos siguen siendo no deterministas.</a:t>
            </a:r>
            <a:endParaRPr/>
          </a:p>
          <a:p>
            <a:pPr marL="0" lvl="0" indent="0" algn="l" rtl="0">
              <a:spcBef>
                <a:spcPts val="0"/>
              </a:spcBef>
              <a:spcAft>
                <a:spcPts val="0"/>
              </a:spcAft>
              <a:buNone/>
            </a:pPr>
            <a:r>
              <a:rPr lang="en-US"/>
              <a:t>Los ingenieros de software todavía necesitan saber cómo corregir el código subóptimo generado por los LLM.</a:t>
            </a:r>
            <a:endParaRPr sz="1100">
              <a:solidFill>
                <a:srgbClr val="1D1C1D"/>
              </a:solidFill>
              <a:latin typeface="Arial"/>
              <a:ea typeface="Arial"/>
              <a:cs typeface="Arial"/>
              <a:sym typeface="Arial"/>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US"/>
              <a:t>El trabajo escaló en la pila. Java está justo donde la IA empresarial necesita ejecutarse. </a:t>
            </a:r>
            <a:endParaRPr/>
          </a:p>
          <a:p>
            <a:pPr marL="0" lvl="0" indent="0" algn="l" rtl="0">
              <a:spcBef>
                <a:spcPts val="0"/>
              </a:spcBef>
              <a:spcAft>
                <a:spcPts val="0"/>
              </a:spcAft>
              <a:buNone/>
            </a:pPr>
            <a:r>
              <a:rPr lang="en-US"/>
              <a:t>Elige un proyecto esta semana y lánzalo.</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US"/>
              <a:t>Frank Greco - verano de 2026</a:t>
            </a:r>
            <a:endParaRPr/>
          </a:p>
          <a:p>
            <a:pPr marL="0" lvl="0" indent="0" algn="l" rtl="0">
              <a:spcBef>
                <a:spcPts val="0"/>
              </a:spcBef>
              <a:spcAft>
                <a:spcPts val="0"/>
              </a:spcAft>
              <a:buNone/>
            </a:pPr>
            <a:r>
              <a:rPr lang="en-US"/>
              <a:t>  Se usó Claude Design para crear la plantilla de la presentación</a:t>
            </a:r>
            <a:endParaRPr/>
          </a:p>
          <a:p>
            <a:pPr marL="0" lvl="0" indent="0" algn="l" rtl="0">
              <a:spcBef>
                <a:spcPts val="0"/>
              </a:spcBef>
              <a:spcAft>
                <a:spcPts val="0"/>
              </a:spcAft>
              <a:buNone/>
            </a:pPr>
            <a:r>
              <a:rPr lang="en-US"/>
              <a:t>  Se usó Grammarly para revisar gramática/ortografía</a:t>
            </a:r>
            <a:endParaRPr/>
          </a:p>
          <a:p>
            <a:pPr marL="0" lvl="0" indent="0" algn="l" rtl="0">
              <a:spcBef>
                <a:spcPts val="0"/>
              </a:spcBef>
              <a:spcAft>
                <a:spcPts val="0"/>
              </a:spcAft>
              <a:buNone/>
            </a:pPr>
            <a:r>
              <a:rPr lang="en-US"/>
              <a:t>  Se usó ChatGPT para organizar el esquema original</a:t>
            </a:r>
            <a:endParaRPr/>
          </a:p>
          <a:p>
            <a:pPr marL="0" lvl="0" indent="0" algn="l" rtl="0">
              <a:spcBef>
                <a:spcPts val="0"/>
              </a:spcBef>
              <a:spcAft>
                <a:spcPts val="0"/>
              </a:spcAft>
              <a:buNone/>
            </a:pPr>
            <a:r>
              <a:rPr lang="en-US"/>
              <a:t>  ¡Gracias a los revisores de Java/IA del JCP!</a:t>
            </a:r>
            <a:endParaRPr/>
          </a:p>
          <a:p>
            <a:pPr marL="0" lvl="0" indent="0" algn="l" rtl="0">
              <a:spcBef>
                <a:spcPts val="0"/>
              </a:spcBef>
              <a:spcAft>
                <a:spcPts val="0"/>
              </a:spcAft>
              <a:buNone/>
            </a:pPr>
            <a:r>
              <a:rPr lang="en-US"/>
              <a:t>  ¡Gracias a los líderes de NYJavaSIG por sus comentarios y sugerencias!</a:t>
            </a:r>
            <a:endParaRPr/>
          </a:p>
        </p:txBody>
      </p:sp>
      <p:sp>
        <p:nvSpPr>
          <p:cNvPr id="316" name="Google Shape;316;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hyperlink" Target="https://www.google.com/search?q=javaone+2026+greco+ai+for+busy+java+developers+frank&amp;sca_esv=936fc7d1f21905e6&amp;udm=7&amp;biw=2223&amp;bih=1197&amp;sxsrf=APpeQnvFBzY04pVqE6Zn0q23xU5FXuc03w%3A1788019690860&amp;ei=6gOTat6JNKaGptQPv5-v2Ak&amp;ved=0ahUKEwjeppm0nMaWAxUmg4kEHb_PC5sQ4dUDCBA&amp;uact=5&amp;oq=javaone+2026+greco+ai+for+busy+java+developers+frank&amp;gs_lp=EhZnd3Mtd2l6LW1vZGVsZXNzLXZpZGVvIjRqYXZhb25lIDIwMjYgZ3JlY28gYWkgZm9yIGJ1c3kgamF2YSBkZXZlbG9wZXJzIGZyYW5rMgUQIRigATIFECEYoAEyBRAhGKABMgUQIRigAUj-G1DfC1jxGXACeACQAQGYAagCoAGnCKoBBTEuNS4xuAEDyAEA-AEBmAIIoAKWBsICBRAAGO8FwgIIEAAYgAQYogTCAggQABiJBRiiBMICBxAhGAoYoAHCAgUQIRirApgDAIgGAZIHAzIuNqAHwymyBwMwLja4B5AGwgcDMC44yAcNgAgB&amp;sclient=gws-wiz-modeless-video#fpstate=ive&amp;ip=1&amp;vld=cid:00cc7f34,vid:jzEr_AqHXgY,st:0"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hyperlink" Target="https://jcp.org/en/jsr/detail?id=381"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EEE4"/>
        </a:solidFill>
        <a:effectLst/>
      </p:bgPr>
    </p:bg>
    <p:spTree>
      <p:nvGrpSpPr>
        <p:cNvPr id="1" name="Shape 15"/>
        <p:cNvGrpSpPr/>
        <p:nvPr/>
      </p:nvGrpSpPr>
      <p:grpSpPr>
        <a:xfrm>
          <a:off x="0" y="0"/>
          <a:ext cx="0" cy="0"/>
          <a:chOff x="0" y="0"/>
          <a:chExt cx="0" cy="0"/>
        </a:xfrm>
      </p:grpSpPr>
      <p:sp>
        <p:nvSpPr>
          <p:cNvPr id="16" name="Google Shape;16;p3"/>
          <p:cNvSpPr/>
          <p:nvPr/>
        </p:nvSpPr>
        <p:spPr>
          <a:xfrm>
            <a:off x="1047750" y="3742194"/>
            <a:ext cx="17811750" cy="1545312"/>
          </a:xfrm>
          <a:prstGeom prst="rect">
            <a:avLst/>
          </a:prstGeom>
          <a:noFill/>
          <a:ln>
            <a:noFill/>
          </a:ln>
        </p:spPr>
        <p:txBody>
          <a:bodyPr spcFirstLastPara="1" wrap="square" lIns="25400" tIns="25400" rIns="25400" bIns="25400" anchor="t" anchorCtr="0">
            <a:noAutofit/>
          </a:bodyPr>
          <a:lstStyle/>
          <a:p>
            <a:pPr marL="0" marR="0" lvl="0" indent="0" algn="l" rtl="0">
              <a:lnSpc>
                <a:spcPct val="92000"/>
              </a:lnSpc>
              <a:spcBef>
                <a:spcPts val="0"/>
              </a:spcBef>
              <a:spcAft>
                <a:spcPts val="0"/>
              </a:spcAft>
              <a:buClr>
                <a:srgbClr val="2A231D"/>
              </a:buClr>
              <a:buSzPts val="12900"/>
              <a:buFont typeface="Newsreader"/>
              <a:buNone/>
            </a:pPr>
            <a:r>
              <a:rPr lang="en-US" sz="9500" b="0" i="0" u="none" strike="noStrike" cap="none">
                <a:solidFill>
                  <a:srgbClr val="2A231D"/>
                </a:solidFill>
                <a:latin typeface="Newsreader"/>
                <a:ea typeface="Newsreader"/>
                <a:cs typeface="Newsreader"/>
                <a:sym typeface="Newsreader"/>
              </a:rPr>
              <a:t>La programación </a:t>
            </a:r>
            <a:r>
              <a:rPr lang="en-US" sz="9500" b="0" i="1" u="none" strike="noStrike" cap="none">
                <a:solidFill>
                  <a:srgbClr val="BF5A3C"/>
                </a:solidFill>
                <a:latin typeface="Newsreader"/>
                <a:ea typeface="Newsreader"/>
                <a:cs typeface="Newsreader"/>
                <a:sym typeface="Newsreader"/>
              </a:rPr>
              <a:t>¿ha muerto?</a:t>
            </a:r>
            <a:endParaRPr sz="9500" b="0" i="0" u="none" strike="noStrike" cap="none">
              <a:solidFill>
                <a:schemeClr val="dk1"/>
              </a:solidFill>
              <a:latin typeface="Calibri"/>
              <a:ea typeface="Calibri"/>
              <a:cs typeface="Calibri"/>
              <a:sym typeface="Calibri"/>
            </a:endParaRPr>
          </a:p>
        </p:txBody>
      </p:sp>
      <p:sp>
        <p:nvSpPr>
          <p:cNvPr id="17" name="Google Shape;17;p3"/>
          <p:cNvSpPr/>
          <p:nvPr/>
        </p:nvSpPr>
        <p:spPr>
          <a:xfrm>
            <a:off x="1047750" y="5516100"/>
            <a:ext cx="14320500" cy="2389800"/>
          </a:xfrm>
          <a:prstGeom prst="rect">
            <a:avLst/>
          </a:prstGeom>
          <a:noFill/>
          <a:ln>
            <a:noFill/>
          </a:ln>
        </p:spPr>
        <p:txBody>
          <a:bodyPr spcFirstLastPara="1" wrap="square" lIns="25400" tIns="25400" rIns="25400" bIns="25400" anchor="t" anchorCtr="0">
            <a:noAutofit/>
          </a:bodyPr>
          <a:lstStyle/>
          <a:p>
            <a:pPr marL="0" marR="0" lvl="0" indent="0" algn="l" rtl="0">
              <a:lnSpc>
                <a:spcPct val="110000"/>
              </a:lnSpc>
              <a:spcBef>
                <a:spcPts val="0"/>
              </a:spcBef>
              <a:spcAft>
                <a:spcPts val="0"/>
              </a:spcAft>
              <a:buClr>
                <a:srgbClr val="5E564B"/>
              </a:buClr>
              <a:buSzPts val="4050"/>
              <a:buFont typeface="Newsreader"/>
              <a:buNone/>
            </a:pPr>
            <a:r>
              <a:rPr lang="en-US" sz="4050" b="1" i="0" u="none" strike="noStrike" cap="none">
                <a:solidFill>
                  <a:srgbClr val="5E564B"/>
                </a:solidFill>
                <a:latin typeface="Newsreader"/>
                <a:ea typeface="Newsreader"/>
                <a:cs typeface="Newsreader"/>
                <a:sym typeface="Newsreader"/>
              </a:rPr>
              <a:t>Java en la era de la IA</a:t>
            </a:r>
            <a:r>
              <a:rPr lang="en-US" sz="4050" b="1">
                <a:solidFill>
                  <a:srgbClr val="5E564B"/>
                </a:solidFill>
                <a:latin typeface="Newsreader"/>
                <a:ea typeface="Newsreader"/>
                <a:cs typeface="Newsreader"/>
                <a:sym typeface="Newsreader"/>
              </a:rPr>
              <a:t>. </a:t>
            </a:r>
            <a:endParaRPr sz="4050" b="1">
              <a:solidFill>
                <a:srgbClr val="5E564B"/>
              </a:solidFill>
              <a:latin typeface="Newsreader"/>
              <a:ea typeface="Newsreader"/>
              <a:cs typeface="Newsreader"/>
              <a:sym typeface="Newsreader"/>
            </a:endParaRPr>
          </a:p>
          <a:p>
            <a:pPr marL="0" marR="0" lvl="0" indent="0" algn="l" rtl="0">
              <a:lnSpc>
                <a:spcPct val="110000"/>
              </a:lnSpc>
              <a:spcBef>
                <a:spcPts val="0"/>
              </a:spcBef>
              <a:spcAft>
                <a:spcPts val="0"/>
              </a:spcAft>
              <a:buClr>
                <a:srgbClr val="5E564B"/>
              </a:buClr>
              <a:buSzPts val="4050"/>
              <a:buFont typeface="Newsreader"/>
              <a:buNone/>
            </a:pPr>
            <a:endParaRPr sz="4050" b="1">
              <a:solidFill>
                <a:srgbClr val="5E564B"/>
              </a:solidFill>
              <a:latin typeface="Newsreader"/>
              <a:ea typeface="Newsreader"/>
              <a:cs typeface="Newsreader"/>
              <a:sym typeface="Newsreader"/>
            </a:endParaRPr>
          </a:p>
          <a:p>
            <a:pPr marL="0" marR="0" lvl="0" indent="0" algn="l" rtl="0">
              <a:lnSpc>
                <a:spcPct val="110000"/>
              </a:lnSpc>
              <a:spcBef>
                <a:spcPts val="0"/>
              </a:spcBef>
              <a:spcAft>
                <a:spcPts val="0"/>
              </a:spcAft>
              <a:buClr>
                <a:srgbClr val="5E564B"/>
              </a:buClr>
              <a:buSzPts val="4050"/>
              <a:buFont typeface="Newsreader"/>
              <a:buNone/>
            </a:pPr>
            <a:r>
              <a:rPr lang="en-US" sz="4050">
                <a:solidFill>
                  <a:srgbClr val="5E564B"/>
                </a:solidFill>
                <a:latin typeface="Newsreader"/>
                <a:ea typeface="Newsreader"/>
                <a:cs typeface="Newsreader"/>
                <a:sym typeface="Newsreader"/>
              </a:rPr>
              <a:t>Q</a:t>
            </a:r>
            <a:r>
              <a:rPr lang="en-US" sz="4050" b="0" i="0" u="none" strike="noStrike" cap="none">
                <a:solidFill>
                  <a:srgbClr val="5E564B"/>
                </a:solidFill>
                <a:latin typeface="Newsreader"/>
                <a:ea typeface="Newsreader"/>
                <a:cs typeface="Newsreader"/>
                <a:sym typeface="Newsreader"/>
              </a:rPr>
              <a:t>ué es real, qué es exageración, y dónde encajas tú.</a:t>
            </a:r>
            <a:endParaRPr sz="4050" b="0" i="0" u="none" strike="noStrike" cap="none">
              <a:solidFill>
                <a:schemeClr val="dk1"/>
              </a:solidFill>
              <a:latin typeface="Calibri"/>
              <a:ea typeface="Calibri"/>
              <a:cs typeface="Calibri"/>
              <a:sym typeface="Calibri"/>
            </a:endParaRPr>
          </a:p>
        </p:txBody>
      </p:sp>
      <p:sp>
        <p:nvSpPr>
          <p:cNvPr id="18" name="Google Shape;18;p3"/>
          <p:cNvSpPr txBox="1"/>
          <p:nvPr/>
        </p:nvSpPr>
        <p:spPr>
          <a:xfrm>
            <a:off x="16431675" y="9790250"/>
            <a:ext cx="1740000" cy="388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t>v1.5 - @frankgreco</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EEE4"/>
        </a:solidFill>
        <a:effectLst/>
      </p:bgPr>
    </p:bg>
    <p:spTree>
      <p:nvGrpSpPr>
        <p:cNvPr id="1" name="Shape 23"/>
        <p:cNvGrpSpPr/>
        <p:nvPr/>
      </p:nvGrpSpPr>
      <p:grpSpPr>
        <a:xfrm>
          <a:off x="0" y="0"/>
          <a:ext cx="0" cy="0"/>
          <a:chOff x="0" y="0"/>
          <a:chExt cx="0" cy="0"/>
        </a:xfrm>
      </p:grpSpPr>
      <p:sp>
        <p:nvSpPr>
          <p:cNvPr id="24" name="Google Shape;24;p4"/>
          <p:cNvSpPr/>
          <p:nvPr/>
        </p:nvSpPr>
        <p:spPr>
          <a:xfrm>
            <a:off x="16384667" y="762000"/>
            <a:ext cx="912600" cy="388500"/>
          </a:xfrm>
          <a:prstGeom prst="roundRect">
            <a:avLst>
              <a:gd name="adj" fmla="val 50000"/>
            </a:avLst>
          </a:prstGeom>
          <a:noFill/>
          <a:ln w="9525" cap="flat" cmpd="sng">
            <a:solidFill>
              <a:srgbClr val="DDD4C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4"/>
          <p:cNvSpPr/>
          <p:nvPr/>
        </p:nvSpPr>
        <p:spPr>
          <a:xfrm>
            <a:off x="990600" y="1531620"/>
            <a:ext cx="17937600" cy="762000"/>
          </a:xfrm>
          <a:prstGeom prst="rect">
            <a:avLst/>
          </a:prstGeom>
          <a:noFill/>
          <a:ln>
            <a:noFill/>
          </a:ln>
        </p:spPr>
        <p:txBody>
          <a:bodyPr spcFirstLastPara="1" wrap="square" lIns="25400" tIns="25400" rIns="25400" bIns="25400" anchor="t" anchorCtr="0">
            <a:noAutofit/>
          </a:bodyPr>
          <a:lstStyle/>
          <a:p>
            <a:pPr marL="0" marR="0" lvl="0" indent="0" algn="l" rtl="0">
              <a:lnSpc>
                <a:spcPct val="100000"/>
              </a:lnSpc>
              <a:spcBef>
                <a:spcPts val="0"/>
              </a:spcBef>
              <a:spcAft>
                <a:spcPts val="0"/>
              </a:spcAft>
              <a:buClr>
                <a:srgbClr val="2A231D"/>
              </a:buClr>
              <a:buSzPts val="5700"/>
              <a:buFont typeface="Newsreader"/>
              <a:buNone/>
            </a:pPr>
            <a:r>
              <a:rPr lang="en-US" sz="5700" b="0" i="0" u="none" strike="noStrike" cap="none">
                <a:solidFill>
                  <a:srgbClr val="2A231D"/>
                </a:solidFill>
                <a:latin typeface="Newsreader"/>
                <a:ea typeface="Newsreader"/>
                <a:cs typeface="Newsreader"/>
                <a:sym typeface="Newsreader"/>
              </a:rPr>
              <a:t>¿Ha muerto la programación?</a:t>
            </a:r>
            <a:endParaRPr sz="5700" b="0" i="0" u="none" strike="noStrike" cap="none">
              <a:solidFill>
                <a:schemeClr val="dk1"/>
              </a:solidFill>
              <a:latin typeface="Calibri"/>
              <a:ea typeface="Calibri"/>
              <a:cs typeface="Calibri"/>
              <a:sym typeface="Calibri"/>
            </a:endParaRPr>
          </a:p>
        </p:txBody>
      </p:sp>
      <p:sp>
        <p:nvSpPr>
          <p:cNvPr id="26" name="Google Shape;26;p4"/>
          <p:cNvSpPr/>
          <p:nvPr/>
        </p:nvSpPr>
        <p:spPr>
          <a:xfrm>
            <a:off x="990600" y="2369820"/>
            <a:ext cx="17937600" cy="36570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5E564B"/>
              </a:buClr>
              <a:buSzPts val="2250"/>
              <a:buFont typeface="Arial"/>
              <a:buNone/>
            </a:pPr>
            <a:r>
              <a:rPr lang="en-US" sz="2250" b="0" i="0" u="none" strike="noStrike" cap="none">
                <a:solidFill>
                  <a:srgbClr val="5E564B"/>
                </a:solidFill>
                <a:latin typeface="Arial"/>
                <a:ea typeface="Arial"/>
                <a:cs typeface="Arial"/>
                <a:sym typeface="Arial"/>
              </a:rPr>
              <a:t>Dos tipos de ruido ahogan una verdad más serena y útil.</a:t>
            </a:r>
            <a:endParaRPr sz="2250" b="0" i="0" u="none" strike="noStrike" cap="none">
              <a:solidFill>
                <a:schemeClr val="dk1"/>
              </a:solidFill>
              <a:latin typeface="Calibri"/>
              <a:ea typeface="Calibri"/>
              <a:cs typeface="Calibri"/>
              <a:sym typeface="Calibri"/>
            </a:endParaRPr>
          </a:p>
        </p:txBody>
      </p:sp>
      <p:sp>
        <p:nvSpPr>
          <p:cNvPr id="27" name="Google Shape;27;p4"/>
          <p:cNvSpPr/>
          <p:nvPr/>
        </p:nvSpPr>
        <p:spPr>
          <a:xfrm>
            <a:off x="990600" y="3078480"/>
            <a:ext cx="8020200" cy="2413500"/>
          </a:xfrm>
          <a:prstGeom prst="roundRect">
            <a:avLst>
              <a:gd name="adj" fmla="val 6314"/>
            </a:avLst>
          </a:prstGeom>
          <a:solidFill>
            <a:srgbClr val="FBF8F1"/>
          </a:solidFill>
          <a:ln w="9525" cap="flat" cmpd="sng">
            <a:solidFill>
              <a:srgbClr val="E0D8C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4"/>
          <p:cNvSpPr/>
          <p:nvPr/>
        </p:nvSpPr>
        <p:spPr>
          <a:xfrm>
            <a:off x="1303020" y="3353877"/>
            <a:ext cx="8134800" cy="398100"/>
          </a:xfrm>
          <a:prstGeom prst="rect">
            <a:avLst/>
          </a:prstGeom>
          <a:noFill/>
          <a:ln>
            <a:noFill/>
          </a:ln>
        </p:spPr>
        <p:txBody>
          <a:bodyPr spcFirstLastPara="1" wrap="square" lIns="25400" tIns="25400" rIns="25400" bIns="25400" anchor="t" anchorCtr="0">
            <a:noAutofit/>
          </a:bodyPr>
          <a:lstStyle/>
          <a:p>
            <a:pPr marL="0" marR="0" lvl="0" indent="0" algn="l" rtl="0">
              <a:lnSpc>
                <a:spcPct val="105000"/>
              </a:lnSpc>
              <a:spcBef>
                <a:spcPts val="0"/>
              </a:spcBef>
              <a:spcAft>
                <a:spcPts val="0"/>
              </a:spcAft>
              <a:buClr>
                <a:srgbClr val="2A231D"/>
              </a:buClr>
              <a:buSzPts val="2700"/>
              <a:buFont typeface="Newsreader"/>
              <a:buNone/>
            </a:pPr>
            <a:r>
              <a:rPr lang="en-US" sz="2700" b="0" i="0" u="none" strike="noStrike" cap="none">
                <a:solidFill>
                  <a:srgbClr val="2A231D"/>
                </a:solidFill>
                <a:latin typeface="Newsreader"/>
                <a:ea typeface="Newsreader"/>
                <a:cs typeface="Newsreader"/>
                <a:sym typeface="Newsreader"/>
              </a:rPr>
              <a:t>“La programación ha muerto”</a:t>
            </a:r>
            <a:endParaRPr sz="2700" b="0" i="0" u="none" strike="noStrike" cap="none">
              <a:solidFill>
                <a:schemeClr val="dk1"/>
              </a:solidFill>
              <a:latin typeface="Calibri"/>
              <a:ea typeface="Calibri"/>
              <a:cs typeface="Calibri"/>
              <a:sym typeface="Calibri"/>
            </a:endParaRPr>
          </a:p>
        </p:txBody>
      </p:sp>
      <p:sp>
        <p:nvSpPr>
          <p:cNvPr id="29" name="Google Shape;29;p4"/>
          <p:cNvSpPr/>
          <p:nvPr/>
        </p:nvSpPr>
        <p:spPr>
          <a:xfrm>
            <a:off x="1303020" y="3828222"/>
            <a:ext cx="7617000" cy="998100"/>
          </a:xfrm>
          <a:prstGeom prst="rect">
            <a:avLst/>
          </a:prstGeom>
          <a:noFill/>
          <a:ln>
            <a:noFill/>
          </a:ln>
        </p:spPr>
        <p:txBody>
          <a:bodyPr spcFirstLastPara="1" wrap="square" lIns="25400" tIns="25400" rIns="25400" bIns="25400" anchor="t" anchorCtr="0">
            <a:noAutofit/>
          </a:bodyPr>
          <a:lstStyle/>
          <a:p>
            <a:pPr marL="0" marR="0" lvl="0" indent="0" algn="l" rtl="0">
              <a:lnSpc>
                <a:spcPct val="140000"/>
              </a:lnSpc>
              <a:spcBef>
                <a:spcPts val="0"/>
              </a:spcBef>
              <a:spcAft>
                <a:spcPts val="0"/>
              </a:spcAft>
              <a:buClr>
                <a:srgbClr val="5E564B"/>
              </a:buClr>
              <a:buSzPts val="1800"/>
              <a:buFont typeface="Arial"/>
              <a:buNone/>
            </a:pPr>
            <a:r>
              <a:rPr lang="en-US" sz="1800" b="0" i="0" u="none" strike="noStrike" cap="none">
                <a:solidFill>
                  <a:srgbClr val="5E564B"/>
                </a:solidFill>
                <a:latin typeface="Arial"/>
                <a:ea typeface="Arial"/>
                <a:cs typeface="Arial"/>
                <a:sym typeface="Arial"/>
              </a:rPr>
              <a:t>Los agoreros dicen que la IA acaba con el trabajo. La realidad: el nivel base subió y el código repetitivo se volvió barato.  </a:t>
            </a:r>
            <a:r>
              <a:rPr lang="en-US" sz="1800">
                <a:solidFill>
                  <a:srgbClr val="5E564B"/>
                </a:solidFill>
              </a:rPr>
              <a:t>P</a:t>
            </a:r>
            <a:r>
              <a:rPr lang="en-US" sz="1800" b="0" i="0" u="none" strike="noStrike" cap="none">
                <a:solidFill>
                  <a:srgbClr val="5E564B"/>
                </a:solidFill>
                <a:latin typeface="Arial"/>
                <a:ea typeface="Arial"/>
                <a:cs typeface="Arial"/>
                <a:sym typeface="Arial"/>
              </a:rPr>
              <a:t>ero el software es más que teclear, y la demanda de personas que entienden los sistemas no está disminuyendo.</a:t>
            </a:r>
            <a:endParaRPr sz="1800" b="0" i="0" u="none" strike="noStrike" cap="none">
              <a:solidFill>
                <a:schemeClr val="dk1"/>
              </a:solidFill>
              <a:latin typeface="Calibri"/>
              <a:ea typeface="Calibri"/>
              <a:cs typeface="Calibri"/>
              <a:sym typeface="Calibri"/>
            </a:endParaRPr>
          </a:p>
        </p:txBody>
      </p:sp>
      <p:sp>
        <p:nvSpPr>
          <p:cNvPr id="30" name="Google Shape;30;p4"/>
          <p:cNvSpPr/>
          <p:nvPr/>
        </p:nvSpPr>
        <p:spPr>
          <a:xfrm>
            <a:off x="9277350" y="3078480"/>
            <a:ext cx="8020200" cy="2413500"/>
          </a:xfrm>
          <a:prstGeom prst="roundRect">
            <a:avLst>
              <a:gd name="adj" fmla="val 6314"/>
            </a:avLst>
          </a:prstGeom>
          <a:solidFill>
            <a:srgbClr val="FBF8F1"/>
          </a:solidFill>
          <a:ln w="9525" cap="flat" cmpd="sng">
            <a:solidFill>
              <a:srgbClr val="E0D8C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4"/>
          <p:cNvSpPr/>
          <p:nvPr/>
        </p:nvSpPr>
        <p:spPr>
          <a:xfrm>
            <a:off x="9589770" y="3353877"/>
            <a:ext cx="8134800" cy="398100"/>
          </a:xfrm>
          <a:prstGeom prst="rect">
            <a:avLst/>
          </a:prstGeom>
          <a:noFill/>
          <a:ln>
            <a:noFill/>
          </a:ln>
        </p:spPr>
        <p:txBody>
          <a:bodyPr spcFirstLastPara="1" wrap="square" lIns="25400" tIns="25400" rIns="25400" bIns="25400" anchor="t" anchorCtr="0">
            <a:noAutofit/>
          </a:bodyPr>
          <a:lstStyle/>
          <a:p>
            <a:pPr marL="0" marR="0" lvl="0" indent="0" algn="l" rtl="0">
              <a:lnSpc>
                <a:spcPct val="105000"/>
              </a:lnSpc>
              <a:spcBef>
                <a:spcPts val="0"/>
              </a:spcBef>
              <a:spcAft>
                <a:spcPts val="0"/>
              </a:spcAft>
              <a:buClr>
                <a:srgbClr val="2A231D"/>
              </a:buClr>
              <a:buSzPts val="2700"/>
              <a:buFont typeface="Newsreader"/>
              <a:buNone/>
            </a:pPr>
            <a:r>
              <a:rPr lang="en-US" sz="2700" b="0" i="0" u="none" strike="noStrike" cap="none">
                <a:solidFill>
                  <a:srgbClr val="2A231D"/>
                </a:solidFill>
                <a:latin typeface="Newsreader"/>
                <a:ea typeface="Newsreader"/>
                <a:cs typeface="Newsreader"/>
                <a:sym typeface="Newsreader"/>
              </a:rPr>
              <a:t>Curanderismo digital y youtuberismo</a:t>
            </a:r>
            <a:endParaRPr sz="2700" b="0" i="0" u="none" strike="noStrike" cap="none">
              <a:solidFill>
                <a:schemeClr val="dk1"/>
              </a:solidFill>
              <a:latin typeface="Calibri"/>
              <a:ea typeface="Calibri"/>
              <a:cs typeface="Calibri"/>
              <a:sym typeface="Calibri"/>
            </a:endParaRPr>
          </a:p>
        </p:txBody>
      </p:sp>
      <p:sp>
        <p:nvSpPr>
          <p:cNvPr id="32" name="Google Shape;32;p4"/>
          <p:cNvSpPr/>
          <p:nvPr/>
        </p:nvSpPr>
        <p:spPr>
          <a:xfrm>
            <a:off x="9589770" y="3828222"/>
            <a:ext cx="7617000" cy="678300"/>
          </a:xfrm>
          <a:prstGeom prst="rect">
            <a:avLst/>
          </a:prstGeom>
          <a:noFill/>
          <a:ln>
            <a:noFill/>
          </a:ln>
        </p:spPr>
        <p:txBody>
          <a:bodyPr spcFirstLastPara="1" wrap="square" lIns="25400" tIns="25400" rIns="25400" bIns="25400" anchor="t" anchorCtr="0">
            <a:noAutofit/>
          </a:bodyPr>
          <a:lstStyle/>
          <a:p>
            <a:pPr marL="0" marR="0" lvl="0" indent="0" algn="l" rtl="0">
              <a:lnSpc>
                <a:spcPct val="140000"/>
              </a:lnSpc>
              <a:spcBef>
                <a:spcPts val="0"/>
              </a:spcBef>
              <a:spcAft>
                <a:spcPts val="0"/>
              </a:spcAft>
              <a:buClr>
                <a:srgbClr val="5E564B"/>
              </a:buClr>
              <a:buSzPts val="1800"/>
              <a:buFont typeface="Arial"/>
              <a:buNone/>
            </a:pPr>
            <a:r>
              <a:rPr lang="en-US" sz="1800" b="0" i="0" u="none" strike="noStrike" cap="none" dirty="0">
                <a:solidFill>
                  <a:srgbClr val="5E564B"/>
                </a:solidFill>
                <a:latin typeface="Arial"/>
                <a:ea typeface="Arial"/>
                <a:cs typeface="Arial"/>
                <a:sym typeface="Arial"/>
              </a:rPr>
              <a:t>Los influencers </a:t>
            </a:r>
            <a:r>
              <a:rPr lang="en-US" sz="1800" b="0" i="0" u="none" strike="noStrike" cap="none" dirty="0" err="1">
                <a:solidFill>
                  <a:srgbClr val="5E564B"/>
                </a:solidFill>
                <a:latin typeface="Arial"/>
                <a:ea typeface="Arial"/>
                <a:cs typeface="Arial"/>
                <a:sym typeface="Arial"/>
              </a:rPr>
              <a:t>dicen</a:t>
            </a:r>
            <a:r>
              <a:rPr lang="en-US" sz="1800" b="0" i="0" u="none" strike="noStrike" cap="none" dirty="0">
                <a:solidFill>
                  <a:srgbClr val="5E564B"/>
                </a:solidFill>
                <a:latin typeface="Arial"/>
                <a:ea typeface="Arial"/>
                <a:cs typeface="Arial"/>
                <a:sym typeface="Arial"/>
              </a:rPr>
              <a:t> </a:t>
            </a:r>
            <a:r>
              <a:rPr lang="en-US" sz="1800" b="0" i="0" u="none" strike="noStrike" cap="none" dirty="0" err="1">
                <a:solidFill>
                  <a:srgbClr val="5E564B"/>
                </a:solidFill>
                <a:latin typeface="Arial"/>
                <a:ea typeface="Arial"/>
                <a:cs typeface="Arial"/>
                <a:sym typeface="Arial"/>
              </a:rPr>
              <a:t>que</a:t>
            </a:r>
            <a:r>
              <a:rPr lang="en-US" sz="1800" b="0" i="0" u="none" strike="noStrike" cap="none" dirty="0">
                <a:solidFill>
                  <a:srgbClr val="5E564B"/>
                </a:solidFill>
                <a:latin typeface="Arial"/>
                <a:ea typeface="Arial"/>
                <a:cs typeface="Arial"/>
                <a:sym typeface="Arial"/>
              </a:rPr>
              <a:t> </a:t>
            </a:r>
            <a:r>
              <a:rPr lang="en-US" sz="1800" b="0" i="0" u="none" strike="noStrike" cap="none" dirty="0" err="1">
                <a:solidFill>
                  <a:srgbClr val="5E564B"/>
                </a:solidFill>
                <a:latin typeface="Arial"/>
                <a:ea typeface="Arial"/>
                <a:cs typeface="Arial"/>
                <a:sym typeface="Arial"/>
              </a:rPr>
              <a:t>los</a:t>
            </a:r>
            <a:r>
              <a:rPr lang="en-US" sz="1800" b="0" i="0" u="none" strike="noStrike" cap="none" dirty="0">
                <a:solidFill>
                  <a:srgbClr val="5E564B"/>
                </a:solidFill>
                <a:latin typeface="Arial"/>
                <a:ea typeface="Arial"/>
                <a:cs typeface="Arial"/>
                <a:sym typeface="Arial"/>
              </a:rPr>
              <a:t> prompts </a:t>
            </a:r>
            <a:r>
              <a:rPr lang="en-US" sz="1800" b="0" i="0" u="none" strike="noStrike" cap="none" dirty="0" err="1">
                <a:solidFill>
                  <a:srgbClr val="5E564B"/>
                </a:solidFill>
                <a:latin typeface="Arial"/>
                <a:ea typeface="Arial"/>
                <a:cs typeface="Arial"/>
                <a:sym typeface="Arial"/>
              </a:rPr>
              <a:t>reemplazan</a:t>
            </a:r>
            <a:r>
              <a:rPr lang="en-US" sz="1800" b="0" i="0" u="none" strike="noStrike" cap="none" dirty="0">
                <a:solidFill>
                  <a:srgbClr val="5E564B"/>
                </a:solidFill>
                <a:latin typeface="Arial"/>
                <a:ea typeface="Arial"/>
                <a:cs typeface="Arial"/>
                <a:sym typeface="Arial"/>
              </a:rPr>
              <a:t> a </a:t>
            </a:r>
            <a:r>
              <a:rPr lang="en-US" sz="1800" b="0" i="0" u="none" strike="noStrike" cap="none" dirty="0" err="1">
                <a:solidFill>
                  <a:srgbClr val="5E564B"/>
                </a:solidFill>
                <a:latin typeface="Arial"/>
                <a:ea typeface="Arial"/>
                <a:cs typeface="Arial"/>
                <a:sym typeface="Arial"/>
              </a:rPr>
              <a:t>los</a:t>
            </a:r>
            <a:r>
              <a:rPr lang="en-US" sz="1800" b="0" i="0" u="none" strike="noStrike" cap="none" dirty="0">
                <a:solidFill>
                  <a:srgbClr val="5E564B"/>
                </a:solidFill>
                <a:latin typeface="Arial"/>
                <a:ea typeface="Arial"/>
                <a:cs typeface="Arial"/>
                <a:sym typeface="Arial"/>
              </a:rPr>
              <a:t> </a:t>
            </a:r>
            <a:r>
              <a:rPr lang="en-US" sz="1800" b="0" i="0" u="none" strike="noStrike" cap="none" dirty="0" err="1">
                <a:solidFill>
                  <a:srgbClr val="5E564B"/>
                </a:solidFill>
                <a:latin typeface="Arial"/>
                <a:ea typeface="Arial"/>
                <a:cs typeface="Arial"/>
                <a:sym typeface="Arial"/>
              </a:rPr>
              <a:t>ingenieros</a:t>
            </a:r>
            <a:r>
              <a:rPr lang="en-US" sz="1800" b="0" i="0" u="none" strike="noStrike" cap="none" dirty="0">
                <a:solidFill>
                  <a:srgbClr val="5E564B"/>
                </a:solidFill>
                <a:latin typeface="Arial"/>
                <a:ea typeface="Arial"/>
                <a:cs typeface="Arial"/>
                <a:sym typeface="Arial"/>
              </a:rPr>
              <a:t>. Venden </a:t>
            </a:r>
            <a:r>
              <a:rPr lang="en-US" sz="1800" b="0" i="0" u="none" strike="noStrike" cap="none" dirty="0" err="1">
                <a:solidFill>
                  <a:srgbClr val="5E564B"/>
                </a:solidFill>
                <a:latin typeface="Arial"/>
                <a:ea typeface="Arial"/>
                <a:cs typeface="Arial"/>
                <a:sym typeface="Arial"/>
              </a:rPr>
              <a:t>cursos</a:t>
            </a:r>
            <a:r>
              <a:rPr lang="en-US" sz="1800" b="0" i="0" u="none" strike="noStrike" cap="none" dirty="0">
                <a:solidFill>
                  <a:srgbClr val="5E564B"/>
                </a:solidFill>
                <a:latin typeface="Arial"/>
                <a:ea typeface="Arial"/>
                <a:cs typeface="Arial"/>
                <a:sym typeface="Arial"/>
              </a:rPr>
              <a:t>/</a:t>
            </a:r>
            <a:r>
              <a:rPr lang="en-US" sz="1800" b="0" i="0" u="none" strike="noStrike" cap="none" dirty="0" err="1">
                <a:solidFill>
                  <a:srgbClr val="5E564B"/>
                </a:solidFill>
                <a:latin typeface="Arial"/>
                <a:ea typeface="Arial"/>
                <a:cs typeface="Arial"/>
                <a:sym typeface="Arial"/>
              </a:rPr>
              <a:t>seminarios</a:t>
            </a:r>
            <a:r>
              <a:rPr lang="en-US" sz="1800" b="0" i="0" u="none" strike="noStrike" cap="none" dirty="0">
                <a:solidFill>
                  <a:srgbClr val="5E564B"/>
                </a:solidFill>
                <a:latin typeface="Arial"/>
                <a:ea typeface="Arial"/>
                <a:cs typeface="Arial"/>
                <a:sym typeface="Arial"/>
              </a:rPr>
              <a:t>, no </a:t>
            </a:r>
            <a:r>
              <a:rPr lang="en-US" sz="1800" b="0" i="0" u="none" strike="noStrike" cap="none" dirty="0" err="1">
                <a:solidFill>
                  <a:srgbClr val="5E564B"/>
                </a:solidFill>
                <a:latin typeface="Arial"/>
                <a:ea typeface="Arial"/>
                <a:cs typeface="Arial"/>
                <a:sym typeface="Arial"/>
              </a:rPr>
              <a:t>resultados</a:t>
            </a:r>
            <a:r>
              <a:rPr lang="en-US" sz="1800" b="0" i="0" u="none" strike="noStrike" cap="none" dirty="0">
                <a:solidFill>
                  <a:srgbClr val="5E564B"/>
                </a:solidFill>
                <a:latin typeface="Arial"/>
                <a:ea typeface="Arial"/>
                <a:cs typeface="Arial"/>
                <a:sym typeface="Arial"/>
              </a:rPr>
              <a:t>. </a:t>
            </a:r>
            <a:r>
              <a:rPr lang="en-US" sz="1800" b="0" i="0" u="none" strike="noStrike" cap="none" dirty="0" err="1">
                <a:solidFill>
                  <a:srgbClr val="5E564B"/>
                </a:solidFill>
                <a:latin typeface="Arial"/>
                <a:ea typeface="Arial"/>
                <a:cs typeface="Arial"/>
                <a:sym typeface="Arial"/>
              </a:rPr>
              <a:t>Ignora</a:t>
            </a:r>
            <a:r>
              <a:rPr lang="en-US" sz="1800" b="0" i="0" u="none" strike="noStrike" cap="none" dirty="0">
                <a:solidFill>
                  <a:srgbClr val="5E564B"/>
                </a:solidFill>
                <a:latin typeface="Arial"/>
                <a:ea typeface="Arial"/>
                <a:cs typeface="Arial"/>
                <a:sym typeface="Arial"/>
              </a:rPr>
              <a:t> las </a:t>
            </a:r>
            <a:r>
              <a:rPr lang="en-US" sz="1800" b="0" i="0" u="none" strike="noStrike" cap="none" dirty="0" err="1">
                <a:solidFill>
                  <a:srgbClr val="5E564B"/>
                </a:solidFill>
                <a:latin typeface="Arial"/>
                <a:ea typeface="Arial"/>
                <a:cs typeface="Arial"/>
                <a:sym typeface="Arial"/>
              </a:rPr>
              <a:t>miniaturas</a:t>
            </a:r>
            <a:r>
              <a:rPr lang="en-US" sz="1800" b="0" i="0" u="none" strike="noStrike" cap="none" dirty="0">
                <a:solidFill>
                  <a:srgbClr val="5E564B"/>
                </a:solidFill>
                <a:latin typeface="Arial"/>
                <a:ea typeface="Arial"/>
                <a:cs typeface="Arial"/>
                <a:sym typeface="Arial"/>
              </a:rPr>
              <a:t>; </a:t>
            </a:r>
            <a:r>
              <a:rPr lang="en-US" sz="1800" b="0" i="0" u="none" strike="noStrike" cap="none" dirty="0" err="1">
                <a:solidFill>
                  <a:srgbClr val="5E564B"/>
                </a:solidFill>
                <a:latin typeface="Arial"/>
                <a:ea typeface="Arial"/>
                <a:cs typeface="Arial"/>
                <a:sym typeface="Arial"/>
              </a:rPr>
              <a:t>observa</a:t>
            </a:r>
            <a:r>
              <a:rPr lang="en-US" sz="1800" b="0" i="0" u="none" strike="noStrike" cap="none" dirty="0">
                <a:solidFill>
                  <a:srgbClr val="5E564B"/>
                </a:solidFill>
                <a:latin typeface="Arial"/>
                <a:ea typeface="Arial"/>
                <a:cs typeface="Arial"/>
                <a:sym typeface="Arial"/>
              </a:rPr>
              <a:t> lo </a:t>
            </a:r>
            <a:r>
              <a:rPr lang="en-US" sz="1800" b="0" i="0" u="none" strike="noStrike" cap="none" dirty="0" err="1">
                <a:solidFill>
                  <a:srgbClr val="5E564B"/>
                </a:solidFill>
                <a:latin typeface="Arial"/>
                <a:ea typeface="Arial"/>
                <a:cs typeface="Arial"/>
                <a:sym typeface="Arial"/>
              </a:rPr>
              <a:t>que</a:t>
            </a:r>
            <a:r>
              <a:rPr lang="en-US" sz="1800" b="0" i="0" u="none" strike="noStrike" cap="none" dirty="0">
                <a:solidFill>
                  <a:srgbClr val="5E564B"/>
                </a:solidFill>
                <a:latin typeface="Arial"/>
                <a:ea typeface="Arial"/>
                <a:cs typeface="Arial"/>
                <a:sym typeface="Arial"/>
              </a:rPr>
              <a:t> </a:t>
            </a:r>
            <a:r>
              <a:rPr lang="en-US" sz="1800" b="0" i="0" u="none" strike="noStrike" cap="none" dirty="0" err="1">
                <a:solidFill>
                  <a:srgbClr val="5E564B"/>
                </a:solidFill>
                <a:latin typeface="Arial"/>
                <a:ea typeface="Arial"/>
                <a:cs typeface="Arial"/>
                <a:sym typeface="Arial"/>
              </a:rPr>
              <a:t>realmente</a:t>
            </a:r>
            <a:r>
              <a:rPr lang="en-US" sz="1800" b="0" i="0" u="none" strike="noStrike" cap="none" dirty="0">
                <a:solidFill>
                  <a:srgbClr val="5E564B"/>
                </a:solidFill>
                <a:latin typeface="Arial"/>
                <a:ea typeface="Arial"/>
                <a:cs typeface="Arial"/>
                <a:sym typeface="Arial"/>
              </a:rPr>
              <a:t> se </a:t>
            </a:r>
            <a:r>
              <a:rPr lang="en-US" sz="1800" b="0" i="0" u="none" strike="noStrike" cap="none" dirty="0" err="1">
                <a:solidFill>
                  <a:srgbClr val="5E564B"/>
                </a:solidFill>
                <a:latin typeface="Arial"/>
                <a:ea typeface="Arial"/>
                <a:cs typeface="Arial"/>
                <a:sym typeface="Arial"/>
              </a:rPr>
              <a:t>lanza</a:t>
            </a:r>
            <a:r>
              <a:rPr lang="en-US" sz="1800" b="0" i="0" u="none" strike="noStrike" cap="none" dirty="0">
                <a:solidFill>
                  <a:srgbClr val="5E564B"/>
                </a:solidFill>
                <a:latin typeface="Arial"/>
                <a:ea typeface="Arial"/>
                <a:cs typeface="Arial"/>
                <a:sym typeface="Arial"/>
              </a:rPr>
              <a:t>.</a:t>
            </a:r>
            <a:endParaRPr sz="1800" b="0" i="0" u="none" strike="noStrike" cap="none" dirty="0">
              <a:solidFill>
                <a:schemeClr val="dk1"/>
              </a:solidFill>
              <a:latin typeface="Calibri"/>
              <a:ea typeface="Calibri"/>
              <a:cs typeface="Calibri"/>
              <a:sym typeface="Calibri"/>
            </a:endParaRPr>
          </a:p>
        </p:txBody>
      </p:sp>
      <p:sp>
        <p:nvSpPr>
          <p:cNvPr id="33" name="Google Shape;33;p4"/>
          <p:cNvSpPr/>
          <p:nvPr/>
        </p:nvSpPr>
        <p:spPr>
          <a:xfrm>
            <a:off x="990600" y="5873115"/>
            <a:ext cx="16306800" cy="3651900"/>
          </a:xfrm>
          <a:prstGeom prst="roundRect">
            <a:avLst>
              <a:gd name="adj" fmla="val 4173"/>
            </a:avLst>
          </a:prstGeom>
          <a:solidFill>
            <a:srgbClr val="2A231D"/>
          </a:solidFill>
          <a:ln w="9525" cap="flat" cmpd="sng">
            <a:solidFill>
              <a:srgbClr val="2A23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4"/>
          <p:cNvSpPr/>
          <p:nvPr/>
        </p:nvSpPr>
        <p:spPr>
          <a:xfrm>
            <a:off x="1379220" y="6777514"/>
            <a:ext cx="17082600" cy="518100"/>
          </a:xfrm>
          <a:prstGeom prst="rect">
            <a:avLst/>
          </a:prstGeom>
          <a:noFill/>
          <a:ln>
            <a:noFill/>
          </a:ln>
        </p:spPr>
        <p:txBody>
          <a:bodyPr spcFirstLastPara="1" wrap="square" lIns="25400" tIns="25400" rIns="25400" bIns="25400" anchor="t" anchorCtr="0">
            <a:noAutofit/>
          </a:bodyPr>
          <a:lstStyle/>
          <a:p>
            <a:pPr marL="0" marR="0" lvl="0" indent="0" algn="l" rtl="0">
              <a:lnSpc>
                <a:spcPct val="105000"/>
              </a:lnSpc>
              <a:spcBef>
                <a:spcPts val="0"/>
              </a:spcBef>
              <a:spcAft>
                <a:spcPts val="0"/>
              </a:spcAft>
              <a:buClr>
                <a:srgbClr val="F4EEE4"/>
              </a:buClr>
              <a:buSzPts val="3600"/>
              <a:buFont typeface="Newsreader"/>
              <a:buNone/>
            </a:pPr>
            <a:r>
              <a:rPr lang="en-US" sz="3600" b="0" i="0" u="none" strike="noStrike" cap="none">
                <a:solidFill>
                  <a:srgbClr val="F4EEE4"/>
                </a:solidFill>
                <a:latin typeface="Newsreader"/>
                <a:ea typeface="Newsreader"/>
                <a:cs typeface="Newsreader"/>
                <a:sym typeface="Newsreader"/>
              </a:rPr>
              <a:t>La IA es un cambio real de productividad, no un reemplazo.</a:t>
            </a:r>
            <a:endParaRPr sz="3600" b="0" i="0" u="none" strike="noStrike" cap="none">
              <a:solidFill>
                <a:schemeClr val="dk1"/>
              </a:solidFill>
              <a:latin typeface="Calibri"/>
              <a:ea typeface="Calibri"/>
              <a:cs typeface="Calibri"/>
              <a:sym typeface="Calibri"/>
            </a:endParaRPr>
          </a:p>
        </p:txBody>
      </p:sp>
      <p:sp>
        <p:nvSpPr>
          <p:cNvPr id="35" name="Google Shape;35;p4"/>
          <p:cNvSpPr/>
          <p:nvPr/>
        </p:nvSpPr>
        <p:spPr>
          <a:xfrm>
            <a:off x="1379225" y="7390925"/>
            <a:ext cx="15827400" cy="1595100"/>
          </a:xfrm>
          <a:prstGeom prst="rect">
            <a:avLst/>
          </a:prstGeom>
          <a:noFill/>
          <a:ln>
            <a:noFill/>
          </a:ln>
        </p:spPr>
        <p:txBody>
          <a:bodyPr spcFirstLastPara="1" wrap="square" lIns="25400" tIns="25400" rIns="25400" bIns="25400" anchor="t" anchorCtr="0">
            <a:noAutofit/>
          </a:bodyPr>
          <a:lstStyle/>
          <a:p>
            <a:pPr marL="0" marR="0" lvl="0" indent="0" algn="l" rtl="0">
              <a:lnSpc>
                <a:spcPct val="145000"/>
              </a:lnSpc>
              <a:spcBef>
                <a:spcPts val="0"/>
              </a:spcBef>
              <a:spcAft>
                <a:spcPts val="0"/>
              </a:spcAft>
              <a:buClr>
                <a:srgbClr val="D8CDBD"/>
              </a:buClr>
              <a:buSzPts val="2025"/>
              <a:buFont typeface="Arial"/>
              <a:buNone/>
            </a:pPr>
            <a:r>
              <a:rPr lang="en-US" sz="2525" b="0" i="0" u="none" strike="noStrike" cap="none">
                <a:solidFill>
                  <a:srgbClr val="D8CDBD"/>
                </a:solidFill>
                <a:latin typeface="Arial"/>
                <a:ea typeface="Arial"/>
                <a:cs typeface="Arial"/>
                <a:sym typeface="Arial"/>
              </a:rPr>
              <a:t>Quienes ganan la combinan con ingeniería real. Java ya impulsa los sistemas empresariales a l</a:t>
            </a:r>
            <a:r>
              <a:rPr lang="en-US" sz="2525">
                <a:solidFill>
                  <a:srgbClr val="D8CDBD"/>
                </a:solidFill>
              </a:rPr>
              <a:t>os que la IA </a:t>
            </a:r>
            <a:r>
              <a:rPr lang="en-US" sz="2525" b="0" i="0" u="none" strike="noStrike" cap="none">
                <a:solidFill>
                  <a:srgbClr val="D8CDBD"/>
                </a:solidFill>
                <a:latin typeface="Arial"/>
                <a:ea typeface="Arial"/>
                <a:cs typeface="Arial"/>
                <a:sym typeface="Arial"/>
              </a:rPr>
              <a:t>necesita conectarse.</a:t>
            </a:r>
            <a:endParaRPr sz="2525" b="0" i="0" u="none" strike="noStrike" cap="none">
              <a:solidFill>
                <a:srgbClr val="D8CDBD"/>
              </a:solidFill>
              <a:latin typeface="Arial"/>
              <a:ea typeface="Arial"/>
              <a:cs typeface="Arial"/>
              <a:sym typeface="Arial"/>
            </a:endParaRPr>
          </a:p>
          <a:p>
            <a:pPr marL="0" marR="0" lvl="0" indent="0" algn="l" rtl="0">
              <a:lnSpc>
                <a:spcPct val="145000"/>
              </a:lnSpc>
              <a:spcBef>
                <a:spcPts val="0"/>
              </a:spcBef>
              <a:spcAft>
                <a:spcPts val="0"/>
              </a:spcAft>
              <a:buClr>
                <a:srgbClr val="D8CDBD"/>
              </a:buClr>
              <a:buSzPts val="2025"/>
              <a:buFont typeface="Arial"/>
              <a:buNone/>
            </a:pPr>
            <a:r>
              <a:rPr lang="en-US" sz="2525">
                <a:solidFill>
                  <a:srgbClr val="D8CDBD"/>
                </a:solidFill>
              </a:rPr>
              <a:t>E</a:t>
            </a:r>
            <a:r>
              <a:rPr lang="en-US" sz="2525" b="0" i="0" u="none" strike="noStrike" cap="none">
                <a:solidFill>
                  <a:srgbClr val="D8CDBD"/>
                </a:solidFill>
                <a:latin typeface="Arial"/>
                <a:ea typeface="Arial"/>
                <a:cs typeface="Arial"/>
                <a:sym typeface="Arial"/>
              </a:rPr>
              <a:t>l </a:t>
            </a:r>
            <a:r>
              <a:rPr lang="en-US" sz="2525" b="1" i="0" u="none" strike="noStrike" cap="none">
                <a:solidFill>
                  <a:srgbClr val="F4EEE4"/>
                </a:solidFill>
                <a:latin typeface="Arial"/>
                <a:ea typeface="Arial"/>
                <a:cs typeface="Arial"/>
                <a:sym typeface="Arial"/>
              </a:rPr>
              <a:t>valor de la IA </a:t>
            </a:r>
            <a:r>
              <a:rPr lang="en-US" sz="2525" b="0" i="0" u="none" strike="noStrike" cap="none">
                <a:solidFill>
                  <a:srgbClr val="D8CDBD"/>
                </a:solidFill>
                <a:latin typeface="Arial"/>
                <a:ea typeface="Arial"/>
                <a:cs typeface="Arial"/>
                <a:sym typeface="Arial"/>
              </a:rPr>
              <a:t>se multiplica con el </a:t>
            </a:r>
            <a:r>
              <a:rPr lang="en-US" sz="2525" b="1" i="0" u="none" strike="noStrike" cap="none">
                <a:solidFill>
                  <a:srgbClr val="F4EEE4"/>
                </a:solidFill>
                <a:latin typeface="Arial"/>
                <a:ea typeface="Arial"/>
                <a:cs typeface="Arial"/>
                <a:sym typeface="Arial"/>
              </a:rPr>
              <a:t>valor de Java</a:t>
            </a:r>
            <a:r>
              <a:rPr lang="en-US" sz="2525" b="1">
                <a:solidFill>
                  <a:srgbClr val="F4EEE4"/>
                </a:solidFill>
              </a:rPr>
              <a:t>.</a:t>
            </a:r>
            <a:endParaRPr sz="2525"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EEE4"/>
        </a:solidFill>
        <a:effectLst/>
      </p:bgPr>
    </p:bg>
    <p:spTree>
      <p:nvGrpSpPr>
        <p:cNvPr id="1" name="Shape 42"/>
        <p:cNvGrpSpPr/>
        <p:nvPr/>
      </p:nvGrpSpPr>
      <p:grpSpPr>
        <a:xfrm>
          <a:off x="0" y="0"/>
          <a:ext cx="0" cy="0"/>
          <a:chOff x="0" y="0"/>
          <a:chExt cx="0" cy="0"/>
        </a:xfrm>
      </p:grpSpPr>
      <p:sp>
        <p:nvSpPr>
          <p:cNvPr id="43" name="Google Shape;43;p5"/>
          <p:cNvSpPr/>
          <p:nvPr/>
        </p:nvSpPr>
        <p:spPr>
          <a:xfrm>
            <a:off x="16384667" y="762000"/>
            <a:ext cx="912600" cy="388500"/>
          </a:xfrm>
          <a:prstGeom prst="roundRect">
            <a:avLst>
              <a:gd name="adj" fmla="val 50000"/>
            </a:avLst>
          </a:prstGeom>
          <a:noFill/>
          <a:ln w="9525" cap="flat" cmpd="sng">
            <a:solidFill>
              <a:srgbClr val="DDD4C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5"/>
          <p:cNvSpPr/>
          <p:nvPr/>
        </p:nvSpPr>
        <p:spPr>
          <a:xfrm>
            <a:off x="990600" y="1474470"/>
            <a:ext cx="17937600" cy="762000"/>
          </a:xfrm>
          <a:prstGeom prst="rect">
            <a:avLst/>
          </a:prstGeom>
          <a:noFill/>
          <a:ln>
            <a:noFill/>
          </a:ln>
        </p:spPr>
        <p:txBody>
          <a:bodyPr spcFirstLastPara="1" wrap="square" lIns="25400" tIns="25400" rIns="25400" bIns="25400" anchor="t" anchorCtr="0">
            <a:noAutofit/>
          </a:bodyPr>
          <a:lstStyle/>
          <a:p>
            <a:pPr marL="0" marR="0" lvl="0" indent="0" algn="l" rtl="0">
              <a:lnSpc>
                <a:spcPct val="100000"/>
              </a:lnSpc>
              <a:spcBef>
                <a:spcPts val="0"/>
              </a:spcBef>
              <a:spcAft>
                <a:spcPts val="0"/>
              </a:spcAft>
              <a:buClr>
                <a:srgbClr val="2A231D"/>
              </a:buClr>
              <a:buSzPts val="5700"/>
              <a:buFont typeface="Newsreader"/>
              <a:buNone/>
            </a:pPr>
            <a:r>
              <a:rPr lang="en-US" sz="5700" b="0" i="0" u="none" strike="noStrike" cap="none">
                <a:solidFill>
                  <a:srgbClr val="2A231D"/>
                </a:solidFill>
                <a:latin typeface="Newsreader"/>
                <a:ea typeface="Newsreader"/>
                <a:cs typeface="Newsreader"/>
                <a:sym typeface="Newsreader"/>
              </a:rPr>
              <a:t>Por qué Java importa en la era de la IA</a:t>
            </a:r>
            <a:endParaRPr sz="5700" b="0" i="0" u="none" strike="noStrike" cap="none">
              <a:solidFill>
                <a:schemeClr val="dk1"/>
              </a:solidFill>
              <a:latin typeface="Calibri"/>
              <a:ea typeface="Calibri"/>
              <a:cs typeface="Calibri"/>
              <a:sym typeface="Calibri"/>
            </a:endParaRPr>
          </a:p>
        </p:txBody>
      </p:sp>
      <p:sp>
        <p:nvSpPr>
          <p:cNvPr id="45" name="Google Shape;45;p5"/>
          <p:cNvSpPr/>
          <p:nvPr/>
        </p:nvSpPr>
        <p:spPr>
          <a:xfrm>
            <a:off x="990600" y="2312670"/>
            <a:ext cx="17937600" cy="36570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5E564B"/>
              </a:buClr>
              <a:buSzPts val="2250"/>
              <a:buFont typeface="Arial"/>
              <a:buNone/>
            </a:pPr>
            <a:r>
              <a:rPr lang="en-US" sz="2250" b="0" i="0" u="none" strike="noStrike" cap="none">
                <a:solidFill>
                  <a:srgbClr val="5E564B"/>
                </a:solidFill>
                <a:latin typeface="Arial"/>
                <a:ea typeface="Arial"/>
                <a:cs typeface="Arial"/>
                <a:sym typeface="Arial"/>
              </a:rPr>
              <a:t>La IA no se ejecuta en notebooks en producción. Se ejecuta donde </a:t>
            </a:r>
            <a:r>
              <a:rPr lang="en-US" sz="2250">
                <a:solidFill>
                  <a:srgbClr val="5E564B"/>
                </a:solidFill>
              </a:rPr>
              <a:t>ya viven las aplicaciones </a:t>
            </a:r>
            <a:r>
              <a:rPr lang="en-US" sz="2250" b="0" i="0" u="none" strike="noStrike" cap="none">
                <a:solidFill>
                  <a:srgbClr val="5E564B"/>
                </a:solidFill>
                <a:latin typeface="Arial"/>
                <a:ea typeface="Arial"/>
                <a:cs typeface="Arial"/>
                <a:sym typeface="Arial"/>
              </a:rPr>
              <a:t>empresariales</a:t>
            </a:r>
            <a:r>
              <a:rPr lang="en-US" sz="2250">
                <a:solidFill>
                  <a:srgbClr val="5E564B"/>
                </a:solidFill>
              </a:rPr>
              <a:t>. E</a:t>
            </a:r>
            <a:r>
              <a:rPr lang="en-US" sz="2250" b="0" i="0" u="none" strike="noStrike" cap="none">
                <a:solidFill>
                  <a:srgbClr val="5E564B"/>
                </a:solidFill>
                <a:latin typeface="Arial"/>
                <a:ea typeface="Arial"/>
                <a:cs typeface="Arial"/>
                <a:sym typeface="Arial"/>
              </a:rPr>
              <a:t>so es Java.</a:t>
            </a:r>
            <a:endParaRPr sz="2250" b="0" i="0" u="none" strike="noStrike" cap="none">
              <a:solidFill>
                <a:schemeClr val="dk1"/>
              </a:solidFill>
              <a:latin typeface="Calibri"/>
              <a:ea typeface="Calibri"/>
              <a:cs typeface="Calibri"/>
              <a:sym typeface="Calibri"/>
            </a:endParaRPr>
          </a:p>
        </p:txBody>
      </p:sp>
      <p:sp>
        <p:nvSpPr>
          <p:cNvPr id="46" name="Google Shape;46;p5"/>
          <p:cNvSpPr/>
          <p:nvPr/>
        </p:nvSpPr>
        <p:spPr>
          <a:xfrm>
            <a:off x="990600" y="2964180"/>
            <a:ext cx="8020200" cy="1678200"/>
          </a:xfrm>
          <a:prstGeom prst="roundRect">
            <a:avLst>
              <a:gd name="adj" fmla="val 9081"/>
            </a:avLst>
          </a:prstGeom>
          <a:solidFill>
            <a:srgbClr val="FBF8F1"/>
          </a:solidFill>
          <a:ln w="9525" cap="flat" cmpd="sng">
            <a:solidFill>
              <a:srgbClr val="E0D8C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5"/>
          <p:cNvSpPr/>
          <p:nvPr/>
        </p:nvSpPr>
        <p:spPr>
          <a:xfrm>
            <a:off x="1303020" y="3183007"/>
            <a:ext cx="8134800" cy="27810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897F71"/>
              </a:buClr>
              <a:buSzPts val="1275"/>
              <a:buFont typeface="Space Mono"/>
              <a:buNone/>
            </a:pPr>
            <a:r>
              <a:rPr lang="en-US" sz="2000" b="0" i="0" u="none" strike="noStrike" cap="none">
                <a:solidFill>
                  <a:srgbClr val="897F71"/>
                </a:solidFill>
                <a:latin typeface="Space Mono"/>
                <a:ea typeface="Space Mono"/>
                <a:cs typeface="Space Mono"/>
                <a:sym typeface="Space Mono"/>
              </a:rPr>
              <a:t>DÓNDE ENCAJA PYTHON</a:t>
            </a:r>
            <a:endParaRPr sz="2000" b="0" i="0" u="none" strike="noStrike" cap="none">
              <a:solidFill>
                <a:schemeClr val="dk1"/>
              </a:solidFill>
              <a:latin typeface="Calibri"/>
              <a:ea typeface="Calibri"/>
              <a:cs typeface="Calibri"/>
              <a:sym typeface="Calibri"/>
            </a:endParaRPr>
          </a:p>
        </p:txBody>
      </p:sp>
      <p:sp>
        <p:nvSpPr>
          <p:cNvPr id="48" name="Google Shape;48;p5"/>
          <p:cNvSpPr/>
          <p:nvPr/>
        </p:nvSpPr>
        <p:spPr>
          <a:xfrm>
            <a:off x="1303020" y="3630930"/>
            <a:ext cx="7617000" cy="756300"/>
          </a:xfrm>
          <a:prstGeom prst="rect">
            <a:avLst/>
          </a:prstGeom>
          <a:noFill/>
          <a:ln>
            <a:noFill/>
          </a:ln>
        </p:spPr>
        <p:txBody>
          <a:bodyPr spcFirstLastPara="1" wrap="square" lIns="25400" tIns="25400" rIns="25400" bIns="25400" anchor="t" anchorCtr="0">
            <a:noAutofit/>
          </a:bodyPr>
          <a:lstStyle/>
          <a:p>
            <a:pPr marL="0" marR="0" lvl="0" indent="0" algn="l" rtl="0">
              <a:lnSpc>
                <a:spcPct val="145000"/>
              </a:lnSpc>
              <a:spcBef>
                <a:spcPts val="0"/>
              </a:spcBef>
              <a:spcAft>
                <a:spcPts val="0"/>
              </a:spcAft>
              <a:buClr>
                <a:srgbClr val="3F3A32"/>
              </a:buClr>
              <a:buSzPts val="1950"/>
              <a:buFont typeface="Arial"/>
              <a:buNone/>
            </a:pPr>
            <a:r>
              <a:rPr lang="en-US" sz="1950" b="0" i="0" u="none" strike="noStrike" cap="none">
                <a:solidFill>
                  <a:srgbClr val="3F3A32"/>
                </a:solidFill>
                <a:latin typeface="Arial"/>
                <a:ea typeface="Arial"/>
                <a:cs typeface="Arial"/>
                <a:sym typeface="Arial"/>
              </a:rPr>
              <a:t>Investigación, entrenamiento de modelos, ciencia de datos, notebooks, la vanguardia de las herramientas de ML.</a:t>
            </a:r>
            <a:endParaRPr sz="1950" b="0" i="0" u="none" strike="noStrike" cap="none">
              <a:solidFill>
                <a:schemeClr val="dk1"/>
              </a:solidFill>
              <a:latin typeface="Calibri"/>
              <a:ea typeface="Calibri"/>
              <a:cs typeface="Calibri"/>
              <a:sym typeface="Calibri"/>
            </a:endParaRPr>
          </a:p>
        </p:txBody>
      </p:sp>
      <p:sp>
        <p:nvSpPr>
          <p:cNvPr id="49" name="Google Shape;49;p5"/>
          <p:cNvSpPr/>
          <p:nvPr/>
        </p:nvSpPr>
        <p:spPr>
          <a:xfrm>
            <a:off x="9277350" y="2964180"/>
            <a:ext cx="8020200" cy="1678200"/>
          </a:xfrm>
          <a:prstGeom prst="roundRect">
            <a:avLst>
              <a:gd name="adj" fmla="val 9081"/>
            </a:avLst>
          </a:prstGeom>
          <a:solidFill>
            <a:srgbClr val="FBF8F1"/>
          </a:solidFill>
          <a:ln w="9525" cap="flat" cmpd="sng">
            <a:solidFill>
              <a:srgbClr val="DCAE9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5"/>
          <p:cNvSpPr/>
          <p:nvPr/>
        </p:nvSpPr>
        <p:spPr>
          <a:xfrm>
            <a:off x="9589770" y="3183007"/>
            <a:ext cx="8134800" cy="27810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BF5A3C"/>
              </a:buClr>
              <a:buSzPts val="1275"/>
              <a:buFont typeface="Space Mono"/>
              <a:buNone/>
            </a:pPr>
            <a:r>
              <a:rPr lang="en-US" sz="2000" b="0" i="0" u="none" strike="noStrike" cap="none">
                <a:solidFill>
                  <a:srgbClr val="BF5A3C"/>
                </a:solidFill>
                <a:latin typeface="Space Mono"/>
                <a:ea typeface="Space Mono"/>
                <a:cs typeface="Space Mono"/>
                <a:sym typeface="Space Mono"/>
              </a:rPr>
              <a:t>DÓNDE ENCAJA JAVA</a:t>
            </a:r>
            <a:endParaRPr sz="2000" b="0" i="0" u="none" strike="noStrike" cap="none">
              <a:solidFill>
                <a:schemeClr val="dk1"/>
              </a:solidFill>
              <a:latin typeface="Calibri"/>
              <a:ea typeface="Calibri"/>
              <a:cs typeface="Calibri"/>
              <a:sym typeface="Calibri"/>
            </a:endParaRPr>
          </a:p>
        </p:txBody>
      </p:sp>
      <p:sp>
        <p:nvSpPr>
          <p:cNvPr id="51" name="Google Shape;51;p5"/>
          <p:cNvSpPr/>
          <p:nvPr/>
        </p:nvSpPr>
        <p:spPr>
          <a:xfrm>
            <a:off x="9589770" y="3630930"/>
            <a:ext cx="7617000" cy="756300"/>
          </a:xfrm>
          <a:prstGeom prst="rect">
            <a:avLst/>
          </a:prstGeom>
          <a:noFill/>
          <a:ln>
            <a:noFill/>
          </a:ln>
        </p:spPr>
        <p:txBody>
          <a:bodyPr spcFirstLastPara="1" wrap="square" lIns="25400" tIns="25400" rIns="25400" bIns="25400" anchor="t" anchorCtr="0">
            <a:noAutofit/>
          </a:bodyPr>
          <a:lstStyle/>
          <a:p>
            <a:pPr marL="0" marR="0" lvl="0" indent="0" algn="l" rtl="0">
              <a:lnSpc>
                <a:spcPct val="145000"/>
              </a:lnSpc>
              <a:spcBef>
                <a:spcPts val="0"/>
              </a:spcBef>
              <a:spcAft>
                <a:spcPts val="0"/>
              </a:spcAft>
              <a:buClr>
                <a:srgbClr val="3F3A32"/>
              </a:buClr>
              <a:buSzPts val="1950"/>
              <a:buFont typeface="Arial"/>
              <a:buNone/>
            </a:pPr>
            <a:r>
              <a:rPr lang="en-US" sz="1950" b="0" i="0" u="none" strike="noStrike" cap="none">
                <a:solidFill>
                  <a:srgbClr val="3F3A32"/>
                </a:solidFill>
                <a:latin typeface="Arial"/>
                <a:ea typeface="Arial"/>
                <a:cs typeface="Arial"/>
                <a:sym typeface="Arial"/>
              </a:rPr>
              <a:t>Producción e integración empresarial, concurrencia, escala, seguridad de tipos, </a:t>
            </a:r>
            <a:r>
              <a:rPr lang="en-US" sz="1950" b="1" i="1" u="none" strike="noStrike" cap="none">
                <a:solidFill>
                  <a:srgbClr val="3F3A32"/>
                </a:solidFill>
              </a:rPr>
              <a:t>seguridad</a:t>
            </a:r>
            <a:r>
              <a:rPr lang="en-US" sz="1950" b="0" i="0" u="none" strike="noStrike" cap="none">
                <a:solidFill>
                  <a:srgbClr val="3F3A32"/>
                </a:solidFill>
                <a:latin typeface="Arial"/>
                <a:ea typeface="Arial"/>
                <a:cs typeface="Arial"/>
                <a:sym typeface="Arial"/>
              </a:rPr>
              <a:t>, sistemas de registro.</a:t>
            </a:r>
            <a:endParaRPr sz="1950" b="0" i="0" u="none" strike="noStrike" cap="none">
              <a:solidFill>
                <a:schemeClr val="dk1"/>
              </a:solidFill>
              <a:latin typeface="Calibri"/>
              <a:ea typeface="Calibri"/>
              <a:cs typeface="Calibri"/>
              <a:sym typeface="Calibri"/>
            </a:endParaRPr>
          </a:p>
        </p:txBody>
      </p:sp>
      <p:sp>
        <p:nvSpPr>
          <p:cNvPr id="52" name="Google Shape;52;p5"/>
          <p:cNvSpPr/>
          <p:nvPr/>
        </p:nvSpPr>
        <p:spPr>
          <a:xfrm>
            <a:off x="990600" y="4966335"/>
            <a:ext cx="16306800" cy="4558800"/>
          </a:xfrm>
          <a:prstGeom prst="roundRect">
            <a:avLst>
              <a:gd name="adj" fmla="val 3343"/>
            </a:avLst>
          </a:prstGeom>
          <a:solidFill>
            <a:srgbClr val="FBF8F1"/>
          </a:solidFill>
          <a:ln w="9525" cap="flat" cmpd="sng">
            <a:solidFill>
              <a:srgbClr val="E0D8C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900"/>
          </a:p>
        </p:txBody>
      </p:sp>
      <p:sp>
        <p:nvSpPr>
          <p:cNvPr id="53" name="Google Shape;53;p5"/>
          <p:cNvSpPr/>
          <p:nvPr/>
        </p:nvSpPr>
        <p:spPr>
          <a:xfrm>
            <a:off x="2548505" y="5107638"/>
            <a:ext cx="6268500" cy="76200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897F71"/>
              </a:buClr>
              <a:buSzPts val="1275"/>
              <a:buFont typeface="Space Mono"/>
              <a:buNone/>
            </a:pPr>
            <a:r>
              <a:rPr lang="en-US" sz="3000" b="1" i="0" u="none" strike="noStrike" cap="none">
                <a:solidFill>
                  <a:srgbClr val="897F71"/>
                </a:solidFill>
                <a:latin typeface="Space Mono"/>
                <a:ea typeface="Space Mono"/>
                <a:cs typeface="Space Mono"/>
                <a:sym typeface="Space Mono"/>
              </a:rPr>
              <a:t>EL STACK DE IA PARA JAVA</a:t>
            </a:r>
            <a:endParaRPr sz="3000" b="1" i="0" u="none" strike="noStrike" cap="none">
              <a:solidFill>
                <a:schemeClr val="dk1"/>
              </a:solidFill>
              <a:latin typeface="Calibri"/>
              <a:ea typeface="Calibri"/>
              <a:cs typeface="Calibri"/>
              <a:sym typeface="Calibri"/>
            </a:endParaRPr>
          </a:p>
        </p:txBody>
      </p:sp>
      <p:sp>
        <p:nvSpPr>
          <p:cNvPr id="54" name="Google Shape;54;p5"/>
          <p:cNvSpPr/>
          <p:nvPr/>
        </p:nvSpPr>
        <p:spPr>
          <a:xfrm>
            <a:off x="8405480" y="5339775"/>
            <a:ext cx="2836500" cy="921900"/>
          </a:xfrm>
          <a:prstGeom prst="roundRect">
            <a:avLst>
              <a:gd name="adj" fmla="val 16667"/>
            </a:avLst>
          </a:prstGeom>
          <a:solidFill>
            <a:schemeClr val="lt2"/>
          </a:solidFill>
          <a:ln w="19050" cap="flat" cmpd="sng">
            <a:solidFill>
              <a:schemeClr val="dk2"/>
            </a:solidFill>
            <a:prstDash val="solid"/>
            <a:round/>
            <a:headEnd type="none" w="sm" len="sm"/>
            <a:tailEnd type="none" w="sm" len="sm"/>
          </a:ln>
          <a:effectLst>
            <a:outerShdw blurRad="57150" dist="114300" dir="5400000" algn="bl" rotWithShape="0">
              <a:srgbClr val="000000">
                <a:alpha val="50000"/>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2400"/>
              <a:t>Aplicación</a:t>
            </a:r>
            <a:endParaRPr sz="2400"/>
          </a:p>
        </p:txBody>
      </p:sp>
      <p:sp>
        <p:nvSpPr>
          <p:cNvPr id="55" name="Google Shape;55;p5"/>
          <p:cNvSpPr/>
          <p:nvPr/>
        </p:nvSpPr>
        <p:spPr>
          <a:xfrm>
            <a:off x="8405480" y="6261675"/>
            <a:ext cx="2836500" cy="921900"/>
          </a:xfrm>
          <a:prstGeom prst="roundRect">
            <a:avLst>
              <a:gd name="adj" fmla="val 16667"/>
            </a:avLst>
          </a:prstGeom>
          <a:solidFill>
            <a:schemeClr val="lt2"/>
          </a:solidFill>
          <a:ln w="19050" cap="flat" cmpd="sng">
            <a:solidFill>
              <a:schemeClr val="dk2"/>
            </a:solidFill>
            <a:prstDash val="solid"/>
            <a:round/>
            <a:headEnd type="none" w="sm" len="sm"/>
            <a:tailEnd type="none" w="sm" len="sm"/>
          </a:ln>
          <a:effectLst>
            <a:outerShdw blurRad="57150" dist="114300" dir="5400000" algn="bl" rotWithShape="0">
              <a:srgbClr val="000000">
                <a:alpha val="50000"/>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2400"/>
              <a:t>Orquestación</a:t>
            </a:r>
            <a:endParaRPr sz="2400"/>
          </a:p>
        </p:txBody>
      </p:sp>
      <p:sp>
        <p:nvSpPr>
          <p:cNvPr id="56" name="Google Shape;56;p5"/>
          <p:cNvSpPr/>
          <p:nvPr/>
        </p:nvSpPr>
        <p:spPr>
          <a:xfrm>
            <a:off x="8405480" y="7198613"/>
            <a:ext cx="2836500" cy="921900"/>
          </a:xfrm>
          <a:prstGeom prst="roundRect">
            <a:avLst>
              <a:gd name="adj" fmla="val 16667"/>
            </a:avLst>
          </a:prstGeom>
          <a:solidFill>
            <a:schemeClr val="lt2"/>
          </a:solidFill>
          <a:ln w="19050" cap="flat" cmpd="sng">
            <a:solidFill>
              <a:schemeClr val="dk2"/>
            </a:solidFill>
            <a:prstDash val="solid"/>
            <a:round/>
            <a:headEnd type="none" w="sm" len="sm"/>
            <a:tailEnd type="none" w="sm" len="sm"/>
          </a:ln>
          <a:effectLst>
            <a:outerShdw blurRad="57150" dist="114300" dir="5400000" algn="bl" rotWithShape="0">
              <a:srgbClr val="000000">
                <a:alpha val="50000"/>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2400"/>
              <a:t>Modelos de lenguaje</a:t>
            </a:r>
            <a:endParaRPr sz="2400"/>
          </a:p>
        </p:txBody>
      </p:sp>
      <p:sp>
        <p:nvSpPr>
          <p:cNvPr id="57" name="Google Shape;57;p5"/>
          <p:cNvSpPr/>
          <p:nvPr/>
        </p:nvSpPr>
        <p:spPr>
          <a:xfrm>
            <a:off x="8405480" y="8139103"/>
            <a:ext cx="2836500" cy="921900"/>
          </a:xfrm>
          <a:prstGeom prst="roundRect">
            <a:avLst>
              <a:gd name="adj" fmla="val 16667"/>
            </a:avLst>
          </a:prstGeom>
          <a:solidFill>
            <a:schemeClr val="lt2"/>
          </a:solidFill>
          <a:ln w="19050" cap="flat" cmpd="sng">
            <a:solidFill>
              <a:schemeClr val="dk2"/>
            </a:solidFill>
            <a:prstDash val="solid"/>
            <a:round/>
            <a:headEnd type="none" w="sm" len="sm"/>
            <a:tailEnd type="none" w="sm" len="sm"/>
          </a:ln>
          <a:effectLst>
            <a:outerShdw blurRad="57150" dist="114300" dir="5400000" algn="bl" rotWithShape="0">
              <a:srgbClr val="000000">
                <a:alpha val="50000"/>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2400"/>
              <a:t>BD vectorial</a:t>
            </a:r>
            <a:endParaRPr sz="2400"/>
          </a:p>
        </p:txBody>
      </p:sp>
      <p:sp>
        <p:nvSpPr>
          <p:cNvPr id="58" name="Google Shape;58;p5"/>
          <p:cNvSpPr/>
          <p:nvPr/>
        </p:nvSpPr>
        <p:spPr>
          <a:xfrm>
            <a:off x="11384455" y="8182150"/>
            <a:ext cx="2367300" cy="835800"/>
          </a:xfrm>
          <a:prstGeom prst="ellipse">
            <a:avLst/>
          </a:prstGeom>
          <a:solidFill>
            <a:schemeClr val="lt2"/>
          </a:solidFill>
          <a:ln w="19050" cap="flat" cmpd="sng">
            <a:solidFill>
              <a:schemeClr val="dk2"/>
            </a:solidFill>
            <a:prstDash val="solid"/>
            <a:round/>
            <a:headEnd type="none" w="sm" len="sm"/>
            <a:tailEnd type="none" w="sm" len="sm"/>
          </a:ln>
          <a:effectLst>
            <a:outerShdw blurRad="57150" dist="114300" dir="5400000" algn="bl" rotWithShape="0">
              <a:srgbClr val="000000">
                <a:alpha val="50000"/>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US" sz="2400"/>
              <a:t>Tus datos</a:t>
            </a:r>
            <a:endParaRPr sz="2400"/>
          </a:p>
        </p:txBody>
      </p:sp>
      <p:sp>
        <p:nvSpPr>
          <p:cNvPr id="59" name="Google Shape;59;p5"/>
          <p:cNvSpPr/>
          <p:nvPr/>
        </p:nvSpPr>
        <p:spPr>
          <a:xfrm>
            <a:off x="10879880" y="8469600"/>
            <a:ext cx="824700" cy="238800"/>
          </a:xfrm>
          <a:prstGeom prst="leftRightArrow">
            <a:avLst>
              <a:gd name="adj1" fmla="val 50000"/>
              <a:gd name="adj2" fmla="val 50000"/>
            </a:avLst>
          </a:prstGeom>
          <a:solidFill>
            <a:schemeClr val="lt2"/>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0" name="Google Shape;60;p5"/>
          <p:cNvSpPr txBox="1"/>
          <p:nvPr/>
        </p:nvSpPr>
        <p:spPr>
          <a:xfrm>
            <a:off x="11384450" y="6497775"/>
            <a:ext cx="5592900" cy="54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000"/>
              <a:t>LangChain4j, Spring AI, Quarkus, Embabel, etc.</a:t>
            </a:r>
            <a:endParaRPr sz="2000"/>
          </a:p>
        </p:txBody>
      </p:sp>
      <p:sp>
        <p:nvSpPr>
          <p:cNvPr id="61" name="Google Shape;61;p5"/>
          <p:cNvSpPr txBox="1"/>
          <p:nvPr/>
        </p:nvSpPr>
        <p:spPr>
          <a:xfrm>
            <a:off x="11393846" y="7418191"/>
            <a:ext cx="4126200" cy="54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000"/>
              <a:t>Fundacionales, locales</a:t>
            </a:r>
            <a:endParaRPr sz="2000"/>
          </a:p>
        </p:txBody>
      </p:sp>
      <p:sp>
        <p:nvSpPr>
          <p:cNvPr id="62" name="Google Shape;62;p5"/>
          <p:cNvSpPr txBox="1"/>
          <p:nvPr/>
        </p:nvSpPr>
        <p:spPr>
          <a:xfrm>
            <a:off x="11393850" y="5427378"/>
            <a:ext cx="5192400" cy="76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000"/>
              <a:t>Spring, Quarkus, Micronaut, Jakarta, </a:t>
            </a:r>
            <a:endParaRPr sz="2000"/>
          </a:p>
          <a:p>
            <a:pPr marL="0" lvl="0" indent="0" algn="l" rtl="0">
              <a:spcBef>
                <a:spcPts val="0"/>
              </a:spcBef>
              <a:spcAft>
                <a:spcPts val="0"/>
              </a:spcAft>
              <a:buNone/>
            </a:pPr>
            <a:r>
              <a:rPr lang="en-US" sz="2000"/>
              <a:t>Integración MCP</a:t>
            </a:r>
            <a:endParaRPr sz="20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EEE4"/>
        </a:solidFill>
        <a:effectLst/>
      </p:bgPr>
    </p:bg>
    <p:spTree>
      <p:nvGrpSpPr>
        <p:cNvPr id="1" name="Shape 67"/>
        <p:cNvGrpSpPr/>
        <p:nvPr/>
      </p:nvGrpSpPr>
      <p:grpSpPr>
        <a:xfrm>
          <a:off x="0" y="0"/>
          <a:ext cx="0" cy="0"/>
          <a:chOff x="0" y="0"/>
          <a:chExt cx="0" cy="0"/>
        </a:xfrm>
      </p:grpSpPr>
      <p:sp>
        <p:nvSpPr>
          <p:cNvPr id="68" name="Google Shape;68;p6"/>
          <p:cNvSpPr/>
          <p:nvPr/>
        </p:nvSpPr>
        <p:spPr>
          <a:xfrm>
            <a:off x="16384667" y="762000"/>
            <a:ext cx="912733" cy="388620"/>
          </a:xfrm>
          <a:prstGeom prst="roundRect">
            <a:avLst>
              <a:gd name="adj" fmla="val 50000"/>
            </a:avLst>
          </a:prstGeom>
          <a:noFill/>
          <a:ln w="9525" cap="flat" cmpd="sng">
            <a:solidFill>
              <a:srgbClr val="DDD4C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6"/>
          <p:cNvSpPr/>
          <p:nvPr/>
        </p:nvSpPr>
        <p:spPr>
          <a:xfrm>
            <a:off x="990600" y="1436370"/>
            <a:ext cx="17937480" cy="762000"/>
          </a:xfrm>
          <a:prstGeom prst="rect">
            <a:avLst/>
          </a:prstGeom>
          <a:noFill/>
          <a:ln>
            <a:noFill/>
          </a:ln>
        </p:spPr>
        <p:txBody>
          <a:bodyPr spcFirstLastPara="1" wrap="square" lIns="25400" tIns="25400" rIns="25400" bIns="25400" anchor="t" anchorCtr="0">
            <a:noAutofit/>
          </a:bodyPr>
          <a:lstStyle/>
          <a:p>
            <a:pPr marL="0" marR="0" lvl="0" indent="0" algn="l" rtl="0">
              <a:lnSpc>
                <a:spcPct val="100000"/>
              </a:lnSpc>
              <a:spcBef>
                <a:spcPts val="0"/>
              </a:spcBef>
              <a:spcAft>
                <a:spcPts val="0"/>
              </a:spcAft>
              <a:buClr>
                <a:srgbClr val="2A231D"/>
              </a:buClr>
              <a:buSzPts val="5700"/>
              <a:buFont typeface="Newsreader"/>
              <a:buNone/>
            </a:pPr>
            <a:r>
              <a:rPr lang="en-US" sz="5700" b="0" i="0" u="none" strike="noStrike" cap="none">
                <a:solidFill>
                  <a:srgbClr val="2A231D"/>
                </a:solidFill>
                <a:latin typeface="Newsreader"/>
                <a:ea typeface="Newsreader"/>
                <a:cs typeface="Newsreader"/>
                <a:sym typeface="Newsreader"/>
              </a:rPr>
              <a:t>Conceptos de IA que debes conocer</a:t>
            </a:r>
            <a:endParaRPr sz="5700" b="0" i="0" u="none" strike="noStrike" cap="none">
              <a:solidFill>
                <a:schemeClr val="dk1"/>
              </a:solidFill>
              <a:latin typeface="Calibri"/>
              <a:ea typeface="Calibri"/>
              <a:cs typeface="Calibri"/>
              <a:sym typeface="Calibri"/>
            </a:endParaRPr>
          </a:p>
        </p:txBody>
      </p:sp>
      <p:sp>
        <p:nvSpPr>
          <p:cNvPr id="70" name="Google Shape;70;p6"/>
          <p:cNvSpPr/>
          <p:nvPr/>
        </p:nvSpPr>
        <p:spPr>
          <a:xfrm>
            <a:off x="990600" y="2274570"/>
            <a:ext cx="17937480" cy="36576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5E564B"/>
              </a:buClr>
              <a:buSzPts val="2250"/>
              <a:buFont typeface="Arial"/>
              <a:buNone/>
            </a:pPr>
            <a:r>
              <a:rPr lang="en-US" sz="2250" b="0" i="0" u="none" strike="noStrike" cap="none">
                <a:solidFill>
                  <a:srgbClr val="5E564B"/>
                </a:solidFill>
                <a:latin typeface="Arial"/>
                <a:ea typeface="Arial"/>
                <a:cs typeface="Arial"/>
                <a:sym typeface="Arial"/>
              </a:rPr>
              <a:t>Empieza con los conceptos </a:t>
            </a:r>
            <a:r>
              <a:rPr lang="en-US" sz="2250">
                <a:solidFill>
                  <a:srgbClr val="5E564B"/>
                </a:solidFill>
              </a:rPr>
              <a:t>fundamentales.  C</a:t>
            </a:r>
            <a:r>
              <a:rPr lang="en-US" sz="2250" b="0" i="0" u="none" strike="noStrike" cap="none">
                <a:solidFill>
                  <a:srgbClr val="5E564B"/>
                </a:solidFill>
                <a:latin typeface="Arial"/>
                <a:ea typeface="Arial"/>
                <a:cs typeface="Arial"/>
                <a:sym typeface="Arial"/>
              </a:rPr>
              <a:t>ómo se comporta </a:t>
            </a:r>
            <a:r>
              <a:rPr lang="en-US" sz="2250">
                <a:solidFill>
                  <a:srgbClr val="5E564B"/>
                </a:solidFill>
              </a:rPr>
              <a:t>un</a:t>
            </a:r>
            <a:r>
              <a:rPr lang="en-US" sz="2250" b="0" i="0" u="none" strike="noStrike" cap="none">
                <a:solidFill>
                  <a:srgbClr val="5E564B"/>
                </a:solidFill>
                <a:latin typeface="Arial"/>
                <a:ea typeface="Arial"/>
                <a:cs typeface="Arial"/>
                <a:sym typeface="Arial"/>
              </a:rPr>
              <a:t> modelo y cómo fundamentarlo en tus datos.</a:t>
            </a:r>
            <a:endParaRPr sz="2250" b="0" i="0" u="none" strike="noStrike" cap="none">
              <a:solidFill>
                <a:schemeClr val="dk1"/>
              </a:solidFill>
              <a:latin typeface="Calibri"/>
              <a:ea typeface="Calibri"/>
              <a:cs typeface="Calibri"/>
              <a:sym typeface="Calibri"/>
            </a:endParaRPr>
          </a:p>
        </p:txBody>
      </p:sp>
      <p:sp>
        <p:nvSpPr>
          <p:cNvPr id="71" name="Google Shape;71;p6"/>
          <p:cNvSpPr/>
          <p:nvPr/>
        </p:nvSpPr>
        <p:spPr>
          <a:xfrm>
            <a:off x="561975" y="2887974"/>
            <a:ext cx="8020200" cy="3197700"/>
          </a:xfrm>
          <a:prstGeom prst="roundRect">
            <a:avLst>
              <a:gd name="adj" fmla="val 5602"/>
            </a:avLst>
          </a:prstGeom>
          <a:solidFill>
            <a:srgbClr val="FBF8F1"/>
          </a:solidFill>
          <a:ln w="9525" cap="flat" cmpd="sng">
            <a:solidFill>
              <a:srgbClr val="E0D8C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6"/>
          <p:cNvSpPr/>
          <p:nvPr/>
        </p:nvSpPr>
        <p:spPr>
          <a:xfrm>
            <a:off x="874395" y="3181350"/>
            <a:ext cx="8134800" cy="27810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897F71"/>
              </a:buClr>
              <a:buSzPts val="1275"/>
              <a:buFont typeface="Space Mono"/>
              <a:buNone/>
            </a:pPr>
            <a:r>
              <a:rPr lang="en-US" sz="1275" b="0" i="0" u="none" strike="noStrike" cap="none">
                <a:solidFill>
                  <a:srgbClr val="897F71"/>
                </a:solidFill>
                <a:latin typeface="Space Mono"/>
                <a:ea typeface="Space Mono"/>
                <a:cs typeface="Space Mono"/>
                <a:sym typeface="Space Mono"/>
              </a:rPr>
              <a:t>EL MODELO</a:t>
            </a:r>
            <a:endParaRPr sz="1275" b="0" i="0" u="none" strike="noStrike" cap="none">
              <a:solidFill>
                <a:schemeClr val="dk1"/>
              </a:solidFill>
              <a:latin typeface="Calibri"/>
              <a:ea typeface="Calibri"/>
              <a:cs typeface="Calibri"/>
              <a:sym typeface="Calibri"/>
            </a:endParaRPr>
          </a:p>
        </p:txBody>
      </p:sp>
      <p:sp>
        <p:nvSpPr>
          <p:cNvPr id="73" name="Google Shape;73;p6"/>
          <p:cNvSpPr/>
          <p:nvPr/>
        </p:nvSpPr>
        <p:spPr>
          <a:xfrm>
            <a:off x="874400" y="3386998"/>
            <a:ext cx="8134800" cy="544800"/>
          </a:xfrm>
          <a:prstGeom prst="rect">
            <a:avLst/>
          </a:prstGeom>
          <a:noFill/>
          <a:ln>
            <a:noFill/>
          </a:ln>
        </p:spPr>
        <p:txBody>
          <a:bodyPr spcFirstLastPara="1" wrap="square" lIns="25400" tIns="25400" rIns="25400" bIns="25400" anchor="t" anchorCtr="0">
            <a:noAutofit/>
          </a:bodyPr>
          <a:lstStyle/>
          <a:p>
            <a:pPr marL="0" marR="0" lvl="0" indent="0" algn="l" rtl="0">
              <a:lnSpc>
                <a:spcPct val="100000"/>
              </a:lnSpc>
              <a:spcBef>
                <a:spcPts val="0"/>
              </a:spcBef>
              <a:spcAft>
                <a:spcPts val="0"/>
              </a:spcAft>
              <a:buClr>
                <a:srgbClr val="2A231D"/>
              </a:buClr>
              <a:buSzPts val="3150"/>
              <a:buFont typeface="Newsreader"/>
              <a:buNone/>
            </a:pPr>
            <a:r>
              <a:rPr lang="en-US" sz="3150" b="0" i="0" u="none" strike="noStrike" cap="none">
                <a:solidFill>
                  <a:srgbClr val="2A231D"/>
                </a:solidFill>
                <a:latin typeface="Newsreader"/>
                <a:ea typeface="Newsreader"/>
                <a:cs typeface="Newsreader"/>
                <a:sym typeface="Newsreader"/>
              </a:rPr>
              <a:t>Cómo funcionan los LLM</a:t>
            </a:r>
            <a:endParaRPr sz="3150" b="0" i="0" u="none" strike="noStrike" cap="none">
              <a:solidFill>
                <a:schemeClr val="dk1"/>
              </a:solidFill>
              <a:latin typeface="Calibri"/>
              <a:ea typeface="Calibri"/>
              <a:cs typeface="Calibri"/>
              <a:sym typeface="Calibri"/>
            </a:endParaRPr>
          </a:p>
        </p:txBody>
      </p:sp>
      <p:sp>
        <p:nvSpPr>
          <p:cNvPr id="74" name="Google Shape;74;p6"/>
          <p:cNvSpPr/>
          <p:nvPr/>
        </p:nvSpPr>
        <p:spPr>
          <a:xfrm>
            <a:off x="874400" y="4050012"/>
            <a:ext cx="7617000" cy="876300"/>
          </a:xfrm>
          <a:prstGeom prst="rect">
            <a:avLst/>
          </a:prstGeom>
          <a:noFill/>
          <a:ln>
            <a:noFill/>
          </a:ln>
        </p:spPr>
        <p:txBody>
          <a:bodyPr spcFirstLastPara="1" wrap="square" lIns="25400" tIns="25400" rIns="25400" bIns="25400" anchor="t" anchorCtr="0">
            <a:noAutofit/>
          </a:bodyPr>
          <a:lstStyle/>
          <a:p>
            <a:pPr marL="0" marR="0" lvl="0" indent="0" algn="l" rtl="0">
              <a:lnSpc>
                <a:spcPct val="140000"/>
              </a:lnSpc>
              <a:spcBef>
                <a:spcPts val="0"/>
              </a:spcBef>
              <a:spcAft>
                <a:spcPts val="0"/>
              </a:spcAft>
              <a:buClr>
                <a:srgbClr val="5E564B"/>
              </a:buClr>
              <a:buSzPts val="1875"/>
              <a:buFont typeface="Arial"/>
              <a:buNone/>
            </a:pPr>
            <a:r>
              <a:rPr lang="en-US" sz="2000" b="0" i="0" u="none" strike="noStrike" cap="none">
                <a:solidFill>
                  <a:srgbClr val="5E564B"/>
                </a:solidFill>
                <a:latin typeface="Arial"/>
                <a:ea typeface="Arial"/>
                <a:cs typeface="Arial"/>
                <a:sym typeface="Arial"/>
              </a:rPr>
              <a:t>No determinista por diseño</a:t>
            </a:r>
            <a:r>
              <a:rPr lang="en-US" sz="2000">
                <a:solidFill>
                  <a:srgbClr val="5E564B"/>
                </a:solidFill>
              </a:rPr>
              <a:t>. E</a:t>
            </a:r>
            <a:r>
              <a:rPr lang="en-US" sz="2000" b="0" i="0" u="none" strike="noStrike" cap="none">
                <a:solidFill>
                  <a:srgbClr val="5E564B"/>
                </a:solidFill>
                <a:latin typeface="Arial"/>
                <a:ea typeface="Arial"/>
                <a:cs typeface="Arial"/>
                <a:sym typeface="Arial"/>
              </a:rPr>
              <a:t>l mismo prompt puede dar respuestas distintas. No lo programas, lo guías.</a:t>
            </a:r>
            <a:endParaRPr sz="2000" b="0" i="0" u="none" strike="noStrike" cap="none">
              <a:solidFill>
                <a:schemeClr val="dk1"/>
              </a:solidFill>
              <a:latin typeface="Calibri"/>
              <a:ea typeface="Calibri"/>
              <a:cs typeface="Calibri"/>
              <a:sym typeface="Calibri"/>
            </a:endParaRPr>
          </a:p>
        </p:txBody>
      </p:sp>
      <p:sp>
        <p:nvSpPr>
          <p:cNvPr id="75" name="Google Shape;75;p6"/>
          <p:cNvSpPr/>
          <p:nvPr/>
        </p:nvSpPr>
        <p:spPr>
          <a:xfrm>
            <a:off x="874395" y="5392227"/>
            <a:ext cx="1886700" cy="388500"/>
          </a:xfrm>
          <a:prstGeom prst="roundRect">
            <a:avLst>
              <a:gd name="adj" fmla="val 50000"/>
            </a:avLst>
          </a:prstGeom>
          <a:solidFill>
            <a:srgbClr val="F4EEE4"/>
          </a:solidFill>
          <a:ln w="9525" cap="flat" cmpd="sng">
            <a:solidFill>
              <a:srgbClr val="E0D8C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6"/>
          <p:cNvSpPr/>
          <p:nvPr/>
        </p:nvSpPr>
        <p:spPr>
          <a:xfrm>
            <a:off x="1034415" y="5476047"/>
            <a:ext cx="1642800" cy="25920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3F3A32"/>
              </a:buClr>
              <a:buSzPts val="1500"/>
              <a:buFont typeface="Arial"/>
              <a:buNone/>
            </a:pPr>
            <a:r>
              <a:rPr lang="en-US" sz="1500" b="1" i="0" u="none" strike="noStrike" cap="none">
                <a:solidFill>
                  <a:srgbClr val="3F3A32"/>
                </a:solidFill>
                <a:latin typeface="Arial"/>
                <a:ea typeface="Arial"/>
                <a:cs typeface="Arial"/>
                <a:sym typeface="Arial"/>
              </a:rPr>
              <a:t>No determinismo</a:t>
            </a:r>
            <a:endParaRPr sz="1500" b="0" i="0" u="none" strike="noStrike" cap="none">
              <a:solidFill>
                <a:schemeClr val="dk1"/>
              </a:solidFill>
              <a:latin typeface="Calibri"/>
              <a:ea typeface="Calibri"/>
              <a:cs typeface="Calibri"/>
              <a:sym typeface="Calibri"/>
            </a:endParaRPr>
          </a:p>
        </p:txBody>
      </p:sp>
      <p:sp>
        <p:nvSpPr>
          <p:cNvPr id="77" name="Google Shape;77;p6"/>
          <p:cNvSpPr/>
          <p:nvPr/>
        </p:nvSpPr>
        <p:spPr>
          <a:xfrm>
            <a:off x="2856250" y="5392227"/>
            <a:ext cx="1272600" cy="388500"/>
          </a:xfrm>
          <a:prstGeom prst="roundRect">
            <a:avLst>
              <a:gd name="adj" fmla="val 50000"/>
            </a:avLst>
          </a:prstGeom>
          <a:solidFill>
            <a:srgbClr val="F4EEE4"/>
          </a:solidFill>
          <a:ln w="9525" cap="flat" cmpd="sng">
            <a:solidFill>
              <a:srgbClr val="E0D8C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6"/>
          <p:cNvSpPr/>
          <p:nvPr/>
        </p:nvSpPr>
        <p:spPr>
          <a:xfrm>
            <a:off x="3016270" y="5476047"/>
            <a:ext cx="1028700" cy="25920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3F3A32"/>
              </a:buClr>
              <a:buSzPts val="1500"/>
              <a:buFont typeface="Arial"/>
              <a:buNone/>
            </a:pPr>
            <a:r>
              <a:rPr lang="en-US" sz="1500" b="1" i="0" u="none" strike="noStrike" cap="none">
                <a:solidFill>
                  <a:srgbClr val="3F3A32"/>
                </a:solidFill>
                <a:latin typeface="Arial"/>
                <a:ea typeface="Arial"/>
                <a:cs typeface="Arial"/>
                <a:sym typeface="Arial"/>
              </a:rPr>
              <a:t>Prompting</a:t>
            </a:r>
            <a:endParaRPr sz="1500" b="0" i="0" u="none" strike="noStrike" cap="none">
              <a:solidFill>
                <a:schemeClr val="dk1"/>
              </a:solidFill>
              <a:latin typeface="Calibri"/>
              <a:ea typeface="Calibri"/>
              <a:cs typeface="Calibri"/>
              <a:sym typeface="Calibri"/>
            </a:endParaRPr>
          </a:p>
        </p:txBody>
      </p:sp>
      <p:sp>
        <p:nvSpPr>
          <p:cNvPr id="79" name="Google Shape;79;p6"/>
          <p:cNvSpPr/>
          <p:nvPr/>
        </p:nvSpPr>
        <p:spPr>
          <a:xfrm>
            <a:off x="4223980" y="5392227"/>
            <a:ext cx="1029000" cy="388500"/>
          </a:xfrm>
          <a:prstGeom prst="roundRect">
            <a:avLst>
              <a:gd name="adj" fmla="val 50000"/>
            </a:avLst>
          </a:prstGeom>
          <a:solidFill>
            <a:srgbClr val="F4EEE4"/>
          </a:solidFill>
          <a:ln w="9525" cap="flat" cmpd="sng">
            <a:solidFill>
              <a:srgbClr val="E0D8C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6"/>
          <p:cNvSpPr/>
          <p:nvPr/>
        </p:nvSpPr>
        <p:spPr>
          <a:xfrm>
            <a:off x="4384000" y="5476047"/>
            <a:ext cx="785400" cy="25920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3F3A32"/>
              </a:buClr>
              <a:buSzPts val="1500"/>
              <a:buFont typeface="Arial"/>
              <a:buNone/>
            </a:pPr>
            <a:r>
              <a:rPr lang="en-US" sz="1250" b="1" i="0" u="none" strike="noStrike" cap="none">
                <a:solidFill>
                  <a:srgbClr val="3F3A32"/>
                </a:solidFill>
                <a:latin typeface="Arial"/>
                <a:ea typeface="Arial"/>
                <a:cs typeface="Arial"/>
                <a:sym typeface="Arial"/>
              </a:rPr>
              <a:t>Contexto</a:t>
            </a:r>
            <a:endParaRPr sz="1500" b="0" i="0" u="none" strike="noStrike" cap="none">
              <a:solidFill>
                <a:schemeClr val="dk1"/>
              </a:solidFill>
              <a:latin typeface="Calibri"/>
              <a:ea typeface="Calibri"/>
              <a:cs typeface="Calibri"/>
              <a:sym typeface="Calibri"/>
            </a:endParaRPr>
          </a:p>
        </p:txBody>
      </p:sp>
      <p:sp>
        <p:nvSpPr>
          <p:cNvPr id="81" name="Google Shape;81;p6"/>
          <p:cNvSpPr/>
          <p:nvPr/>
        </p:nvSpPr>
        <p:spPr>
          <a:xfrm>
            <a:off x="8848725" y="2887975"/>
            <a:ext cx="8875800" cy="3197700"/>
          </a:xfrm>
          <a:prstGeom prst="roundRect">
            <a:avLst>
              <a:gd name="adj" fmla="val 5602"/>
            </a:avLst>
          </a:prstGeom>
          <a:solidFill>
            <a:srgbClr val="FBF8F1"/>
          </a:solidFill>
          <a:ln w="9525" cap="flat" cmpd="sng">
            <a:solidFill>
              <a:srgbClr val="E0D8C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6"/>
          <p:cNvSpPr/>
          <p:nvPr/>
        </p:nvSpPr>
        <p:spPr>
          <a:xfrm>
            <a:off x="9161145" y="3181350"/>
            <a:ext cx="8134800" cy="27810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BF5A3C"/>
              </a:buClr>
              <a:buSzPts val="1275"/>
              <a:buFont typeface="Space Mono"/>
              <a:buNone/>
            </a:pPr>
            <a:r>
              <a:rPr lang="en-US" sz="1275" b="0" i="0" u="none" strike="noStrike" cap="none">
                <a:solidFill>
                  <a:srgbClr val="BF5A3C"/>
                </a:solidFill>
                <a:latin typeface="Space Mono"/>
                <a:ea typeface="Space Mono"/>
                <a:cs typeface="Space Mono"/>
                <a:sym typeface="Space Mono"/>
              </a:rPr>
              <a:t>TUS DATOS</a:t>
            </a:r>
            <a:endParaRPr sz="1275" b="0" i="0" u="none" strike="noStrike" cap="none">
              <a:solidFill>
                <a:schemeClr val="dk1"/>
              </a:solidFill>
              <a:latin typeface="Calibri"/>
              <a:ea typeface="Calibri"/>
              <a:cs typeface="Calibri"/>
              <a:sym typeface="Calibri"/>
            </a:endParaRPr>
          </a:p>
        </p:txBody>
      </p:sp>
      <p:sp>
        <p:nvSpPr>
          <p:cNvPr id="83" name="Google Shape;83;p6"/>
          <p:cNvSpPr/>
          <p:nvPr/>
        </p:nvSpPr>
        <p:spPr>
          <a:xfrm>
            <a:off x="9161150" y="3386998"/>
            <a:ext cx="8134800" cy="544800"/>
          </a:xfrm>
          <a:prstGeom prst="rect">
            <a:avLst/>
          </a:prstGeom>
          <a:noFill/>
          <a:ln>
            <a:noFill/>
          </a:ln>
        </p:spPr>
        <p:txBody>
          <a:bodyPr spcFirstLastPara="1" wrap="square" lIns="25400" tIns="25400" rIns="25400" bIns="25400" anchor="t" anchorCtr="0">
            <a:noAutofit/>
          </a:bodyPr>
          <a:lstStyle/>
          <a:p>
            <a:pPr marL="0" marR="0" lvl="0" indent="0" algn="l" rtl="0">
              <a:lnSpc>
                <a:spcPct val="100000"/>
              </a:lnSpc>
              <a:spcBef>
                <a:spcPts val="0"/>
              </a:spcBef>
              <a:spcAft>
                <a:spcPts val="0"/>
              </a:spcAft>
              <a:buClr>
                <a:srgbClr val="2A231D"/>
              </a:buClr>
              <a:buSzPts val="3150"/>
              <a:buFont typeface="Newsreader"/>
              <a:buNone/>
            </a:pPr>
            <a:r>
              <a:rPr lang="en-US" sz="3150" b="0" i="0" u="none" strike="noStrike" cap="none">
                <a:solidFill>
                  <a:srgbClr val="2A231D"/>
                </a:solidFill>
                <a:latin typeface="Newsreader"/>
                <a:ea typeface="Newsreader"/>
                <a:cs typeface="Newsreader"/>
                <a:sym typeface="Newsreader"/>
              </a:rPr>
              <a:t>RAG</a:t>
            </a:r>
            <a:endParaRPr sz="3150" b="0" i="0" u="none" strike="noStrike" cap="none">
              <a:solidFill>
                <a:schemeClr val="dk1"/>
              </a:solidFill>
              <a:latin typeface="Calibri"/>
              <a:ea typeface="Calibri"/>
              <a:cs typeface="Calibri"/>
              <a:sym typeface="Calibri"/>
            </a:endParaRPr>
          </a:p>
        </p:txBody>
      </p:sp>
      <p:sp>
        <p:nvSpPr>
          <p:cNvPr id="84" name="Google Shape;84;p6"/>
          <p:cNvSpPr/>
          <p:nvPr/>
        </p:nvSpPr>
        <p:spPr>
          <a:xfrm>
            <a:off x="9161150" y="4050000"/>
            <a:ext cx="8020200" cy="876300"/>
          </a:xfrm>
          <a:prstGeom prst="rect">
            <a:avLst/>
          </a:prstGeom>
          <a:noFill/>
          <a:ln>
            <a:noFill/>
          </a:ln>
        </p:spPr>
        <p:txBody>
          <a:bodyPr spcFirstLastPara="1" wrap="square" lIns="25400" tIns="25400" rIns="25400" bIns="25400" anchor="t" anchorCtr="0">
            <a:noAutofit/>
          </a:bodyPr>
          <a:lstStyle/>
          <a:p>
            <a:pPr marL="0" marR="0" lvl="0" indent="0" algn="l" rtl="0">
              <a:lnSpc>
                <a:spcPct val="140000"/>
              </a:lnSpc>
              <a:spcBef>
                <a:spcPts val="0"/>
              </a:spcBef>
              <a:spcAft>
                <a:spcPts val="0"/>
              </a:spcAft>
              <a:buClr>
                <a:srgbClr val="5E564B"/>
              </a:buClr>
              <a:buSzPts val="1875"/>
              <a:buFont typeface="Arial"/>
              <a:buNone/>
            </a:pPr>
            <a:r>
              <a:rPr lang="en-US" sz="2000" b="0" i="0" u="none" strike="noStrike" cap="none">
                <a:solidFill>
                  <a:srgbClr val="5E564B"/>
                </a:solidFill>
                <a:latin typeface="Arial"/>
                <a:ea typeface="Arial"/>
                <a:cs typeface="Arial"/>
                <a:sym typeface="Arial"/>
              </a:rPr>
              <a:t>La generación aumentada por recuperación (RAG) fundamenta las respuestas en tu propio contenido</a:t>
            </a:r>
            <a:r>
              <a:rPr lang="en-US" sz="2000">
                <a:solidFill>
                  <a:srgbClr val="5E564B"/>
                </a:solidFill>
              </a:rPr>
              <a:t>, </a:t>
            </a:r>
            <a:r>
              <a:rPr lang="en-US" sz="2000" b="0" i="0" u="none" strike="noStrike" cap="none">
                <a:solidFill>
                  <a:srgbClr val="5E564B"/>
                </a:solidFill>
                <a:latin typeface="Arial"/>
                <a:ea typeface="Arial"/>
                <a:cs typeface="Arial"/>
                <a:sym typeface="Arial"/>
              </a:rPr>
              <a:t>de modo que el modelo cita lo que sabes, no lo que</a:t>
            </a:r>
            <a:r>
              <a:rPr lang="en-US" sz="2000">
                <a:solidFill>
                  <a:srgbClr val="5E564B"/>
                </a:solidFill>
              </a:rPr>
              <a:t> </a:t>
            </a:r>
            <a:r>
              <a:rPr lang="en-US" sz="2000" b="0" i="0" u="none" strike="noStrike" cap="none">
                <a:solidFill>
                  <a:srgbClr val="5E564B"/>
                </a:solidFill>
                <a:latin typeface="Arial"/>
                <a:ea typeface="Arial"/>
                <a:cs typeface="Arial"/>
                <a:sym typeface="Arial"/>
              </a:rPr>
              <a:t>adivinó.</a:t>
            </a:r>
            <a:endParaRPr sz="2000" b="0" i="0" u="none" strike="noStrike" cap="none">
              <a:solidFill>
                <a:schemeClr val="dk1"/>
              </a:solidFill>
              <a:latin typeface="Calibri"/>
              <a:ea typeface="Calibri"/>
              <a:cs typeface="Calibri"/>
              <a:sym typeface="Calibri"/>
            </a:endParaRPr>
          </a:p>
        </p:txBody>
      </p:sp>
      <p:sp>
        <p:nvSpPr>
          <p:cNvPr id="85" name="Google Shape;85;p6"/>
          <p:cNvSpPr/>
          <p:nvPr/>
        </p:nvSpPr>
        <p:spPr>
          <a:xfrm>
            <a:off x="9161145" y="5392227"/>
            <a:ext cx="1177800" cy="388500"/>
          </a:xfrm>
          <a:prstGeom prst="roundRect">
            <a:avLst>
              <a:gd name="adj" fmla="val 50000"/>
            </a:avLst>
          </a:prstGeom>
          <a:solidFill>
            <a:srgbClr val="F4EEE4"/>
          </a:solidFill>
          <a:ln w="9525" cap="flat" cmpd="sng">
            <a:solidFill>
              <a:srgbClr val="E0D8C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6"/>
          <p:cNvSpPr/>
          <p:nvPr/>
        </p:nvSpPr>
        <p:spPr>
          <a:xfrm>
            <a:off x="9321165" y="5476047"/>
            <a:ext cx="933900" cy="25920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3F3A32"/>
              </a:buClr>
              <a:buSzPts val="1500"/>
              <a:buFont typeface="Arial"/>
              <a:buNone/>
            </a:pPr>
            <a:r>
              <a:rPr lang="en-US" sz="1500" b="1" i="0" u="none" strike="noStrike" cap="none">
                <a:solidFill>
                  <a:srgbClr val="3F3A32"/>
                </a:solidFill>
                <a:latin typeface="Arial"/>
                <a:ea typeface="Arial"/>
                <a:cs typeface="Arial"/>
                <a:sym typeface="Arial"/>
              </a:rPr>
              <a:t>Similitud</a:t>
            </a:r>
            <a:endParaRPr sz="1500" b="0" i="0" u="none" strike="noStrike" cap="none">
              <a:solidFill>
                <a:schemeClr val="dk1"/>
              </a:solidFill>
              <a:latin typeface="Calibri"/>
              <a:ea typeface="Calibri"/>
              <a:cs typeface="Calibri"/>
              <a:sym typeface="Calibri"/>
            </a:endParaRPr>
          </a:p>
        </p:txBody>
      </p:sp>
      <p:sp>
        <p:nvSpPr>
          <p:cNvPr id="87" name="Google Shape;87;p6"/>
          <p:cNvSpPr/>
          <p:nvPr/>
        </p:nvSpPr>
        <p:spPr>
          <a:xfrm>
            <a:off x="10434101" y="5392227"/>
            <a:ext cx="1463100" cy="388500"/>
          </a:xfrm>
          <a:prstGeom prst="roundRect">
            <a:avLst>
              <a:gd name="adj" fmla="val 50000"/>
            </a:avLst>
          </a:prstGeom>
          <a:solidFill>
            <a:srgbClr val="F4EEE4"/>
          </a:solidFill>
          <a:ln w="9525" cap="flat" cmpd="sng">
            <a:solidFill>
              <a:srgbClr val="E0D8C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6"/>
          <p:cNvSpPr/>
          <p:nvPr/>
        </p:nvSpPr>
        <p:spPr>
          <a:xfrm>
            <a:off x="10594121" y="5476047"/>
            <a:ext cx="1219200" cy="25920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3F3A32"/>
              </a:buClr>
              <a:buSzPts val="1500"/>
              <a:buFont typeface="Arial"/>
              <a:buNone/>
            </a:pPr>
            <a:r>
              <a:rPr lang="en-US" sz="1500" b="1" i="0" u="none" strike="noStrike" cap="none">
                <a:solidFill>
                  <a:srgbClr val="3F3A32"/>
                </a:solidFill>
                <a:latin typeface="Arial"/>
                <a:ea typeface="Arial"/>
                <a:cs typeface="Arial"/>
                <a:sym typeface="Arial"/>
              </a:rPr>
              <a:t>Embeddings</a:t>
            </a:r>
            <a:endParaRPr sz="1500" b="0" i="0" u="none" strike="noStrike" cap="none">
              <a:solidFill>
                <a:schemeClr val="dk1"/>
              </a:solidFill>
              <a:latin typeface="Calibri"/>
              <a:ea typeface="Calibri"/>
              <a:cs typeface="Calibri"/>
              <a:sym typeface="Calibri"/>
            </a:endParaRPr>
          </a:p>
        </p:txBody>
      </p:sp>
      <p:sp>
        <p:nvSpPr>
          <p:cNvPr id="89" name="Google Shape;89;p6"/>
          <p:cNvSpPr/>
          <p:nvPr/>
        </p:nvSpPr>
        <p:spPr>
          <a:xfrm>
            <a:off x="11992511" y="5392227"/>
            <a:ext cx="1336500" cy="388500"/>
          </a:xfrm>
          <a:prstGeom prst="roundRect">
            <a:avLst>
              <a:gd name="adj" fmla="val 50000"/>
            </a:avLst>
          </a:prstGeom>
          <a:solidFill>
            <a:srgbClr val="F4EEE4"/>
          </a:solidFill>
          <a:ln w="9525" cap="flat" cmpd="sng">
            <a:solidFill>
              <a:srgbClr val="E0D8C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6"/>
          <p:cNvSpPr/>
          <p:nvPr/>
        </p:nvSpPr>
        <p:spPr>
          <a:xfrm>
            <a:off x="12152531" y="5476047"/>
            <a:ext cx="1092600" cy="25920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3F3A32"/>
              </a:buClr>
              <a:buSzPts val="1500"/>
              <a:buFont typeface="Arial"/>
              <a:buNone/>
            </a:pPr>
            <a:r>
              <a:rPr lang="en-US" sz="1250" b="1" i="0" u="none" strike="noStrike" cap="none">
                <a:solidFill>
                  <a:srgbClr val="3F3A32"/>
                </a:solidFill>
                <a:latin typeface="Arial"/>
                <a:ea typeface="Arial"/>
                <a:cs typeface="Arial"/>
                <a:sym typeface="Arial"/>
              </a:rPr>
              <a:t>BD vectoriales</a:t>
            </a:r>
            <a:endParaRPr sz="1500" b="0" i="0" u="none" strike="noStrike" cap="none">
              <a:solidFill>
                <a:schemeClr val="dk1"/>
              </a:solidFill>
              <a:latin typeface="Calibri"/>
              <a:ea typeface="Calibri"/>
              <a:cs typeface="Calibri"/>
              <a:sym typeface="Calibri"/>
            </a:endParaRPr>
          </a:p>
        </p:txBody>
      </p:sp>
      <p:sp>
        <p:nvSpPr>
          <p:cNvPr id="91" name="Google Shape;91;p6"/>
          <p:cNvSpPr/>
          <p:nvPr/>
        </p:nvSpPr>
        <p:spPr>
          <a:xfrm>
            <a:off x="561825" y="6413580"/>
            <a:ext cx="17162700" cy="3197700"/>
          </a:xfrm>
          <a:prstGeom prst="roundRect">
            <a:avLst>
              <a:gd name="adj" fmla="val 4197"/>
            </a:avLst>
          </a:prstGeom>
          <a:solidFill>
            <a:srgbClr val="FFFFFF"/>
          </a:solidFill>
          <a:ln w="9525" cap="flat" cmpd="sng">
            <a:solidFill>
              <a:srgbClr val="E0D8C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2" name="Google Shape;92;p6"/>
          <p:cNvSpPr/>
          <p:nvPr/>
        </p:nvSpPr>
        <p:spPr>
          <a:xfrm>
            <a:off x="874400" y="6781801"/>
            <a:ext cx="12268200" cy="70470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897F71"/>
              </a:buClr>
              <a:buSzPts val="1275"/>
              <a:buFont typeface="Space Mono"/>
              <a:buNone/>
            </a:pPr>
            <a:r>
              <a:rPr lang="en-US" sz="3600" b="1" i="0" u="none" strike="noStrike" cap="none">
                <a:solidFill>
                  <a:srgbClr val="897F71"/>
                </a:solidFill>
                <a:latin typeface="Space Mono"/>
                <a:ea typeface="Space Mono"/>
                <a:cs typeface="Space Mono"/>
                <a:sym typeface="Space Mono"/>
              </a:rPr>
              <a:t>FLUJO DE RAG</a:t>
            </a:r>
            <a:endParaRPr sz="3600" b="1" i="0" u="none" strike="noStrike" cap="none">
              <a:solidFill>
                <a:schemeClr val="dk1"/>
              </a:solidFill>
              <a:latin typeface="Calibri"/>
              <a:ea typeface="Calibri"/>
              <a:cs typeface="Calibri"/>
              <a:sym typeface="Calibri"/>
            </a:endParaRPr>
          </a:p>
        </p:txBody>
      </p:sp>
      <p:sp>
        <p:nvSpPr>
          <p:cNvPr id="93" name="Google Shape;93;p6"/>
          <p:cNvSpPr/>
          <p:nvPr/>
        </p:nvSpPr>
        <p:spPr>
          <a:xfrm>
            <a:off x="1416261" y="7468075"/>
            <a:ext cx="3434536" cy="994604"/>
          </a:xfrm>
          <a:prstGeom prst="roundRect">
            <a:avLst>
              <a:gd name="adj" fmla="val 16340"/>
            </a:avLst>
          </a:prstGeom>
          <a:solidFill>
            <a:srgbClr val="F4EEE4"/>
          </a:solidFill>
          <a:ln w="9525" cap="flat" cmpd="sng">
            <a:solidFill>
              <a:srgbClr val="E0D8C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4" name="Google Shape;94;p6"/>
          <p:cNvSpPr/>
          <p:nvPr/>
        </p:nvSpPr>
        <p:spPr>
          <a:xfrm>
            <a:off x="1595331" y="7827273"/>
            <a:ext cx="2716462" cy="513426"/>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2A231D"/>
              </a:buClr>
              <a:buSzPts val="1800"/>
              <a:buFont typeface="Arial"/>
              <a:buNone/>
            </a:pPr>
            <a:r>
              <a:rPr lang="en-US" sz="1600" b="1" i="0" u="none" strike="noStrike" cap="none" dirty="0" err="1">
                <a:solidFill>
                  <a:srgbClr val="2A231D"/>
                </a:solidFill>
                <a:latin typeface="Arial"/>
                <a:ea typeface="Arial"/>
                <a:cs typeface="Arial"/>
                <a:sym typeface="Arial"/>
              </a:rPr>
              <a:t>Pregunta</a:t>
            </a:r>
            <a:endParaRPr sz="2400" b="0" i="0" u="none" strike="noStrike" cap="none" dirty="0">
              <a:solidFill>
                <a:schemeClr val="dk1"/>
              </a:solidFill>
              <a:latin typeface="Calibri"/>
              <a:ea typeface="Calibri"/>
              <a:cs typeface="Calibri"/>
              <a:sym typeface="Calibri"/>
            </a:endParaRPr>
          </a:p>
        </p:txBody>
      </p:sp>
      <p:sp>
        <p:nvSpPr>
          <p:cNvPr id="95" name="Google Shape;95;p6"/>
          <p:cNvSpPr/>
          <p:nvPr/>
        </p:nvSpPr>
        <p:spPr>
          <a:xfrm>
            <a:off x="2879361" y="7758227"/>
            <a:ext cx="873148" cy="611198"/>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BF5A3C"/>
              </a:buClr>
              <a:buSzPts val="2100"/>
              <a:buFont typeface="Arial"/>
              <a:buNone/>
            </a:pPr>
            <a:r>
              <a:rPr lang="en-US" sz="2800" b="0" i="0" u="none" strike="noStrike" cap="none">
                <a:solidFill>
                  <a:srgbClr val="BF5A3C"/>
                </a:solidFill>
                <a:latin typeface="Arial"/>
                <a:ea typeface="Arial"/>
                <a:cs typeface="Arial"/>
                <a:sym typeface="Arial"/>
              </a:rPr>
              <a:t>→</a:t>
            </a:r>
            <a:endParaRPr sz="2800" b="0" i="0" u="none" strike="noStrike" cap="none">
              <a:solidFill>
                <a:schemeClr val="dk1"/>
              </a:solidFill>
              <a:latin typeface="Calibri"/>
              <a:ea typeface="Calibri"/>
              <a:cs typeface="Calibri"/>
              <a:sym typeface="Calibri"/>
            </a:endParaRPr>
          </a:p>
        </p:txBody>
      </p:sp>
      <p:sp>
        <p:nvSpPr>
          <p:cNvPr id="96" name="Google Shape;96;p6"/>
          <p:cNvSpPr/>
          <p:nvPr/>
        </p:nvSpPr>
        <p:spPr>
          <a:xfrm>
            <a:off x="3260361" y="7468075"/>
            <a:ext cx="2852438" cy="994604"/>
          </a:xfrm>
          <a:prstGeom prst="roundRect">
            <a:avLst>
              <a:gd name="adj" fmla="val 16340"/>
            </a:avLst>
          </a:prstGeom>
          <a:solidFill>
            <a:srgbClr val="F4EEE4"/>
          </a:solidFill>
          <a:ln w="9525" cap="flat" cmpd="sng">
            <a:solidFill>
              <a:srgbClr val="E0D8C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97" name="Google Shape;97;p6"/>
          <p:cNvSpPr/>
          <p:nvPr/>
        </p:nvSpPr>
        <p:spPr>
          <a:xfrm>
            <a:off x="3439430" y="7827273"/>
            <a:ext cx="2135127" cy="513426"/>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2A231D"/>
              </a:buClr>
              <a:buSzPts val="1800"/>
              <a:buFont typeface="Arial"/>
              <a:buNone/>
            </a:pPr>
            <a:r>
              <a:rPr lang="en-US" sz="1600" b="1" i="0" u="none" strike="noStrike" cap="none" dirty="0" err="1">
                <a:solidFill>
                  <a:srgbClr val="2A231D"/>
                </a:solidFill>
                <a:latin typeface="Arial"/>
                <a:ea typeface="Arial"/>
                <a:cs typeface="Arial"/>
                <a:sym typeface="Arial"/>
              </a:rPr>
              <a:t>Vectorizar</a:t>
            </a:r>
            <a:endParaRPr sz="2400" b="0" i="0" u="none" strike="noStrike" cap="none" dirty="0">
              <a:solidFill>
                <a:schemeClr val="dk1"/>
              </a:solidFill>
              <a:latin typeface="Calibri"/>
              <a:ea typeface="Calibri"/>
              <a:cs typeface="Calibri"/>
              <a:sym typeface="Calibri"/>
            </a:endParaRPr>
          </a:p>
        </p:txBody>
      </p:sp>
      <p:sp>
        <p:nvSpPr>
          <p:cNvPr id="98" name="Google Shape;98;p6"/>
          <p:cNvSpPr/>
          <p:nvPr/>
        </p:nvSpPr>
        <p:spPr>
          <a:xfrm>
            <a:off x="4494979" y="7758227"/>
            <a:ext cx="873148" cy="611198"/>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BF5A3C"/>
              </a:buClr>
              <a:buSzPts val="2100"/>
              <a:buFont typeface="Arial"/>
              <a:buNone/>
            </a:pPr>
            <a:r>
              <a:rPr lang="en-US" sz="2800" b="0" i="0" u="none" strike="noStrike" cap="none">
                <a:solidFill>
                  <a:srgbClr val="BF5A3C"/>
                </a:solidFill>
                <a:latin typeface="Arial"/>
                <a:ea typeface="Arial"/>
                <a:cs typeface="Arial"/>
                <a:sym typeface="Arial"/>
              </a:rPr>
              <a:t>→</a:t>
            </a:r>
            <a:endParaRPr sz="2800" b="0" i="0" u="none" strike="noStrike" cap="none">
              <a:solidFill>
                <a:schemeClr val="dk1"/>
              </a:solidFill>
              <a:latin typeface="Calibri"/>
              <a:ea typeface="Calibri"/>
              <a:cs typeface="Calibri"/>
              <a:sym typeface="Calibri"/>
            </a:endParaRPr>
          </a:p>
        </p:txBody>
      </p:sp>
      <p:sp>
        <p:nvSpPr>
          <p:cNvPr id="99" name="Google Shape;99;p6"/>
          <p:cNvSpPr/>
          <p:nvPr/>
        </p:nvSpPr>
        <p:spPr>
          <a:xfrm>
            <a:off x="4875978" y="7468075"/>
            <a:ext cx="3694267" cy="994604"/>
          </a:xfrm>
          <a:prstGeom prst="roundRect">
            <a:avLst>
              <a:gd name="adj" fmla="val 16340"/>
            </a:avLst>
          </a:prstGeom>
          <a:solidFill>
            <a:srgbClr val="F4EEE4"/>
          </a:solidFill>
          <a:ln w="9525" cap="flat" cmpd="sng">
            <a:solidFill>
              <a:srgbClr val="E0D8C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0" name="Google Shape;100;p6"/>
          <p:cNvSpPr/>
          <p:nvPr/>
        </p:nvSpPr>
        <p:spPr>
          <a:xfrm>
            <a:off x="5055049" y="7827273"/>
            <a:ext cx="2976192" cy="513426"/>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2A231D"/>
              </a:buClr>
              <a:buSzPts val="1800"/>
              <a:buFont typeface="Arial"/>
              <a:buNone/>
            </a:pPr>
            <a:r>
              <a:rPr lang="en-US" sz="1600" b="1" i="0" u="none" strike="noStrike" cap="none" dirty="0">
                <a:solidFill>
                  <a:srgbClr val="2A231D"/>
                </a:solidFill>
                <a:latin typeface="Arial"/>
                <a:ea typeface="Arial"/>
                <a:cs typeface="Arial"/>
                <a:sym typeface="Arial"/>
              </a:rPr>
              <a:t>BD vectorial</a:t>
            </a:r>
            <a:endParaRPr sz="2000" b="0" i="0" u="none" strike="noStrike" cap="none" dirty="0">
              <a:solidFill>
                <a:schemeClr val="dk1"/>
              </a:solidFill>
              <a:latin typeface="Calibri"/>
              <a:ea typeface="Calibri"/>
              <a:cs typeface="Calibri"/>
              <a:sym typeface="Calibri"/>
            </a:endParaRPr>
          </a:p>
        </p:txBody>
      </p:sp>
      <p:sp>
        <p:nvSpPr>
          <p:cNvPr id="101" name="Google Shape;101;p6"/>
          <p:cNvSpPr/>
          <p:nvPr/>
        </p:nvSpPr>
        <p:spPr>
          <a:xfrm>
            <a:off x="6441115" y="7758227"/>
            <a:ext cx="873148" cy="611198"/>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BF5A3C"/>
              </a:buClr>
              <a:buSzPts val="2100"/>
              <a:buFont typeface="Arial"/>
              <a:buNone/>
            </a:pPr>
            <a:r>
              <a:rPr lang="en-US" sz="2800" b="0" i="0" u="none" strike="noStrike" cap="none">
                <a:solidFill>
                  <a:srgbClr val="BF5A3C"/>
                </a:solidFill>
                <a:latin typeface="Arial"/>
                <a:ea typeface="Arial"/>
                <a:cs typeface="Arial"/>
                <a:sym typeface="Arial"/>
              </a:rPr>
              <a:t>→</a:t>
            </a:r>
            <a:endParaRPr sz="2800" b="0" i="0" u="none" strike="noStrike" cap="none">
              <a:solidFill>
                <a:schemeClr val="dk1"/>
              </a:solidFill>
              <a:latin typeface="Calibri"/>
              <a:ea typeface="Calibri"/>
              <a:cs typeface="Calibri"/>
              <a:sym typeface="Calibri"/>
            </a:endParaRPr>
          </a:p>
        </p:txBody>
      </p:sp>
      <p:sp>
        <p:nvSpPr>
          <p:cNvPr id="102" name="Google Shape;102;p6"/>
          <p:cNvSpPr/>
          <p:nvPr/>
        </p:nvSpPr>
        <p:spPr>
          <a:xfrm>
            <a:off x="6822114" y="7468075"/>
            <a:ext cx="3209183" cy="994604"/>
          </a:xfrm>
          <a:prstGeom prst="roundRect">
            <a:avLst>
              <a:gd name="adj" fmla="val 16340"/>
            </a:avLst>
          </a:prstGeom>
          <a:solidFill>
            <a:srgbClr val="F4EEE4"/>
          </a:solidFill>
          <a:ln w="9525" cap="flat" cmpd="sng">
            <a:solidFill>
              <a:srgbClr val="E0D8C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3" name="Google Shape;103;p6"/>
          <p:cNvSpPr/>
          <p:nvPr/>
        </p:nvSpPr>
        <p:spPr>
          <a:xfrm>
            <a:off x="7001185" y="7827273"/>
            <a:ext cx="2491873" cy="513426"/>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2A231D"/>
              </a:buClr>
              <a:buSzPts val="1800"/>
              <a:buFont typeface="Arial"/>
              <a:buNone/>
            </a:pPr>
            <a:r>
              <a:rPr lang="en-US" sz="1600" b="1" i="0" u="none" strike="noStrike" cap="none" dirty="0" err="1">
                <a:solidFill>
                  <a:srgbClr val="2A231D"/>
                </a:solidFill>
                <a:latin typeface="Arial"/>
                <a:ea typeface="Arial"/>
                <a:cs typeface="Arial"/>
                <a:sym typeface="Arial"/>
              </a:rPr>
              <a:t>Recuperar</a:t>
            </a:r>
            <a:endParaRPr sz="2400" b="0" i="0" u="none" strike="noStrike" cap="none" dirty="0">
              <a:solidFill>
                <a:schemeClr val="dk1"/>
              </a:solidFill>
              <a:latin typeface="Calibri"/>
              <a:ea typeface="Calibri"/>
              <a:cs typeface="Calibri"/>
              <a:sym typeface="Calibri"/>
            </a:endParaRPr>
          </a:p>
        </p:txBody>
      </p:sp>
      <p:sp>
        <p:nvSpPr>
          <p:cNvPr id="104" name="Google Shape;104;p6"/>
          <p:cNvSpPr/>
          <p:nvPr/>
        </p:nvSpPr>
        <p:spPr>
          <a:xfrm>
            <a:off x="8196811" y="7758227"/>
            <a:ext cx="873148" cy="611198"/>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BF5A3C"/>
              </a:buClr>
              <a:buSzPts val="2100"/>
              <a:buFont typeface="Arial"/>
              <a:buNone/>
            </a:pPr>
            <a:r>
              <a:rPr lang="en-US" sz="2800" b="0" i="0" u="none" strike="noStrike" cap="none">
                <a:solidFill>
                  <a:srgbClr val="BF5A3C"/>
                </a:solidFill>
                <a:latin typeface="Arial"/>
                <a:ea typeface="Arial"/>
                <a:cs typeface="Arial"/>
                <a:sym typeface="Arial"/>
              </a:rPr>
              <a:t>→</a:t>
            </a:r>
            <a:endParaRPr sz="2800" b="0" i="0" u="none" strike="noStrike" cap="none">
              <a:solidFill>
                <a:schemeClr val="dk1"/>
              </a:solidFill>
              <a:latin typeface="Calibri"/>
              <a:ea typeface="Calibri"/>
              <a:cs typeface="Calibri"/>
              <a:sym typeface="Calibri"/>
            </a:endParaRPr>
          </a:p>
        </p:txBody>
      </p:sp>
      <p:sp>
        <p:nvSpPr>
          <p:cNvPr id="105" name="Google Shape;105;p6"/>
          <p:cNvSpPr/>
          <p:nvPr/>
        </p:nvSpPr>
        <p:spPr>
          <a:xfrm>
            <a:off x="8577810" y="7486501"/>
            <a:ext cx="4802699" cy="968497"/>
          </a:xfrm>
          <a:prstGeom prst="roundRect">
            <a:avLst>
              <a:gd name="adj" fmla="val 16779"/>
            </a:avLst>
          </a:prstGeom>
          <a:solidFill>
            <a:srgbClr val="2A231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6" name="Google Shape;106;p6"/>
          <p:cNvSpPr/>
          <p:nvPr/>
        </p:nvSpPr>
        <p:spPr>
          <a:xfrm>
            <a:off x="8749261" y="7827273"/>
            <a:ext cx="4123584" cy="513426"/>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F4EEE4"/>
              </a:buClr>
              <a:buSzPts val="1800"/>
              <a:buFont typeface="Arial"/>
              <a:buNone/>
            </a:pPr>
            <a:r>
              <a:rPr lang="en-US" sz="1600" b="1" i="0" u="none" strike="noStrike" cap="none" dirty="0">
                <a:solidFill>
                  <a:srgbClr val="F4EEE4"/>
                </a:solidFill>
                <a:latin typeface="Arial"/>
                <a:ea typeface="Arial"/>
                <a:cs typeface="Arial"/>
                <a:sym typeface="Arial"/>
              </a:rPr>
              <a:t>LLM + </a:t>
            </a:r>
            <a:r>
              <a:rPr lang="en-US" sz="1600" b="1" i="0" u="none" strike="noStrike" cap="none" dirty="0" err="1">
                <a:solidFill>
                  <a:srgbClr val="F4EEE4"/>
                </a:solidFill>
                <a:latin typeface="Arial"/>
                <a:ea typeface="Arial"/>
                <a:cs typeface="Arial"/>
                <a:sym typeface="Arial"/>
              </a:rPr>
              <a:t>contexto</a:t>
            </a:r>
            <a:endParaRPr sz="2000" b="0" i="0" u="none" strike="noStrike" cap="none" dirty="0">
              <a:solidFill>
                <a:schemeClr val="dk1"/>
              </a:solidFill>
              <a:latin typeface="Calibri"/>
              <a:ea typeface="Calibri"/>
              <a:cs typeface="Calibri"/>
              <a:sym typeface="Calibri"/>
            </a:endParaRPr>
          </a:p>
        </p:txBody>
      </p:sp>
      <p:sp>
        <p:nvSpPr>
          <p:cNvPr id="107" name="Google Shape;107;p6"/>
          <p:cNvSpPr/>
          <p:nvPr/>
        </p:nvSpPr>
        <p:spPr>
          <a:xfrm>
            <a:off x="10578180" y="7758227"/>
            <a:ext cx="873148" cy="611198"/>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BF5A3C"/>
              </a:buClr>
              <a:buSzPts val="2100"/>
              <a:buFont typeface="Arial"/>
              <a:buNone/>
            </a:pPr>
            <a:r>
              <a:rPr lang="en-US" sz="2800" b="0" i="0" u="none" strike="noStrike" cap="none">
                <a:solidFill>
                  <a:srgbClr val="BF5A3C"/>
                </a:solidFill>
                <a:latin typeface="Arial"/>
                <a:ea typeface="Arial"/>
                <a:cs typeface="Arial"/>
                <a:sym typeface="Arial"/>
              </a:rPr>
              <a:t>→</a:t>
            </a:r>
            <a:endParaRPr sz="2800" b="0" i="0" u="none" strike="noStrike" cap="none">
              <a:solidFill>
                <a:schemeClr val="dk1"/>
              </a:solidFill>
              <a:latin typeface="Calibri"/>
              <a:ea typeface="Calibri"/>
              <a:cs typeface="Calibri"/>
              <a:sym typeface="Calibri"/>
            </a:endParaRPr>
          </a:p>
        </p:txBody>
      </p:sp>
      <p:sp>
        <p:nvSpPr>
          <p:cNvPr id="108" name="Google Shape;108;p6"/>
          <p:cNvSpPr/>
          <p:nvPr/>
        </p:nvSpPr>
        <p:spPr>
          <a:xfrm>
            <a:off x="10959179" y="7486501"/>
            <a:ext cx="5821754" cy="968497"/>
          </a:xfrm>
          <a:prstGeom prst="roundRect">
            <a:avLst>
              <a:gd name="adj" fmla="val 16779"/>
            </a:avLst>
          </a:prstGeom>
          <a:solidFill>
            <a:srgbClr val="BF5A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dirty="0"/>
          </a:p>
        </p:txBody>
      </p:sp>
      <p:sp>
        <p:nvSpPr>
          <p:cNvPr id="109" name="Google Shape;109;p6"/>
          <p:cNvSpPr/>
          <p:nvPr/>
        </p:nvSpPr>
        <p:spPr>
          <a:xfrm>
            <a:off x="11130629" y="7827273"/>
            <a:ext cx="5142639" cy="513426"/>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FFFFFF"/>
              </a:buClr>
              <a:buSzPts val="1800"/>
              <a:buFont typeface="Arial"/>
              <a:buNone/>
            </a:pPr>
            <a:r>
              <a:rPr lang="en-US" sz="1600" b="1" i="0" u="none" strike="noStrike" cap="none" dirty="0">
                <a:solidFill>
                  <a:srgbClr val="FFFFFF"/>
                </a:solidFill>
                <a:latin typeface="Arial"/>
                <a:ea typeface="Arial"/>
                <a:cs typeface="Arial"/>
                <a:sym typeface="Arial"/>
              </a:rPr>
              <a:t>Respuesta </a:t>
            </a:r>
            <a:r>
              <a:rPr lang="en-US" sz="1800" b="1" i="0" u="none" strike="noStrike" cap="none" dirty="0" err="1">
                <a:solidFill>
                  <a:srgbClr val="FFFFFF"/>
                </a:solidFill>
                <a:latin typeface="Arial"/>
                <a:ea typeface="Arial"/>
                <a:cs typeface="Arial"/>
                <a:sym typeface="Arial"/>
              </a:rPr>
              <a:t>fundamentada</a:t>
            </a:r>
            <a:endParaRPr sz="2400" b="0" i="0" u="none" strike="noStrike" cap="none" dirty="0">
              <a:solidFill>
                <a:schemeClr val="dk1"/>
              </a:solidFill>
              <a:latin typeface="Calibri"/>
              <a:ea typeface="Calibri"/>
              <a:cs typeface="Calibri"/>
              <a:sym typeface="Calibri"/>
            </a:endParaRPr>
          </a:p>
        </p:txBody>
      </p:sp>
      <p:sp>
        <p:nvSpPr>
          <p:cNvPr id="110" name="Google Shape;110;p6"/>
          <p:cNvSpPr/>
          <p:nvPr/>
        </p:nvSpPr>
        <p:spPr>
          <a:xfrm>
            <a:off x="5338269" y="5381360"/>
            <a:ext cx="1886700" cy="388500"/>
          </a:xfrm>
          <a:prstGeom prst="roundRect">
            <a:avLst>
              <a:gd name="adj" fmla="val 50000"/>
            </a:avLst>
          </a:prstGeom>
          <a:solidFill>
            <a:srgbClr val="F4EEE4"/>
          </a:solidFill>
          <a:ln w="9525" cap="flat" cmpd="sng">
            <a:solidFill>
              <a:srgbClr val="E0D8C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6"/>
          <p:cNvSpPr/>
          <p:nvPr/>
        </p:nvSpPr>
        <p:spPr>
          <a:xfrm>
            <a:off x="5498289" y="5465180"/>
            <a:ext cx="1642800" cy="25920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3F3A32"/>
              </a:buClr>
              <a:buSzPts val="1500"/>
              <a:buFont typeface="Arial"/>
              <a:buNone/>
            </a:pPr>
            <a:r>
              <a:rPr lang="en-US" sz="1500" b="1">
                <a:solidFill>
                  <a:srgbClr val="3F3A32"/>
                </a:solidFill>
              </a:rPr>
              <a:t>LLM vs. Chatbot</a:t>
            </a:r>
            <a:endParaRPr sz="1500" b="0" i="0" u="none" strike="noStrike" cap="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EEE4"/>
        </a:solidFill>
        <a:effectLst/>
      </p:bgPr>
    </p:bg>
    <p:spTree>
      <p:nvGrpSpPr>
        <p:cNvPr id="1" name="Shape 116"/>
        <p:cNvGrpSpPr/>
        <p:nvPr/>
      </p:nvGrpSpPr>
      <p:grpSpPr>
        <a:xfrm>
          <a:off x="0" y="0"/>
          <a:ext cx="0" cy="0"/>
          <a:chOff x="0" y="0"/>
          <a:chExt cx="0" cy="0"/>
        </a:xfrm>
      </p:grpSpPr>
      <p:sp>
        <p:nvSpPr>
          <p:cNvPr id="117" name="Google Shape;117;p7"/>
          <p:cNvSpPr/>
          <p:nvPr/>
        </p:nvSpPr>
        <p:spPr>
          <a:xfrm>
            <a:off x="16384667" y="762000"/>
            <a:ext cx="912733" cy="388620"/>
          </a:xfrm>
          <a:prstGeom prst="roundRect">
            <a:avLst>
              <a:gd name="adj" fmla="val 50000"/>
            </a:avLst>
          </a:prstGeom>
          <a:noFill/>
          <a:ln w="9525" cap="flat" cmpd="sng">
            <a:solidFill>
              <a:srgbClr val="DDD4C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7"/>
          <p:cNvSpPr/>
          <p:nvPr/>
        </p:nvSpPr>
        <p:spPr>
          <a:xfrm>
            <a:off x="990600" y="1436370"/>
            <a:ext cx="17937480" cy="762000"/>
          </a:xfrm>
          <a:prstGeom prst="rect">
            <a:avLst/>
          </a:prstGeom>
          <a:noFill/>
          <a:ln>
            <a:noFill/>
          </a:ln>
        </p:spPr>
        <p:txBody>
          <a:bodyPr spcFirstLastPara="1" wrap="square" lIns="25400" tIns="25400" rIns="25400" bIns="25400" anchor="t" anchorCtr="0">
            <a:noAutofit/>
          </a:bodyPr>
          <a:lstStyle/>
          <a:p>
            <a:pPr marL="0" marR="0" lvl="0" indent="0" algn="l" rtl="0">
              <a:lnSpc>
                <a:spcPct val="100000"/>
              </a:lnSpc>
              <a:spcBef>
                <a:spcPts val="0"/>
              </a:spcBef>
              <a:spcAft>
                <a:spcPts val="0"/>
              </a:spcAft>
              <a:buClr>
                <a:srgbClr val="2A231D"/>
              </a:buClr>
              <a:buSzPts val="5700"/>
              <a:buFont typeface="Newsreader"/>
              <a:buNone/>
            </a:pPr>
            <a:r>
              <a:rPr lang="en-US" sz="5700" b="0" i="0" u="none" strike="noStrike" cap="none">
                <a:solidFill>
                  <a:srgbClr val="2A231D"/>
                </a:solidFill>
                <a:latin typeface="Newsreader"/>
                <a:ea typeface="Newsreader"/>
                <a:cs typeface="Newsreader"/>
                <a:sym typeface="Newsreader"/>
              </a:rPr>
              <a:t>Agentes</a:t>
            </a:r>
            <a:endParaRPr sz="5700" b="0" i="0" u="none" strike="noStrike" cap="none">
              <a:solidFill>
                <a:schemeClr val="dk1"/>
              </a:solidFill>
              <a:latin typeface="Calibri"/>
              <a:ea typeface="Calibri"/>
              <a:cs typeface="Calibri"/>
              <a:sym typeface="Calibri"/>
            </a:endParaRPr>
          </a:p>
        </p:txBody>
      </p:sp>
      <p:sp>
        <p:nvSpPr>
          <p:cNvPr id="119" name="Google Shape;119;p7"/>
          <p:cNvSpPr/>
          <p:nvPr/>
        </p:nvSpPr>
        <p:spPr>
          <a:xfrm>
            <a:off x="990600" y="2274570"/>
            <a:ext cx="17937480" cy="36576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5E564B"/>
              </a:buClr>
              <a:buSzPts val="2250"/>
              <a:buFont typeface="Arial"/>
              <a:buNone/>
            </a:pPr>
            <a:r>
              <a:rPr lang="en-US" sz="2250" b="0" i="0" u="none" strike="noStrike" cap="none">
                <a:solidFill>
                  <a:srgbClr val="5E564B"/>
                </a:solidFill>
                <a:latin typeface="Arial"/>
                <a:ea typeface="Arial"/>
                <a:cs typeface="Arial"/>
                <a:sym typeface="Arial"/>
              </a:rPr>
              <a:t>Un LLM que puede realizar acciones</a:t>
            </a:r>
            <a:r>
              <a:rPr lang="en-US" sz="2250">
                <a:solidFill>
                  <a:srgbClr val="5E564B"/>
                </a:solidFill>
              </a:rPr>
              <a:t>. Iterar hasta cumplir un objetivo</a:t>
            </a:r>
            <a:r>
              <a:rPr lang="en-US" sz="2250" b="0" i="0" u="none" strike="noStrike" cap="none">
                <a:solidFill>
                  <a:srgbClr val="5E564B"/>
                </a:solidFill>
                <a:latin typeface="Arial"/>
                <a:ea typeface="Arial"/>
                <a:cs typeface="Arial"/>
                <a:sym typeface="Arial"/>
              </a:rPr>
              <a:t> convierte las respuestas en trabajo.</a:t>
            </a:r>
            <a:endParaRPr sz="2250" b="0" i="0" u="none" strike="noStrike" cap="none">
              <a:solidFill>
                <a:schemeClr val="dk1"/>
              </a:solidFill>
              <a:latin typeface="Calibri"/>
              <a:ea typeface="Calibri"/>
              <a:cs typeface="Calibri"/>
              <a:sym typeface="Calibri"/>
            </a:endParaRPr>
          </a:p>
        </p:txBody>
      </p:sp>
      <p:sp>
        <p:nvSpPr>
          <p:cNvPr id="120" name="Google Shape;120;p7"/>
          <p:cNvSpPr/>
          <p:nvPr/>
        </p:nvSpPr>
        <p:spPr>
          <a:xfrm>
            <a:off x="990600" y="2887980"/>
            <a:ext cx="8020050" cy="2186940"/>
          </a:xfrm>
          <a:prstGeom prst="roundRect">
            <a:avLst>
              <a:gd name="adj" fmla="val 6969"/>
            </a:avLst>
          </a:prstGeom>
          <a:solidFill>
            <a:srgbClr val="FBF8F1"/>
          </a:solidFill>
          <a:ln w="9525" cap="flat" cmpd="sng">
            <a:solidFill>
              <a:srgbClr val="E0D8C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7"/>
          <p:cNvSpPr/>
          <p:nvPr/>
        </p:nvSpPr>
        <p:spPr>
          <a:xfrm>
            <a:off x="1303020" y="3181350"/>
            <a:ext cx="8134731" cy="27813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897F71"/>
              </a:buClr>
              <a:buSzPts val="1275"/>
              <a:buFont typeface="Space Mono"/>
              <a:buNone/>
            </a:pPr>
            <a:r>
              <a:rPr lang="en-US" sz="1600" b="0" i="0" u="none" strike="noStrike" cap="none" dirty="0">
                <a:solidFill>
                  <a:srgbClr val="897F71"/>
                </a:solidFill>
                <a:latin typeface="Space Mono"/>
                <a:ea typeface="Space Mono"/>
                <a:cs typeface="Space Mono"/>
                <a:sym typeface="Space Mono"/>
              </a:rPr>
              <a:t>QUÉ LO HACE UN AGENTE</a:t>
            </a:r>
            <a:endParaRPr sz="1600" b="0" i="0" u="none" strike="noStrike" cap="none" dirty="0">
              <a:solidFill>
                <a:schemeClr val="dk1"/>
              </a:solidFill>
              <a:latin typeface="Calibri"/>
              <a:ea typeface="Calibri"/>
              <a:cs typeface="Calibri"/>
              <a:sym typeface="Calibri"/>
            </a:endParaRPr>
          </a:p>
        </p:txBody>
      </p:sp>
      <p:sp>
        <p:nvSpPr>
          <p:cNvPr id="122" name="Google Shape;122;p7"/>
          <p:cNvSpPr/>
          <p:nvPr/>
        </p:nvSpPr>
        <p:spPr>
          <a:xfrm>
            <a:off x="1303020" y="3554730"/>
            <a:ext cx="7617067" cy="704850"/>
          </a:xfrm>
          <a:prstGeom prst="rect">
            <a:avLst/>
          </a:prstGeom>
          <a:noFill/>
          <a:ln>
            <a:noFill/>
          </a:ln>
        </p:spPr>
        <p:txBody>
          <a:bodyPr spcFirstLastPara="1" wrap="square" lIns="25400" tIns="25400" rIns="25400" bIns="25400" anchor="t" anchorCtr="0">
            <a:noAutofit/>
          </a:bodyPr>
          <a:lstStyle/>
          <a:p>
            <a:pPr marL="0" marR="0" lvl="0" indent="0" algn="l" rtl="0">
              <a:lnSpc>
                <a:spcPct val="140000"/>
              </a:lnSpc>
              <a:spcBef>
                <a:spcPts val="0"/>
              </a:spcBef>
              <a:spcAft>
                <a:spcPts val="0"/>
              </a:spcAft>
              <a:buClr>
                <a:srgbClr val="5E564B"/>
              </a:buClr>
              <a:buSzPts val="1875"/>
              <a:buFont typeface="Arial"/>
              <a:buNone/>
            </a:pPr>
            <a:r>
              <a:rPr lang="en-US" sz="1700" b="0" i="0" u="none" strike="noStrike" cap="none" dirty="0">
                <a:solidFill>
                  <a:srgbClr val="5E564B"/>
                </a:solidFill>
                <a:latin typeface="Arial"/>
                <a:ea typeface="Arial"/>
                <a:cs typeface="Arial"/>
                <a:sym typeface="Arial"/>
              </a:rPr>
              <a:t>Dale a </a:t>
            </a:r>
            <a:r>
              <a:rPr lang="en-US" sz="1700" dirty="0">
                <a:solidFill>
                  <a:srgbClr val="5E564B"/>
                </a:solidFill>
              </a:rPr>
              <a:t>un </a:t>
            </a:r>
            <a:r>
              <a:rPr lang="en-US" sz="1700" dirty="0" err="1">
                <a:solidFill>
                  <a:srgbClr val="5E564B"/>
                </a:solidFill>
              </a:rPr>
              <a:t>modelo</a:t>
            </a:r>
            <a:r>
              <a:rPr lang="en-US" sz="1700" dirty="0">
                <a:solidFill>
                  <a:srgbClr val="5E564B"/>
                </a:solidFill>
              </a:rPr>
              <a:t> de </a:t>
            </a:r>
            <a:r>
              <a:rPr lang="en-US" sz="1700" dirty="0" err="1">
                <a:solidFill>
                  <a:srgbClr val="5E564B"/>
                </a:solidFill>
              </a:rPr>
              <a:t>razonamiento</a:t>
            </a:r>
            <a:r>
              <a:rPr lang="en-US" sz="1700" b="0" i="0" u="none" strike="noStrike" cap="none" dirty="0">
                <a:solidFill>
                  <a:srgbClr val="5E564B"/>
                </a:solidFill>
                <a:latin typeface="Arial"/>
                <a:ea typeface="Arial"/>
                <a:cs typeface="Arial"/>
                <a:sym typeface="Arial"/>
              </a:rPr>
              <a:t> </a:t>
            </a:r>
            <a:r>
              <a:rPr lang="en-US" sz="1700" b="0" i="0" u="none" strike="noStrike" cap="none" dirty="0" err="1">
                <a:solidFill>
                  <a:srgbClr val="5E564B"/>
                </a:solidFill>
                <a:latin typeface="Arial"/>
                <a:ea typeface="Arial"/>
                <a:cs typeface="Arial"/>
                <a:sym typeface="Arial"/>
              </a:rPr>
              <a:t>algunas</a:t>
            </a:r>
            <a:r>
              <a:rPr lang="en-US" sz="1700" b="0" i="0" u="none" strike="noStrike" cap="none" dirty="0">
                <a:solidFill>
                  <a:srgbClr val="5E564B"/>
                </a:solidFill>
                <a:latin typeface="Arial"/>
                <a:ea typeface="Arial"/>
                <a:cs typeface="Arial"/>
                <a:sym typeface="Arial"/>
              </a:rPr>
              <a:t> </a:t>
            </a:r>
            <a:r>
              <a:rPr lang="en-US" sz="1700" b="0" i="0" u="none" strike="noStrike" cap="none" dirty="0" err="1">
                <a:solidFill>
                  <a:srgbClr val="5E564B"/>
                </a:solidFill>
                <a:latin typeface="Arial"/>
                <a:ea typeface="Arial"/>
                <a:cs typeface="Arial"/>
                <a:sym typeface="Arial"/>
              </a:rPr>
              <a:t>herramientas</a:t>
            </a:r>
            <a:r>
              <a:rPr lang="en-US" sz="1700" b="0" i="0" u="none" strike="noStrike" cap="none" dirty="0">
                <a:solidFill>
                  <a:srgbClr val="5E564B"/>
                </a:solidFill>
                <a:latin typeface="Arial"/>
                <a:ea typeface="Arial"/>
                <a:cs typeface="Arial"/>
                <a:sym typeface="Arial"/>
              </a:rPr>
              <a:t> y un </a:t>
            </a:r>
            <a:r>
              <a:rPr lang="en-US" sz="1700" b="0" i="0" u="none" strike="noStrike" cap="none" dirty="0" err="1">
                <a:solidFill>
                  <a:srgbClr val="5E564B"/>
                </a:solidFill>
                <a:latin typeface="Arial"/>
                <a:ea typeface="Arial"/>
                <a:cs typeface="Arial"/>
                <a:sym typeface="Arial"/>
              </a:rPr>
              <a:t>objetivo</a:t>
            </a:r>
            <a:r>
              <a:rPr lang="en-US" sz="1700" b="0" i="0" u="none" strike="noStrike" cap="none" dirty="0">
                <a:solidFill>
                  <a:srgbClr val="5E564B"/>
                </a:solidFill>
                <a:latin typeface="Arial"/>
                <a:ea typeface="Arial"/>
                <a:cs typeface="Arial"/>
                <a:sym typeface="Arial"/>
              </a:rPr>
              <a:t>, y </a:t>
            </a:r>
            <a:r>
              <a:rPr lang="en-US" sz="1700" b="0" i="0" u="none" strike="noStrike" cap="none" dirty="0" err="1">
                <a:solidFill>
                  <a:srgbClr val="5E564B"/>
                </a:solidFill>
                <a:latin typeface="Arial"/>
                <a:ea typeface="Arial"/>
                <a:cs typeface="Arial"/>
                <a:sym typeface="Arial"/>
              </a:rPr>
              <a:t>deja</a:t>
            </a:r>
            <a:r>
              <a:rPr lang="en-US" sz="1700" b="0" i="0" u="none" strike="noStrike" cap="none" dirty="0">
                <a:solidFill>
                  <a:srgbClr val="5E564B"/>
                </a:solidFill>
                <a:latin typeface="Arial"/>
                <a:ea typeface="Arial"/>
                <a:cs typeface="Arial"/>
                <a:sym typeface="Arial"/>
              </a:rPr>
              <a:t> </a:t>
            </a:r>
            <a:r>
              <a:rPr lang="en-US" sz="1700" b="0" i="0" u="none" strike="noStrike" cap="none" dirty="0" err="1">
                <a:solidFill>
                  <a:srgbClr val="5E564B"/>
                </a:solidFill>
                <a:latin typeface="Arial"/>
                <a:ea typeface="Arial"/>
                <a:cs typeface="Arial"/>
                <a:sym typeface="Arial"/>
              </a:rPr>
              <a:t>que</a:t>
            </a:r>
            <a:r>
              <a:rPr lang="en-US" sz="1700" b="0" i="0" u="none" strike="noStrike" cap="none" dirty="0">
                <a:solidFill>
                  <a:srgbClr val="5E564B"/>
                </a:solidFill>
                <a:latin typeface="Arial"/>
                <a:ea typeface="Arial"/>
                <a:cs typeface="Arial"/>
                <a:sym typeface="Arial"/>
              </a:rPr>
              <a:t> </a:t>
            </a:r>
            <a:r>
              <a:rPr lang="en-US" sz="1700" b="0" i="0" u="none" strike="noStrike" cap="none" dirty="0" err="1">
                <a:solidFill>
                  <a:srgbClr val="5E564B"/>
                </a:solidFill>
                <a:latin typeface="Arial"/>
                <a:ea typeface="Arial"/>
                <a:cs typeface="Arial"/>
                <a:sym typeface="Arial"/>
              </a:rPr>
              <a:t>decida</a:t>
            </a:r>
            <a:r>
              <a:rPr lang="en-US" sz="1700" b="0" i="0" u="none" strike="noStrike" cap="none" dirty="0">
                <a:solidFill>
                  <a:srgbClr val="5E564B"/>
                </a:solidFill>
                <a:latin typeface="Arial"/>
                <a:ea typeface="Arial"/>
                <a:cs typeface="Arial"/>
                <a:sym typeface="Arial"/>
              </a:rPr>
              <a:t> </a:t>
            </a:r>
            <a:r>
              <a:rPr lang="en-US" sz="1700" b="0" i="0" u="none" strike="noStrike" cap="none" dirty="0" err="1">
                <a:solidFill>
                  <a:srgbClr val="5E564B"/>
                </a:solidFill>
                <a:latin typeface="Arial"/>
                <a:ea typeface="Arial"/>
                <a:cs typeface="Arial"/>
                <a:sym typeface="Arial"/>
              </a:rPr>
              <a:t>los</a:t>
            </a:r>
            <a:r>
              <a:rPr lang="en-US" sz="1700" b="0" i="0" u="none" strike="noStrike" cap="none" dirty="0">
                <a:solidFill>
                  <a:srgbClr val="5E564B"/>
                </a:solidFill>
                <a:latin typeface="Arial"/>
                <a:ea typeface="Arial"/>
                <a:cs typeface="Arial"/>
                <a:sym typeface="Arial"/>
              </a:rPr>
              <a:t> pasos. Llama a </a:t>
            </a:r>
            <a:r>
              <a:rPr lang="en-US" sz="1700" b="0" i="0" u="none" strike="noStrike" cap="none" dirty="0" err="1">
                <a:solidFill>
                  <a:srgbClr val="5E564B"/>
                </a:solidFill>
                <a:latin typeface="Arial"/>
                <a:ea typeface="Arial"/>
                <a:cs typeface="Arial"/>
                <a:sym typeface="Arial"/>
              </a:rPr>
              <a:t>tus</a:t>
            </a:r>
            <a:r>
              <a:rPr lang="en-US" sz="1700" b="0" i="0" u="none" strike="noStrike" cap="none" dirty="0">
                <a:solidFill>
                  <a:srgbClr val="5E564B"/>
                </a:solidFill>
                <a:latin typeface="Arial"/>
                <a:ea typeface="Arial"/>
                <a:cs typeface="Arial"/>
                <a:sym typeface="Arial"/>
              </a:rPr>
              <a:t> </a:t>
            </a:r>
            <a:r>
              <a:rPr lang="en-US" sz="1700" b="0" i="0" u="none" strike="noStrike" cap="none" dirty="0" err="1">
                <a:solidFill>
                  <a:srgbClr val="5E564B"/>
                </a:solidFill>
                <a:latin typeface="Arial"/>
                <a:ea typeface="Arial"/>
                <a:cs typeface="Arial"/>
                <a:sym typeface="Arial"/>
              </a:rPr>
              <a:t>funciones</a:t>
            </a:r>
            <a:r>
              <a:rPr lang="en-US" sz="1700" b="0" i="0" u="none" strike="noStrike" cap="none" dirty="0">
                <a:solidFill>
                  <a:srgbClr val="5E564B"/>
                </a:solidFill>
                <a:latin typeface="Arial"/>
                <a:ea typeface="Arial"/>
                <a:cs typeface="Arial"/>
                <a:sym typeface="Arial"/>
              </a:rPr>
              <a:t> para </a:t>
            </a:r>
            <a:r>
              <a:rPr lang="en-US" sz="1700" b="0" i="0" u="none" strike="noStrike" cap="none" dirty="0" err="1">
                <a:solidFill>
                  <a:srgbClr val="5E564B"/>
                </a:solidFill>
                <a:latin typeface="Arial"/>
                <a:ea typeface="Arial"/>
                <a:cs typeface="Arial"/>
                <a:sym typeface="Arial"/>
              </a:rPr>
              <a:t>lograr</a:t>
            </a:r>
            <a:r>
              <a:rPr lang="en-US" sz="1700" b="0" i="0" u="none" strike="noStrike" cap="none" dirty="0">
                <a:solidFill>
                  <a:srgbClr val="5E564B"/>
                </a:solidFill>
                <a:latin typeface="Arial"/>
                <a:ea typeface="Arial"/>
                <a:cs typeface="Arial"/>
                <a:sym typeface="Arial"/>
              </a:rPr>
              <a:t> las </a:t>
            </a:r>
            <a:r>
              <a:rPr lang="en-US" sz="1700" b="0" i="0" u="none" strike="noStrike" cap="none" dirty="0" err="1">
                <a:solidFill>
                  <a:srgbClr val="5E564B"/>
                </a:solidFill>
                <a:latin typeface="Arial"/>
                <a:ea typeface="Arial"/>
                <a:cs typeface="Arial"/>
                <a:sym typeface="Arial"/>
              </a:rPr>
              <a:t>cosas</a:t>
            </a:r>
            <a:r>
              <a:rPr lang="en-US" sz="1700" b="0" i="0" u="none" strike="noStrike" cap="none" dirty="0">
                <a:solidFill>
                  <a:srgbClr val="5E564B"/>
                </a:solidFill>
                <a:latin typeface="Arial"/>
                <a:ea typeface="Arial"/>
                <a:cs typeface="Arial"/>
                <a:sym typeface="Arial"/>
              </a:rPr>
              <a:t>.</a:t>
            </a:r>
            <a:endParaRPr sz="2000" b="0" i="0" u="none" strike="noStrike" cap="none" dirty="0">
              <a:solidFill>
                <a:schemeClr val="dk1"/>
              </a:solidFill>
              <a:latin typeface="Calibri"/>
              <a:ea typeface="Calibri"/>
              <a:cs typeface="Calibri"/>
              <a:sym typeface="Calibri"/>
            </a:endParaRPr>
          </a:p>
        </p:txBody>
      </p:sp>
      <p:sp>
        <p:nvSpPr>
          <p:cNvPr id="123" name="Google Shape;123;p7"/>
          <p:cNvSpPr/>
          <p:nvPr/>
        </p:nvSpPr>
        <p:spPr>
          <a:xfrm>
            <a:off x="1303020" y="4392930"/>
            <a:ext cx="869333" cy="473696"/>
          </a:xfrm>
          <a:prstGeom prst="roundRect">
            <a:avLst>
              <a:gd name="adj" fmla="val 50000"/>
            </a:avLst>
          </a:prstGeom>
          <a:solidFill>
            <a:srgbClr val="F4EEE4"/>
          </a:solidFill>
          <a:ln w="9525" cap="flat" cmpd="sng">
            <a:solidFill>
              <a:srgbClr val="E0D8C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7"/>
          <p:cNvSpPr/>
          <p:nvPr/>
        </p:nvSpPr>
        <p:spPr>
          <a:xfrm>
            <a:off x="1386839" y="4429716"/>
            <a:ext cx="796945" cy="25908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3F3A32"/>
              </a:buClr>
              <a:buSzPts val="1500"/>
              <a:buFont typeface="Arial"/>
              <a:buNone/>
            </a:pPr>
            <a:r>
              <a:rPr lang="en-US" sz="1800" b="1" i="0" u="none" strike="noStrike" cap="none" dirty="0" err="1">
                <a:solidFill>
                  <a:srgbClr val="3F3A32"/>
                </a:solidFill>
                <a:latin typeface="Arial"/>
                <a:ea typeface="Arial"/>
                <a:cs typeface="Arial"/>
                <a:sym typeface="Arial"/>
              </a:rPr>
              <a:t>Bucle</a:t>
            </a:r>
            <a:endParaRPr sz="2400" b="0" i="0" u="none" strike="noStrike" cap="none" dirty="0">
              <a:solidFill>
                <a:schemeClr val="dk1"/>
              </a:solidFill>
              <a:latin typeface="Calibri"/>
              <a:ea typeface="Calibri"/>
              <a:cs typeface="Calibri"/>
              <a:sym typeface="Calibri"/>
            </a:endParaRPr>
          </a:p>
        </p:txBody>
      </p:sp>
      <p:sp>
        <p:nvSpPr>
          <p:cNvPr id="125" name="Google Shape;125;p7"/>
          <p:cNvSpPr/>
          <p:nvPr/>
        </p:nvSpPr>
        <p:spPr>
          <a:xfrm>
            <a:off x="2183785" y="4392930"/>
            <a:ext cx="2380298" cy="388620"/>
          </a:xfrm>
          <a:prstGeom prst="roundRect">
            <a:avLst>
              <a:gd name="adj" fmla="val 50000"/>
            </a:avLst>
          </a:prstGeom>
          <a:solidFill>
            <a:srgbClr val="F4EEE4"/>
          </a:solidFill>
          <a:ln w="9525" cap="flat" cmpd="sng">
            <a:solidFill>
              <a:srgbClr val="E0D8C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7"/>
          <p:cNvSpPr/>
          <p:nvPr/>
        </p:nvSpPr>
        <p:spPr>
          <a:xfrm>
            <a:off x="2343804" y="4392930"/>
            <a:ext cx="2208847" cy="523762"/>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3F3A32"/>
              </a:buClr>
              <a:buSzPts val="1500"/>
              <a:buFont typeface="Arial"/>
              <a:buNone/>
            </a:pPr>
            <a:r>
              <a:rPr lang="en-US" b="1" i="0" u="none" strike="noStrike" cap="none" dirty="0" err="1">
                <a:solidFill>
                  <a:srgbClr val="3F3A32"/>
                </a:solidFill>
                <a:latin typeface="Arial"/>
                <a:ea typeface="Arial"/>
                <a:cs typeface="Arial"/>
                <a:sym typeface="Arial"/>
              </a:rPr>
              <a:t>Herramientas</a:t>
            </a:r>
            <a:r>
              <a:rPr lang="en-US" b="1" i="0" u="none" strike="noStrike" cap="none" dirty="0">
                <a:solidFill>
                  <a:srgbClr val="3F3A32"/>
                </a:solidFill>
                <a:latin typeface="Arial"/>
                <a:ea typeface="Arial"/>
                <a:cs typeface="Arial"/>
                <a:sym typeface="Arial"/>
              </a:rPr>
              <a:t> / </a:t>
            </a:r>
            <a:r>
              <a:rPr lang="en-US" b="1" i="0" u="none" strike="noStrike" cap="none" dirty="0" err="1">
                <a:solidFill>
                  <a:srgbClr val="3F3A32"/>
                </a:solidFill>
                <a:latin typeface="Arial"/>
                <a:ea typeface="Arial"/>
                <a:cs typeface="Arial"/>
                <a:sym typeface="Arial"/>
              </a:rPr>
              <a:t>llamado</a:t>
            </a:r>
            <a:r>
              <a:rPr lang="en-US" b="1" i="0" u="none" strike="noStrike" cap="none" dirty="0">
                <a:solidFill>
                  <a:srgbClr val="3F3A32"/>
                </a:solidFill>
                <a:latin typeface="Arial"/>
                <a:ea typeface="Arial"/>
                <a:cs typeface="Arial"/>
                <a:sym typeface="Arial"/>
              </a:rPr>
              <a:t> a </a:t>
            </a:r>
            <a:r>
              <a:rPr lang="en-US" b="1" i="0" u="none" strike="noStrike" cap="none" dirty="0" err="1">
                <a:solidFill>
                  <a:srgbClr val="3F3A32"/>
                </a:solidFill>
                <a:latin typeface="Arial"/>
                <a:ea typeface="Arial"/>
                <a:cs typeface="Arial"/>
                <a:sym typeface="Arial"/>
              </a:rPr>
              <a:t>funciones</a:t>
            </a:r>
            <a:endParaRPr sz="2800" b="0" i="0" u="none" strike="noStrike" cap="none" dirty="0">
              <a:solidFill>
                <a:schemeClr val="dk1"/>
              </a:solidFill>
              <a:latin typeface="Calibri"/>
              <a:ea typeface="Calibri"/>
              <a:cs typeface="Calibri"/>
              <a:sym typeface="Calibri"/>
            </a:endParaRPr>
          </a:p>
        </p:txBody>
      </p:sp>
      <p:sp>
        <p:nvSpPr>
          <p:cNvPr id="127" name="Google Shape;127;p7"/>
          <p:cNvSpPr/>
          <p:nvPr/>
        </p:nvSpPr>
        <p:spPr>
          <a:xfrm>
            <a:off x="4659332" y="4392929"/>
            <a:ext cx="1317248" cy="523763"/>
          </a:xfrm>
          <a:prstGeom prst="roundRect">
            <a:avLst>
              <a:gd name="adj" fmla="val 50000"/>
            </a:avLst>
          </a:prstGeom>
          <a:solidFill>
            <a:srgbClr val="F4EEE4"/>
          </a:solidFill>
          <a:ln w="9525" cap="flat" cmpd="sng">
            <a:solidFill>
              <a:srgbClr val="E0D8C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7"/>
          <p:cNvSpPr/>
          <p:nvPr/>
        </p:nvSpPr>
        <p:spPr>
          <a:xfrm>
            <a:off x="4819352" y="4476750"/>
            <a:ext cx="1157228" cy="333388"/>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3F3A32"/>
              </a:buClr>
              <a:buSzPts val="1500"/>
              <a:buFont typeface="Arial"/>
              <a:buNone/>
            </a:pPr>
            <a:r>
              <a:rPr lang="en-US" sz="1800" b="1" i="0" u="none" strike="noStrike" cap="none" dirty="0">
                <a:solidFill>
                  <a:srgbClr val="3F3A32"/>
                </a:solidFill>
                <a:latin typeface="Arial"/>
                <a:ea typeface="Arial"/>
                <a:cs typeface="Arial"/>
                <a:sym typeface="Arial"/>
              </a:rPr>
              <a:t>Memoria</a:t>
            </a:r>
            <a:endParaRPr sz="2400" b="0" i="0" u="none" strike="noStrike" cap="none" dirty="0">
              <a:solidFill>
                <a:schemeClr val="dk1"/>
              </a:solidFill>
              <a:latin typeface="Calibri"/>
              <a:ea typeface="Calibri"/>
              <a:cs typeface="Calibri"/>
              <a:sym typeface="Calibri"/>
            </a:endParaRPr>
          </a:p>
        </p:txBody>
      </p:sp>
      <p:sp>
        <p:nvSpPr>
          <p:cNvPr id="129" name="Google Shape;129;p7"/>
          <p:cNvSpPr/>
          <p:nvPr/>
        </p:nvSpPr>
        <p:spPr>
          <a:xfrm>
            <a:off x="9277350" y="2887980"/>
            <a:ext cx="8020050" cy="2186940"/>
          </a:xfrm>
          <a:prstGeom prst="roundRect">
            <a:avLst>
              <a:gd name="adj" fmla="val 6969"/>
            </a:avLst>
          </a:prstGeom>
          <a:solidFill>
            <a:srgbClr val="FBF8F1"/>
          </a:solidFill>
          <a:ln w="9525" cap="flat" cmpd="sng">
            <a:solidFill>
              <a:srgbClr val="E0D8C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7"/>
          <p:cNvSpPr/>
          <p:nvPr/>
        </p:nvSpPr>
        <p:spPr>
          <a:xfrm>
            <a:off x="9589770" y="3181350"/>
            <a:ext cx="8134731" cy="27813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BF5A3C"/>
              </a:buClr>
              <a:buSzPts val="1275"/>
              <a:buFont typeface="Space Mono"/>
              <a:buNone/>
            </a:pPr>
            <a:r>
              <a:rPr lang="en-US" sz="1600" b="0" i="0" u="none" strike="noStrike" cap="none" dirty="0">
                <a:solidFill>
                  <a:srgbClr val="BF5A3C"/>
                </a:solidFill>
                <a:latin typeface="Space Mono"/>
                <a:ea typeface="Space Mono"/>
                <a:cs typeface="Space Mono"/>
                <a:sym typeface="Space Mono"/>
              </a:rPr>
              <a:t>CUÁNDO USAR UNO</a:t>
            </a:r>
            <a:endParaRPr sz="1600" b="0" i="0" u="none" strike="noStrike" cap="none" dirty="0">
              <a:solidFill>
                <a:schemeClr val="dk1"/>
              </a:solidFill>
              <a:latin typeface="Calibri"/>
              <a:ea typeface="Calibri"/>
              <a:cs typeface="Calibri"/>
              <a:sym typeface="Calibri"/>
            </a:endParaRPr>
          </a:p>
        </p:txBody>
      </p:sp>
      <p:sp>
        <p:nvSpPr>
          <p:cNvPr id="131" name="Google Shape;131;p7"/>
          <p:cNvSpPr/>
          <p:nvPr/>
        </p:nvSpPr>
        <p:spPr>
          <a:xfrm>
            <a:off x="9589775" y="3554726"/>
            <a:ext cx="7617000" cy="1311900"/>
          </a:xfrm>
          <a:prstGeom prst="rect">
            <a:avLst/>
          </a:prstGeom>
          <a:noFill/>
          <a:ln>
            <a:noFill/>
          </a:ln>
        </p:spPr>
        <p:txBody>
          <a:bodyPr spcFirstLastPara="1" wrap="square" lIns="25400" tIns="25400" rIns="25400" bIns="25400" anchor="t" anchorCtr="0">
            <a:noAutofit/>
          </a:bodyPr>
          <a:lstStyle/>
          <a:p>
            <a:pPr marL="0" marR="0" lvl="0" indent="0" algn="l" rtl="0">
              <a:lnSpc>
                <a:spcPct val="140000"/>
              </a:lnSpc>
              <a:spcBef>
                <a:spcPts val="0"/>
              </a:spcBef>
              <a:spcAft>
                <a:spcPts val="0"/>
              </a:spcAft>
              <a:buClr>
                <a:srgbClr val="5E564B"/>
              </a:buClr>
              <a:buSzPts val="1875"/>
              <a:buFont typeface="Arial"/>
              <a:buNone/>
            </a:pPr>
            <a:r>
              <a:rPr lang="en-US" sz="2000" b="0" i="0" u="none" strike="noStrike" cap="none">
                <a:solidFill>
                  <a:srgbClr val="5E564B"/>
                </a:solidFill>
                <a:latin typeface="Arial"/>
                <a:ea typeface="Arial"/>
                <a:cs typeface="Arial"/>
                <a:sym typeface="Arial"/>
              </a:rPr>
              <a:t>Tareas de varios pasos que tocan sistemas reales</a:t>
            </a:r>
            <a:r>
              <a:rPr lang="en-US" sz="2000">
                <a:solidFill>
                  <a:srgbClr val="5E564B"/>
                </a:solidFill>
              </a:rPr>
              <a:t>… C</a:t>
            </a:r>
            <a:r>
              <a:rPr lang="en-US" sz="2000" b="0" i="0" u="none" strike="noStrike" cap="none">
                <a:solidFill>
                  <a:srgbClr val="5E564B"/>
                </a:solidFill>
                <a:latin typeface="Arial"/>
                <a:ea typeface="Arial"/>
                <a:cs typeface="Arial"/>
                <a:sym typeface="Arial"/>
              </a:rPr>
              <a:t>onsultar una BD, llamar a una API, crear un ticket. </a:t>
            </a:r>
            <a:r>
              <a:rPr lang="en-US" sz="2000">
                <a:solidFill>
                  <a:srgbClr val="5E564B"/>
                </a:solidFill>
              </a:rPr>
              <a:t>Nota: p</a:t>
            </a:r>
            <a:r>
              <a:rPr lang="en-US" sz="2000" b="0" i="0" u="none" strike="noStrike" cap="none">
                <a:solidFill>
                  <a:srgbClr val="5E564B"/>
                </a:solidFill>
                <a:latin typeface="Arial"/>
                <a:ea typeface="Arial"/>
                <a:cs typeface="Arial"/>
                <a:sym typeface="Arial"/>
              </a:rPr>
              <a:t>ara </a:t>
            </a:r>
            <a:r>
              <a:rPr lang="en-US" sz="2000">
                <a:solidFill>
                  <a:srgbClr val="5E564B"/>
                </a:solidFill>
              </a:rPr>
              <a:t>preguntas más simples</a:t>
            </a:r>
            <a:r>
              <a:rPr lang="en-US" sz="2000" b="0" i="0" u="none" strike="noStrike" cap="none">
                <a:solidFill>
                  <a:srgbClr val="5E564B"/>
                </a:solidFill>
                <a:latin typeface="Arial"/>
                <a:ea typeface="Arial"/>
                <a:cs typeface="Arial"/>
                <a:sym typeface="Arial"/>
              </a:rPr>
              <a:t> sobre documentos, un RAG moderno basta.</a:t>
            </a:r>
            <a:endParaRPr sz="2000" b="0" i="0" u="none" strike="noStrike" cap="none">
              <a:solidFill>
                <a:schemeClr val="dk1"/>
              </a:solidFill>
              <a:latin typeface="Calibri"/>
              <a:ea typeface="Calibri"/>
              <a:cs typeface="Calibri"/>
              <a:sym typeface="Calibri"/>
            </a:endParaRPr>
          </a:p>
        </p:txBody>
      </p:sp>
      <p:sp>
        <p:nvSpPr>
          <p:cNvPr id="132" name="Google Shape;132;p7"/>
          <p:cNvSpPr/>
          <p:nvPr/>
        </p:nvSpPr>
        <p:spPr>
          <a:xfrm>
            <a:off x="990600" y="5360670"/>
            <a:ext cx="16306800" cy="4164300"/>
          </a:xfrm>
          <a:prstGeom prst="roundRect">
            <a:avLst>
              <a:gd name="adj" fmla="val 3660"/>
            </a:avLst>
          </a:prstGeom>
          <a:solidFill>
            <a:srgbClr val="FFFFFF"/>
          </a:solidFill>
          <a:ln w="9525" cap="flat" cmpd="sng">
            <a:solidFill>
              <a:srgbClr val="E0D8C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7"/>
          <p:cNvSpPr/>
          <p:nvPr/>
        </p:nvSpPr>
        <p:spPr>
          <a:xfrm>
            <a:off x="1303037" y="6078838"/>
            <a:ext cx="6140100" cy="59820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897F71"/>
              </a:buClr>
              <a:buSzPts val="1275"/>
              <a:buFont typeface="Space Mono"/>
              <a:buNone/>
            </a:pPr>
            <a:r>
              <a:rPr lang="en-US" sz="3000" b="1" i="0" u="none" strike="noStrike" cap="none">
                <a:solidFill>
                  <a:srgbClr val="897F71"/>
                </a:solidFill>
                <a:latin typeface="Space Mono"/>
                <a:ea typeface="Space Mono"/>
                <a:cs typeface="Space Mono"/>
                <a:sym typeface="Space Mono"/>
              </a:rPr>
              <a:t>EL BUCLE DEL AGENTE</a:t>
            </a:r>
            <a:endParaRPr sz="3000" b="1" i="0" u="none" strike="noStrike" cap="none">
              <a:solidFill>
                <a:schemeClr val="dk1"/>
              </a:solidFill>
              <a:latin typeface="Calibri"/>
              <a:ea typeface="Calibri"/>
              <a:cs typeface="Calibri"/>
              <a:sym typeface="Calibri"/>
            </a:endParaRPr>
          </a:p>
        </p:txBody>
      </p:sp>
      <p:sp>
        <p:nvSpPr>
          <p:cNvPr id="134" name="Google Shape;134;p7"/>
          <p:cNvSpPr/>
          <p:nvPr/>
        </p:nvSpPr>
        <p:spPr>
          <a:xfrm>
            <a:off x="5738693" y="7059930"/>
            <a:ext cx="1152108" cy="723900"/>
          </a:xfrm>
          <a:prstGeom prst="roundRect">
            <a:avLst>
              <a:gd name="adj" fmla="val 15789"/>
            </a:avLst>
          </a:prstGeom>
          <a:solidFill>
            <a:srgbClr val="F4EEE4"/>
          </a:solidFill>
          <a:ln w="9525" cap="flat" cmpd="sng">
            <a:solidFill>
              <a:srgbClr val="E0D8C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7"/>
          <p:cNvSpPr/>
          <p:nvPr/>
        </p:nvSpPr>
        <p:spPr>
          <a:xfrm>
            <a:off x="5852995" y="7276390"/>
            <a:ext cx="1152107" cy="42672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2A231D"/>
              </a:buClr>
              <a:buSzPts val="2250"/>
              <a:buFont typeface="Arial"/>
              <a:buNone/>
            </a:pPr>
            <a:r>
              <a:rPr lang="en-US" sz="1600" b="1" i="0" u="none" strike="noStrike" cap="none" dirty="0" err="1">
                <a:solidFill>
                  <a:srgbClr val="2A231D"/>
                </a:solidFill>
                <a:latin typeface="Arial"/>
                <a:ea typeface="Arial"/>
                <a:cs typeface="Arial"/>
                <a:sym typeface="Arial"/>
              </a:rPr>
              <a:t>Planificar</a:t>
            </a:r>
            <a:endParaRPr sz="4000" b="0" i="0" u="none" strike="noStrike" cap="none" dirty="0">
              <a:solidFill>
                <a:schemeClr val="dk1"/>
              </a:solidFill>
              <a:latin typeface="Calibri"/>
              <a:ea typeface="Calibri"/>
              <a:cs typeface="Calibri"/>
              <a:sym typeface="Calibri"/>
            </a:endParaRPr>
          </a:p>
        </p:txBody>
      </p:sp>
      <p:sp>
        <p:nvSpPr>
          <p:cNvPr id="136" name="Google Shape;136;p7"/>
          <p:cNvSpPr/>
          <p:nvPr/>
        </p:nvSpPr>
        <p:spPr>
          <a:xfrm>
            <a:off x="7043202" y="7227570"/>
            <a:ext cx="400050" cy="42672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6B7D5A"/>
              </a:buClr>
              <a:buSzPts val="2550"/>
              <a:buFont typeface="Arial"/>
              <a:buNone/>
            </a:pPr>
            <a:r>
              <a:rPr lang="en-US" sz="2550" b="0" i="0" u="none" strike="noStrike" cap="none">
                <a:solidFill>
                  <a:srgbClr val="6B7D5A"/>
                </a:solidFill>
                <a:latin typeface="Arial"/>
                <a:ea typeface="Arial"/>
                <a:cs typeface="Arial"/>
                <a:sym typeface="Arial"/>
              </a:rPr>
              <a:t>→</a:t>
            </a:r>
            <a:endParaRPr sz="2550" b="0" i="0" u="none" strike="noStrike" cap="none">
              <a:solidFill>
                <a:schemeClr val="dk1"/>
              </a:solidFill>
              <a:latin typeface="Calibri"/>
              <a:ea typeface="Calibri"/>
              <a:cs typeface="Calibri"/>
              <a:sym typeface="Calibri"/>
            </a:endParaRPr>
          </a:p>
        </p:txBody>
      </p:sp>
      <p:sp>
        <p:nvSpPr>
          <p:cNvPr id="137" name="Google Shape;137;p7"/>
          <p:cNvSpPr/>
          <p:nvPr/>
        </p:nvSpPr>
        <p:spPr>
          <a:xfrm>
            <a:off x="7519452" y="7067550"/>
            <a:ext cx="2708791" cy="708660"/>
          </a:xfrm>
          <a:prstGeom prst="roundRect">
            <a:avLst>
              <a:gd name="adj" fmla="val 16129"/>
            </a:avLst>
          </a:prstGeom>
          <a:solidFill>
            <a:srgbClr val="2A231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7"/>
          <p:cNvSpPr/>
          <p:nvPr/>
        </p:nvSpPr>
        <p:spPr>
          <a:xfrm>
            <a:off x="7784713" y="7221220"/>
            <a:ext cx="2256655" cy="36576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F4EEE4"/>
              </a:buClr>
              <a:buSzPts val="2250"/>
              <a:buFont typeface="Arial"/>
              <a:buNone/>
            </a:pPr>
            <a:r>
              <a:rPr lang="en-US" sz="1600" b="1" i="0" u="none" strike="noStrike" cap="none" dirty="0" err="1">
                <a:solidFill>
                  <a:srgbClr val="F4EEE4"/>
                </a:solidFill>
                <a:latin typeface="Arial"/>
                <a:ea typeface="Arial"/>
                <a:cs typeface="Arial"/>
                <a:sym typeface="Arial"/>
              </a:rPr>
              <a:t>Actuar</a:t>
            </a:r>
            <a:r>
              <a:rPr lang="en-US" sz="1600" b="1" i="0" u="none" strike="noStrike" cap="none" dirty="0">
                <a:solidFill>
                  <a:srgbClr val="F4EEE4"/>
                </a:solidFill>
                <a:latin typeface="Arial"/>
                <a:ea typeface="Arial"/>
                <a:cs typeface="Arial"/>
                <a:sym typeface="Arial"/>
              </a:rPr>
              <a:t> · </a:t>
            </a:r>
            <a:r>
              <a:rPr lang="en-US" sz="1600" b="1" i="0" u="none" strike="noStrike" cap="none" dirty="0" err="1">
                <a:solidFill>
                  <a:srgbClr val="F4EEE4"/>
                </a:solidFill>
                <a:latin typeface="Arial"/>
                <a:ea typeface="Arial"/>
                <a:cs typeface="Arial"/>
                <a:sym typeface="Arial"/>
              </a:rPr>
              <a:t>llamar</a:t>
            </a:r>
            <a:r>
              <a:rPr lang="en-US" sz="1600" b="1" i="0" u="none" strike="noStrike" cap="none" dirty="0">
                <a:solidFill>
                  <a:srgbClr val="F4EEE4"/>
                </a:solidFill>
                <a:latin typeface="Arial"/>
                <a:ea typeface="Arial"/>
                <a:cs typeface="Arial"/>
                <a:sym typeface="Arial"/>
              </a:rPr>
              <a:t> a </a:t>
            </a:r>
            <a:r>
              <a:rPr lang="en-US" sz="1600" b="1" i="0" u="none" strike="noStrike" cap="none" dirty="0" err="1">
                <a:solidFill>
                  <a:srgbClr val="F4EEE4"/>
                </a:solidFill>
                <a:latin typeface="Arial"/>
                <a:ea typeface="Arial"/>
                <a:cs typeface="Arial"/>
                <a:sym typeface="Arial"/>
              </a:rPr>
              <a:t>una</a:t>
            </a:r>
            <a:r>
              <a:rPr lang="en-US" sz="1600" b="1" i="0" u="none" strike="noStrike" cap="none" dirty="0">
                <a:solidFill>
                  <a:srgbClr val="F4EEE4"/>
                </a:solidFill>
                <a:latin typeface="Arial"/>
                <a:ea typeface="Arial"/>
                <a:cs typeface="Arial"/>
                <a:sym typeface="Arial"/>
              </a:rPr>
              <a:t> </a:t>
            </a:r>
            <a:r>
              <a:rPr lang="en-US" sz="1600" b="1" i="0" u="none" strike="noStrike" cap="none" dirty="0" err="1">
                <a:solidFill>
                  <a:srgbClr val="F4EEE4"/>
                </a:solidFill>
                <a:latin typeface="Arial"/>
                <a:ea typeface="Arial"/>
                <a:cs typeface="Arial"/>
                <a:sym typeface="Arial"/>
              </a:rPr>
              <a:t>herramienta</a:t>
            </a:r>
            <a:endParaRPr sz="2250" b="0" i="0" u="none" strike="noStrike" cap="none" dirty="0">
              <a:solidFill>
                <a:schemeClr val="dk1"/>
              </a:solidFill>
              <a:latin typeface="Calibri"/>
              <a:ea typeface="Calibri"/>
              <a:cs typeface="Calibri"/>
              <a:sym typeface="Calibri"/>
            </a:endParaRPr>
          </a:p>
        </p:txBody>
      </p:sp>
      <p:sp>
        <p:nvSpPr>
          <p:cNvPr id="139" name="Google Shape;139;p7"/>
          <p:cNvSpPr/>
          <p:nvPr/>
        </p:nvSpPr>
        <p:spPr>
          <a:xfrm>
            <a:off x="10380643" y="7227570"/>
            <a:ext cx="400050" cy="42672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6B7D5A"/>
              </a:buClr>
              <a:buSzPts val="2550"/>
              <a:buFont typeface="Arial"/>
              <a:buNone/>
            </a:pPr>
            <a:r>
              <a:rPr lang="en-US" sz="2550" b="0" i="0" u="none" strike="noStrike" cap="none">
                <a:solidFill>
                  <a:srgbClr val="6B7D5A"/>
                </a:solidFill>
                <a:latin typeface="Arial"/>
                <a:ea typeface="Arial"/>
                <a:cs typeface="Arial"/>
                <a:sym typeface="Arial"/>
              </a:rPr>
              <a:t>→</a:t>
            </a:r>
            <a:endParaRPr sz="2550" b="0" i="0" u="none" strike="noStrike" cap="none">
              <a:solidFill>
                <a:schemeClr val="dk1"/>
              </a:solidFill>
              <a:latin typeface="Calibri"/>
              <a:ea typeface="Calibri"/>
              <a:cs typeface="Calibri"/>
              <a:sym typeface="Calibri"/>
            </a:endParaRPr>
          </a:p>
        </p:txBody>
      </p:sp>
      <p:sp>
        <p:nvSpPr>
          <p:cNvPr id="140" name="Google Shape;140;p7"/>
          <p:cNvSpPr/>
          <p:nvPr/>
        </p:nvSpPr>
        <p:spPr>
          <a:xfrm>
            <a:off x="10856893" y="7059930"/>
            <a:ext cx="1692354" cy="723900"/>
          </a:xfrm>
          <a:prstGeom prst="roundRect">
            <a:avLst>
              <a:gd name="adj" fmla="val 15789"/>
            </a:avLst>
          </a:prstGeom>
          <a:solidFill>
            <a:srgbClr val="F4EEE4"/>
          </a:solidFill>
          <a:ln w="9525" cap="flat" cmpd="sng">
            <a:solidFill>
              <a:srgbClr val="E0D8C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7"/>
          <p:cNvSpPr/>
          <p:nvPr/>
        </p:nvSpPr>
        <p:spPr>
          <a:xfrm>
            <a:off x="11131213" y="7258050"/>
            <a:ext cx="1219914" cy="36576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2A231D"/>
              </a:buClr>
              <a:buSzPts val="2250"/>
              <a:buFont typeface="Arial"/>
              <a:buNone/>
            </a:pPr>
            <a:r>
              <a:rPr lang="en-US" sz="1600" b="1" i="0" u="none" strike="noStrike" cap="none" dirty="0" err="1">
                <a:solidFill>
                  <a:srgbClr val="2A231D"/>
                </a:solidFill>
                <a:latin typeface="Arial"/>
                <a:ea typeface="Arial"/>
                <a:cs typeface="Arial"/>
                <a:sym typeface="Arial"/>
              </a:rPr>
              <a:t>Observar</a:t>
            </a:r>
            <a:endParaRPr sz="2250" b="0" i="0" u="none" strike="noStrike" cap="none" dirty="0">
              <a:solidFill>
                <a:schemeClr val="dk1"/>
              </a:solidFill>
              <a:latin typeface="Calibri"/>
              <a:ea typeface="Calibri"/>
              <a:cs typeface="Calibri"/>
              <a:sym typeface="Calibri"/>
            </a:endParaRPr>
          </a:p>
        </p:txBody>
      </p:sp>
      <p:sp>
        <p:nvSpPr>
          <p:cNvPr id="142" name="Google Shape;142;p7"/>
          <p:cNvSpPr/>
          <p:nvPr/>
        </p:nvSpPr>
        <p:spPr>
          <a:xfrm>
            <a:off x="3877975" y="7974325"/>
            <a:ext cx="5224800" cy="388500"/>
          </a:xfrm>
          <a:prstGeom prst="rect">
            <a:avLst/>
          </a:prstGeom>
          <a:noFill/>
          <a:ln>
            <a:noFill/>
          </a:ln>
        </p:spPr>
        <p:txBody>
          <a:bodyPr spcFirstLastPara="1" wrap="square" lIns="30850" tIns="30850" rIns="30850" bIns="30850" anchor="t" anchorCtr="0">
            <a:noAutofit/>
          </a:bodyPr>
          <a:lstStyle/>
          <a:p>
            <a:pPr marL="0" marR="0" lvl="0" indent="0" algn="l" rtl="0">
              <a:spcBef>
                <a:spcPts val="0"/>
              </a:spcBef>
              <a:spcAft>
                <a:spcPts val="0"/>
              </a:spcAft>
              <a:buClr>
                <a:srgbClr val="6B7D5A"/>
              </a:buClr>
              <a:buSzPts val="1823"/>
              <a:buFont typeface="Space Mono"/>
              <a:buNone/>
            </a:pPr>
            <a:r>
              <a:rPr lang="en-US" sz="2187" b="0" i="0" u="none" strike="noStrike" cap="none">
                <a:solidFill>
                  <a:srgbClr val="6B7D5A"/>
                </a:solidFill>
                <a:latin typeface="Space Mono"/>
                <a:ea typeface="Space Mono"/>
                <a:cs typeface="Space Mono"/>
                <a:sym typeface="Space Mono"/>
              </a:rPr>
              <a:t>↻ repetir hasta cumplir el objetivo</a:t>
            </a:r>
            <a:endParaRPr sz="2187" b="0" i="0" u="none" strike="noStrike" cap="none">
              <a:solidFill>
                <a:schemeClr val="dk1"/>
              </a:solidFill>
              <a:latin typeface="Calibri"/>
              <a:ea typeface="Calibri"/>
              <a:cs typeface="Calibri"/>
              <a:sym typeface="Calibri"/>
            </a:endParaRPr>
          </a:p>
        </p:txBody>
      </p:sp>
      <p:sp>
        <p:nvSpPr>
          <p:cNvPr id="143" name="Google Shape;143;p7"/>
          <p:cNvSpPr/>
          <p:nvPr/>
        </p:nvSpPr>
        <p:spPr>
          <a:xfrm>
            <a:off x="8734961" y="7974330"/>
            <a:ext cx="192822" cy="32004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B6A895"/>
              </a:buClr>
              <a:buSzPts val="1500"/>
              <a:buFont typeface="Space Mono"/>
              <a:buNone/>
            </a:pPr>
            <a:r>
              <a:rPr lang="en-US" sz="1500" b="0" i="0" u="none" strike="noStrike" cap="none">
                <a:solidFill>
                  <a:srgbClr val="B6A895"/>
                </a:solidFill>
                <a:latin typeface="Space Mono"/>
                <a:ea typeface="Space Mono"/>
                <a:cs typeface="Space Mono"/>
                <a:sym typeface="Space Mono"/>
              </a:rPr>
              <a:t>|</a:t>
            </a:r>
            <a:endParaRPr sz="1500" b="0" i="0" u="none" strike="noStrike" cap="none">
              <a:solidFill>
                <a:schemeClr val="dk1"/>
              </a:solidFill>
              <a:latin typeface="Calibri"/>
              <a:ea typeface="Calibri"/>
              <a:cs typeface="Calibri"/>
              <a:sym typeface="Calibri"/>
            </a:endParaRPr>
          </a:p>
        </p:txBody>
      </p:sp>
      <p:sp>
        <p:nvSpPr>
          <p:cNvPr id="144" name="Google Shape;144;p7"/>
          <p:cNvSpPr/>
          <p:nvPr/>
        </p:nvSpPr>
        <p:spPr>
          <a:xfrm>
            <a:off x="9148805" y="7974325"/>
            <a:ext cx="6273300" cy="388500"/>
          </a:xfrm>
          <a:prstGeom prst="rect">
            <a:avLst/>
          </a:prstGeom>
          <a:noFill/>
          <a:ln>
            <a:noFill/>
          </a:ln>
        </p:spPr>
        <p:txBody>
          <a:bodyPr spcFirstLastPara="1" wrap="square" lIns="30850" tIns="30850" rIns="30850" bIns="30850" anchor="t" anchorCtr="0">
            <a:noAutofit/>
          </a:bodyPr>
          <a:lstStyle/>
          <a:p>
            <a:pPr marL="0" marR="0" lvl="0" indent="0" algn="l" rtl="0">
              <a:spcBef>
                <a:spcPts val="0"/>
              </a:spcBef>
              <a:spcAft>
                <a:spcPts val="0"/>
              </a:spcAft>
              <a:buClr>
                <a:srgbClr val="897F71"/>
              </a:buClr>
              <a:buSzPts val="1823"/>
              <a:buFont typeface="Space Mono"/>
              <a:buNone/>
            </a:pPr>
            <a:r>
              <a:rPr lang="en-US" sz="2187" b="0" i="0" u="none" strike="noStrike" cap="none" dirty="0" err="1">
                <a:solidFill>
                  <a:srgbClr val="897F71"/>
                </a:solidFill>
                <a:latin typeface="Space Mono"/>
                <a:ea typeface="Space Mono"/>
                <a:cs typeface="Space Mono"/>
                <a:sym typeface="Space Mono"/>
              </a:rPr>
              <a:t>herramientas</a:t>
            </a:r>
            <a:r>
              <a:rPr lang="en-US" sz="2187" b="0" i="0" u="none" strike="noStrike" cap="none" dirty="0">
                <a:solidFill>
                  <a:srgbClr val="897F71"/>
                </a:solidFill>
                <a:latin typeface="Space Mono"/>
                <a:ea typeface="Space Mono"/>
                <a:cs typeface="Space Mono"/>
                <a:sym typeface="Space Mono"/>
              </a:rPr>
              <a:t>: </a:t>
            </a:r>
            <a:r>
              <a:rPr lang="en-US" sz="2187" b="0" i="0" u="none" strike="noStrike" cap="none" dirty="0" err="1">
                <a:solidFill>
                  <a:srgbClr val="897F71"/>
                </a:solidFill>
                <a:latin typeface="Space Mono"/>
                <a:ea typeface="Space Mono"/>
                <a:cs typeface="Space Mono"/>
                <a:sym typeface="Space Mono"/>
              </a:rPr>
              <a:t>consultar</a:t>
            </a:r>
            <a:r>
              <a:rPr lang="en-US" sz="2187" b="0" i="0" u="none" strike="noStrike" cap="none" dirty="0">
                <a:solidFill>
                  <a:srgbClr val="897F71"/>
                </a:solidFill>
                <a:latin typeface="Space Mono"/>
                <a:ea typeface="Space Mono"/>
                <a:cs typeface="Space Mono"/>
                <a:sym typeface="Space Mono"/>
              </a:rPr>
              <a:t> BD · </a:t>
            </a:r>
            <a:r>
              <a:rPr lang="en-US" sz="2187" b="0" i="0" u="none" strike="noStrike" cap="none" dirty="0" err="1">
                <a:solidFill>
                  <a:srgbClr val="897F71"/>
                </a:solidFill>
                <a:latin typeface="Space Mono"/>
                <a:ea typeface="Space Mono"/>
                <a:cs typeface="Space Mono"/>
                <a:sym typeface="Space Mono"/>
              </a:rPr>
              <a:t>llamar</a:t>
            </a:r>
            <a:r>
              <a:rPr lang="en-US" sz="2187" b="0" i="0" u="none" strike="noStrike" cap="none" dirty="0">
                <a:solidFill>
                  <a:srgbClr val="897F71"/>
                </a:solidFill>
                <a:latin typeface="Space Mono"/>
                <a:ea typeface="Space Mono"/>
                <a:cs typeface="Space Mono"/>
                <a:sym typeface="Space Mono"/>
              </a:rPr>
              <a:t> API · </a:t>
            </a:r>
            <a:r>
              <a:rPr lang="en-US" sz="2187" b="0" i="0" u="none" strike="noStrike" cap="none" dirty="0" err="1">
                <a:solidFill>
                  <a:srgbClr val="897F71"/>
                </a:solidFill>
                <a:latin typeface="Space Mono"/>
                <a:ea typeface="Space Mono"/>
                <a:cs typeface="Space Mono"/>
                <a:sym typeface="Space Mono"/>
              </a:rPr>
              <a:t>ejecutar</a:t>
            </a:r>
            <a:r>
              <a:rPr lang="en-US" sz="2187" b="0" i="0" u="none" strike="noStrike" cap="none" dirty="0">
                <a:solidFill>
                  <a:srgbClr val="897F71"/>
                </a:solidFill>
                <a:latin typeface="Space Mono"/>
                <a:ea typeface="Space Mono"/>
                <a:cs typeface="Space Mono"/>
                <a:sym typeface="Space Mono"/>
              </a:rPr>
              <a:t> </a:t>
            </a:r>
            <a:r>
              <a:rPr lang="en-US" sz="2187" b="0" i="0" u="none" strike="noStrike" cap="none" dirty="0" err="1">
                <a:solidFill>
                  <a:srgbClr val="897F71"/>
                </a:solidFill>
                <a:latin typeface="Space Mono"/>
                <a:ea typeface="Space Mono"/>
                <a:cs typeface="Space Mono"/>
                <a:sym typeface="Space Mono"/>
              </a:rPr>
              <a:t>código</a:t>
            </a:r>
            <a:endParaRPr sz="2187" b="0" i="0" u="none" strike="noStrike" cap="none" dirty="0">
              <a:solidFill>
                <a:schemeClr val="dk1"/>
              </a:solidFill>
              <a:latin typeface="Calibri"/>
              <a:ea typeface="Calibri"/>
              <a:cs typeface="Calibri"/>
              <a:sym typeface="Calibri"/>
            </a:endParaRPr>
          </a:p>
        </p:txBody>
      </p:sp>
      <p:sp>
        <p:nvSpPr>
          <p:cNvPr id="145" name="Google Shape;145;p7"/>
          <p:cNvSpPr txBox="1"/>
          <p:nvPr/>
        </p:nvSpPr>
        <p:spPr>
          <a:xfrm>
            <a:off x="16431675" y="9790250"/>
            <a:ext cx="1740000" cy="388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t>v1.5 - @frankgreco</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EEE4"/>
        </a:solidFill>
        <a:effectLst/>
      </p:bgPr>
    </p:bg>
    <p:spTree>
      <p:nvGrpSpPr>
        <p:cNvPr id="1" name="Shape 150"/>
        <p:cNvGrpSpPr/>
        <p:nvPr/>
      </p:nvGrpSpPr>
      <p:grpSpPr>
        <a:xfrm>
          <a:off x="0" y="0"/>
          <a:ext cx="0" cy="0"/>
          <a:chOff x="0" y="0"/>
          <a:chExt cx="0" cy="0"/>
        </a:xfrm>
      </p:grpSpPr>
      <p:sp>
        <p:nvSpPr>
          <p:cNvPr id="151" name="Google Shape;151;p8"/>
          <p:cNvSpPr/>
          <p:nvPr/>
        </p:nvSpPr>
        <p:spPr>
          <a:xfrm>
            <a:off x="990600" y="1436370"/>
            <a:ext cx="17937480" cy="762000"/>
          </a:xfrm>
          <a:prstGeom prst="rect">
            <a:avLst/>
          </a:prstGeom>
          <a:noFill/>
          <a:ln>
            <a:noFill/>
          </a:ln>
        </p:spPr>
        <p:txBody>
          <a:bodyPr spcFirstLastPara="1" wrap="square" lIns="25400" tIns="25400" rIns="25400" bIns="25400" anchor="t" anchorCtr="0">
            <a:noAutofit/>
          </a:bodyPr>
          <a:lstStyle/>
          <a:p>
            <a:pPr marL="0" marR="0" lvl="0" indent="0" algn="l" rtl="0">
              <a:lnSpc>
                <a:spcPct val="100000"/>
              </a:lnSpc>
              <a:spcBef>
                <a:spcPts val="0"/>
              </a:spcBef>
              <a:spcAft>
                <a:spcPts val="0"/>
              </a:spcAft>
              <a:buClr>
                <a:srgbClr val="2A231D"/>
              </a:buClr>
              <a:buSzPts val="5700"/>
              <a:buFont typeface="Newsreader"/>
              <a:buNone/>
            </a:pPr>
            <a:r>
              <a:rPr lang="en-US" sz="5700" b="0" i="0" u="none" strike="noStrike" cap="none">
                <a:solidFill>
                  <a:srgbClr val="2A231D"/>
                </a:solidFill>
                <a:latin typeface="Newsreader"/>
                <a:ea typeface="Newsreader"/>
                <a:cs typeface="Newsreader"/>
                <a:sym typeface="Newsreader"/>
              </a:rPr>
              <a:t>Tu kit de herramientas de IA</a:t>
            </a:r>
            <a:endParaRPr sz="5700" b="0" i="0" u="none" strike="noStrike" cap="none">
              <a:solidFill>
                <a:schemeClr val="dk1"/>
              </a:solidFill>
              <a:latin typeface="Calibri"/>
              <a:ea typeface="Calibri"/>
              <a:cs typeface="Calibri"/>
              <a:sym typeface="Calibri"/>
            </a:endParaRPr>
          </a:p>
        </p:txBody>
      </p:sp>
      <p:sp>
        <p:nvSpPr>
          <p:cNvPr id="152" name="Google Shape;152;p8"/>
          <p:cNvSpPr/>
          <p:nvPr/>
        </p:nvSpPr>
        <p:spPr>
          <a:xfrm>
            <a:off x="990600" y="2274570"/>
            <a:ext cx="17937480" cy="36576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5E564B"/>
              </a:buClr>
              <a:buSzPts val="2250"/>
              <a:buFont typeface="Arial"/>
              <a:buNone/>
            </a:pPr>
            <a:r>
              <a:rPr lang="en-US" sz="2250">
                <a:solidFill>
                  <a:srgbClr val="5E564B"/>
                </a:solidFill>
              </a:rPr>
              <a:t>Algunas sugerencias para </a:t>
            </a:r>
            <a:r>
              <a:rPr lang="en-US" sz="2250" b="0" i="0" u="none" strike="noStrike" cap="none">
                <a:solidFill>
                  <a:srgbClr val="5E564B"/>
                </a:solidFill>
                <a:latin typeface="Arial"/>
                <a:ea typeface="Arial"/>
                <a:cs typeface="Arial"/>
                <a:sym typeface="Arial"/>
              </a:rPr>
              <a:t>construir apps de IA generativa sin salir de la JVM.</a:t>
            </a:r>
            <a:endParaRPr sz="2250" b="0" i="0" u="none" strike="noStrike" cap="none">
              <a:solidFill>
                <a:schemeClr val="dk1"/>
              </a:solidFill>
              <a:latin typeface="Calibri"/>
              <a:ea typeface="Calibri"/>
              <a:cs typeface="Calibri"/>
              <a:sym typeface="Calibri"/>
            </a:endParaRPr>
          </a:p>
        </p:txBody>
      </p:sp>
      <p:sp>
        <p:nvSpPr>
          <p:cNvPr id="153" name="Google Shape;153;p8"/>
          <p:cNvSpPr/>
          <p:nvPr/>
        </p:nvSpPr>
        <p:spPr>
          <a:xfrm>
            <a:off x="990600" y="3166110"/>
            <a:ext cx="16306800" cy="861000"/>
          </a:xfrm>
          <a:prstGeom prst="roundRect">
            <a:avLst>
              <a:gd name="adj" fmla="val 15487"/>
            </a:avLst>
          </a:prstGeom>
          <a:solidFill>
            <a:srgbClr val="FBF8F1"/>
          </a:solidFill>
          <a:ln w="9525" cap="flat" cmpd="sng">
            <a:solidFill>
              <a:srgbClr val="E0D8C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8"/>
          <p:cNvSpPr/>
          <p:nvPr/>
        </p:nvSpPr>
        <p:spPr>
          <a:xfrm>
            <a:off x="1303020" y="3427095"/>
            <a:ext cx="457200" cy="37710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BF5A3C"/>
              </a:buClr>
              <a:buSzPts val="1800"/>
              <a:buFont typeface="Space Mono"/>
              <a:buNone/>
            </a:pPr>
            <a:r>
              <a:rPr lang="en-US" sz="1800" b="0" i="0" u="none" strike="noStrike" cap="none">
                <a:solidFill>
                  <a:srgbClr val="BF5A3C"/>
                </a:solidFill>
                <a:latin typeface="Space Mono"/>
                <a:ea typeface="Space Mono"/>
                <a:cs typeface="Space Mono"/>
                <a:sym typeface="Space Mono"/>
              </a:rPr>
              <a:t>01</a:t>
            </a:r>
            <a:endParaRPr sz="1800" b="0" i="0" u="none" strike="noStrike" cap="none">
              <a:solidFill>
                <a:schemeClr val="dk1"/>
              </a:solidFill>
              <a:latin typeface="Calibri"/>
              <a:ea typeface="Calibri"/>
              <a:cs typeface="Calibri"/>
              <a:sym typeface="Calibri"/>
            </a:endParaRPr>
          </a:p>
        </p:txBody>
      </p:sp>
      <p:sp>
        <p:nvSpPr>
          <p:cNvPr id="155" name="Google Shape;155;p8"/>
          <p:cNvSpPr/>
          <p:nvPr/>
        </p:nvSpPr>
        <p:spPr>
          <a:xfrm>
            <a:off x="1912620" y="3421380"/>
            <a:ext cx="3352800" cy="388500"/>
          </a:xfrm>
          <a:prstGeom prst="rect">
            <a:avLst/>
          </a:prstGeom>
          <a:noFill/>
          <a:ln>
            <a:noFill/>
          </a:ln>
        </p:spPr>
        <p:txBody>
          <a:bodyPr spcFirstLastPara="1" wrap="square" lIns="25400" tIns="25400" rIns="25400" bIns="25400" anchor="ctr" anchorCtr="0">
            <a:noAutofit/>
          </a:bodyPr>
          <a:lstStyle/>
          <a:p>
            <a:pPr marL="0" marR="0" lvl="0" indent="0" algn="l" rtl="0">
              <a:spcBef>
                <a:spcPts val="0"/>
              </a:spcBef>
              <a:spcAft>
                <a:spcPts val="0"/>
              </a:spcAft>
              <a:buClr>
                <a:srgbClr val="2A231D"/>
              </a:buClr>
              <a:buSzPts val="2400"/>
              <a:buFont typeface="Arial"/>
              <a:buNone/>
            </a:pPr>
            <a:r>
              <a:rPr lang="en-US" sz="2400" b="1" i="0" u="none" strike="noStrike" cap="none">
                <a:solidFill>
                  <a:srgbClr val="2A231D"/>
                </a:solidFill>
                <a:latin typeface="Arial"/>
                <a:ea typeface="Arial"/>
                <a:cs typeface="Arial"/>
                <a:sym typeface="Arial"/>
              </a:rPr>
              <a:t>Asistentes de IA para</a:t>
            </a:r>
            <a:r>
              <a:rPr lang="en-US" sz="2400" b="1">
                <a:solidFill>
                  <a:srgbClr val="2A231D"/>
                </a:solidFill>
              </a:rPr>
              <a:t> programa</a:t>
            </a:r>
            <a:r>
              <a:rPr lang="en-US" sz="2400" b="1" i="0" u="none" strike="noStrike" cap="none">
                <a:solidFill>
                  <a:srgbClr val="2A231D"/>
                </a:solidFill>
                <a:latin typeface="Arial"/>
                <a:ea typeface="Arial"/>
                <a:cs typeface="Arial"/>
                <a:sym typeface="Arial"/>
              </a:rPr>
              <a:t>ción</a:t>
            </a:r>
            <a:endParaRPr sz="2400" b="0" i="0" u="none" strike="noStrike" cap="none">
              <a:solidFill>
                <a:schemeClr val="dk1"/>
              </a:solidFill>
              <a:latin typeface="Calibri"/>
              <a:ea typeface="Calibri"/>
              <a:cs typeface="Calibri"/>
              <a:sym typeface="Calibri"/>
            </a:endParaRPr>
          </a:p>
        </p:txBody>
      </p:sp>
      <p:sp>
        <p:nvSpPr>
          <p:cNvPr id="156" name="Google Shape;156;p8"/>
          <p:cNvSpPr/>
          <p:nvPr/>
        </p:nvSpPr>
        <p:spPr>
          <a:xfrm>
            <a:off x="5189220" y="3461385"/>
            <a:ext cx="12975300" cy="308700"/>
          </a:xfrm>
          <a:prstGeom prst="rect">
            <a:avLst/>
          </a:prstGeom>
          <a:noFill/>
          <a:ln>
            <a:noFill/>
          </a:ln>
        </p:spPr>
        <p:txBody>
          <a:bodyPr spcFirstLastPara="1" wrap="square" lIns="25400" tIns="25400" rIns="25400" bIns="25400" anchor="ctr" anchorCtr="0">
            <a:noAutofit/>
          </a:bodyPr>
          <a:lstStyle/>
          <a:p>
            <a:pPr marL="0" marR="0" lvl="0" indent="0" algn="l" rtl="0">
              <a:spcBef>
                <a:spcPts val="0"/>
              </a:spcBef>
              <a:spcAft>
                <a:spcPts val="0"/>
              </a:spcAft>
              <a:buClr>
                <a:srgbClr val="5E564B"/>
              </a:buClr>
              <a:buSzPts val="1875"/>
              <a:buFont typeface="Arial"/>
              <a:buNone/>
            </a:pPr>
            <a:r>
              <a:rPr lang="en-US" sz="2300" b="0" i="0" u="none" strike="noStrike" cap="none">
                <a:solidFill>
                  <a:srgbClr val="5E564B"/>
                </a:solidFill>
                <a:latin typeface="Arial"/>
                <a:ea typeface="Arial"/>
                <a:cs typeface="Arial"/>
                <a:sym typeface="Arial"/>
              </a:rPr>
              <a:t>Programación en pareja dentro del IDE para codificar, refactorizar y probar a diario.</a:t>
            </a:r>
            <a:endParaRPr sz="2300" b="0" i="0" u="none" strike="noStrike" cap="none">
              <a:solidFill>
                <a:schemeClr val="dk1"/>
              </a:solidFill>
              <a:latin typeface="Calibri"/>
              <a:ea typeface="Calibri"/>
              <a:cs typeface="Calibri"/>
              <a:sym typeface="Calibri"/>
            </a:endParaRPr>
          </a:p>
        </p:txBody>
      </p:sp>
      <p:sp>
        <p:nvSpPr>
          <p:cNvPr id="157" name="Google Shape;157;p8"/>
          <p:cNvSpPr/>
          <p:nvPr/>
        </p:nvSpPr>
        <p:spPr>
          <a:xfrm>
            <a:off x="990600" y="4217670"/>
            <a:ext cx="16306800" cy="861000"/>
          </a:xfrm>
          <a:prstGeom prst="roundRect">
            <a:avLst>
              <a:gd name="adj" fmla="val 15487"/>
            </a:avLst>
          </a:prstGeom>
          <a:solidFill>
            <a:srgbClr val="FBF8F1"/>
          </a:solidFill>
          <a:ln w="9525" cap="flat" cmpd="sng">
            <a:solidFill>
              <a:srgbClr val="E0D8C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8"/>
          <p:cNvSpPr/>
          <p:nvPr/>
        </p:nvSpPr>
        <p:spPr>
          <a:xfrm>
            <a:off x="1303020" y="4478655"/>
            <a:ext cx="457200" cy="37710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BF5A3C"/>
              </a:buClr>
              <a:buSzPts val="1800"/>
              <a:buFont typeface="Space Mono"/>
              <a:buNone/>
            </a:pPr>
            <a:r>
              <a:rPr lang="en-US" sz="1800" b="0" i="0" u="none" strike="noStrike" cap="none">
                <a:solidFill>
                  <a:srgbClr val="BF5A3C"/>
                </a:solidFill>
                <a:latin typeface="Space Mono"/>
                <a:ea typeface="Space Mono"/>
                <a:cs typeface="Space Mono"/>
                <a:sym typeface="Space Mono"/>
              </a:rPr>
              <a:t>02</a:t>
            </a:r>
            <a:endParaRPr sz="1800" b="0" i="0" u="none" strike="noStrike" cap="none">
              <a:solidFill>
                <a:schemeClr val="dk1"/>
              </a:solidFill>
              <a:latin typeface="Calibri"/>
              <a:ea typeface="Calibri"/>
              <a:cs typeface="Calibri"/>
              <a:sym typeface="Calibri"/>
            </a:endParaRPr>
          </a:p>
        </p:txBody>
      </p:sp>
      <p:sp>
        <p:nvSpPr>
          <p:cNvPr id="159" name="Google Shape;159;p8"/>
          <p:cNvSpPr/>
          <p:nvPr/>
        </p:nvSpPr>
        <p:spPr>
          <a:xfrm>
            <a:off x="1912620" y="4472940"/>
            <a:ext cx="3352800" cy="388500"/>
          </a:xfrm>
          <a:prstGeom prst="rect">
            <a:avLst/>
          </a:prstGeom>
          <a:noFill/>
          <a:ln>
            <a:noFill/>
          </a:ln>
        </p:spPr>
        <p:txBody>
          <a:bodyPr spcFirstLastPara="1" wrap="square" lIns="25400" tIns="25400" rIns="25400" bIns="25400" anchor="ctr" anchorCtr="0">
            <a:noAutofit/>
          </a:bodyPr>
          <a:lstStyle/>
          <a:p>
            <a:pPr marL="0" marR="0" lvl="0" indent="0" algn="l" rtl="0">
              <a:spcBef>
                <a:spcPts val="0"/>
              </a:spcBef>
              <a:spcAft>
                <a:spcPts val="0"/>
              </a:spcAft>
              <a:buClr>
                <a:srgbClr val="2A231D"/>
              </a:buClr>
              <a:buSzPts val="2400"/>
              <a:buFont typeface="Arial"/>
              <a:buNone/>
            </a:pPr>
            <a:r>
              <a:rPr lang="en-US" sz="2400" b="1" i="0" u="none" strike="noStrike" cap="none">
                <a:solidFill>
                  <a:srgbClr val="2A231D"/>
                </a:solidFill>
                <a:latin typeface="Arial"/>
                <a:ea typeface="Arial"/>
                <a:cs typeface="Arial"/>
                <a:sym typeface="Arial"/>
              </a:rPr>
              <a:t>LLM locales</a:t>
            </a:r>
            <a:endParaRPr sz="2400" b="0" i="0" u="none" strike="noStrike" cap="none">
              <a:solidFill>
                <a:schemeClr val="dk1"/>
              </a:solidFill>
              <a:latin typeface="Calibri"/>
              <a:ea typeface="Calibri"/>
              <a:cs typeface="Calibri"/>
              <a:sym typeface="Calibri"/>
            </a:endParaRPr>
          </a:p>
        </p:txBody>
      </p:sp>
      <p:sp>
        <p:nvSpPr>
          <p:cNvPr id="160" name="Google Shape;160;p8"/>
          <p:cNvSpPr/>
          <p:nvPr/>
        </p:nvSpPr>
        <p:spPr>
          <a:xfrm>
            <a:off x="5189220" y="4512945"/>
            <a:ext cx="12975300" cy="308700"/>
          </a:xfrm>
          <a:prstGeom prst="rect">
            <a:avLst/>
          </a:prstGeom>
          <a:noFill/>
          <a:ln>
            <a:noFill/>
          </a:ln>
        </p:spPr>
        <p:txBody>
          <a:bodyPr spcFirstLastPara="1" wrap="square" lIns="25400" tIns="25400" rIns="25400" bIns="25400" anchor="ctr" anchorCtr="0">
            <a:noAutofit/>
          </a:bodyPr>
          <a:lstStyle/>
          <a:p>
            <a:pPr marL="0" marR="0" lvl="0" indent="0" algn="l" rtl="0">
              <a:spcBef>
                <a:spcPts val="0"/>
              </a:spcBef>
              <a:spcAft>
                <a:spcPts val="0"/>
              </a:spcAft>
              <a:buClr>
                <a:srgbClr val="5E564B"/>
              </a:buClr>
              <a:buSzPts val="1875"/>
              <a:buFont typeface="Arial"/>
              <a:buNone/>
            </a:pPr>
            <a:r>
              <a:rPr lang="en-US" sz="2300" b="0" i="0" u="none" strike="noStrike" cap="none">
                <a:solidFill>
                  <a:srgbClr val="5E564B"/>
                </a:solidFill>
                <a:latin typeface="Arial"/>
                <a:ea typeface="Arial"/>
                <a:cs typeface="Arial"/>
                <a:sym typeface="Arial"/>
              </a:rPr>
              <a:t>Ejecuta modelos en tu propia máquina</a:t>
            </a:r>
            <a:r>
              <a:rPr lang="en-US" sz="2300">
                <a:solidFill>
                  <a:srgbClr val="5E564B"/>
                </a:solidFill>
              </a:rPr>
              <a:t>… </a:t>
            </a:r>
            <a:r>
              <a:rPr lang="en-US" sz="2300" b="0" i="0" u="none" strike="noStrike" cap="none">
                <a:solidFill>
                  <a:srgbClr val="5E564B"/>
                </a:solidFill>
                <a:latin typeface="Arial"/>
                <a:ea typeface="Arial"/>
                <a:cs typeface="Arial"/>
                <a:sym typeface="Arial"/>
              </a:rPr>
              <a:t>privado, sin conexión, sin costo por token. </a:t>
            </a:r>
            <a:r>
              <a:rPr lang="en-US" sz="2300" b="0" i="0" u="none" strike="noStrike" cap="none">
                <a:solidFill>
                  <a:srgbClr val="897F71"/>
                </a:solidFill>
                <a:latin typeface="Arial"/>
                <a:ea typeface="Arial"/>
                <a:cs typeface="Arial"/>
                <a:sym typeface="Arial"/>
              </a:rPr>
              <a:t>(Ollama/LMStudio)</a:t>
            </a:r>
            <a:endParaRPr sz="2300" b="0" i="0" u="none" strike="noStrike" cap="none">
              <a:solidFill>
                <a:schemeClr val="dk1"/>
              </a:solidFill>
              <a:latin typeface="Calibri"/>
              <a:ea typeface="Calibri"/>
              <a:cs typeface="Calibri"/>
              <a:sym typeface="Calibri"/>
            </a:endParaRPr>
          </a:p>
        </p:txBody>
      </p:sp>
      <p:sp>
        <p:nvSpPr>
          <p:cNvPr id="161" name="Google Shape;161;p8"/>
          <p:cNvSpPr/>
          <p:nvPr/>
        </p:nvSpPr>
        <p:spPr>
          <a:xfrm>
            <a:off x="990600" y="5269230"/>
            <a:ext cx="16306800" cy="861000"/>
          </a:xfrm>
          <a:prstGeom prst="roundRect">
            <a:avLst>
              <a:gd name="adj" fmla="val 15487"/>
            </a:avLst>
          </a:prstGeom>
          <a:solidFill>
            <a:srgbClr val="FBF8F1"/>
          </a:solidFill>
          <a:ln w="9525" cap="flat" cmpd="sng">
            <a:solidFill>
              <a:srgbClr val="E0D8C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8"/>
          <p:cNvSpPr/>
          <p:nvPr/>
        </p:nvSpPr>
        <p:spPr>
          <a:xfrm>
            <a:off x="1303020" y="5530215"/>
            <a:ext cx="457200" cy="37710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BF5A3C"/>
              </a:buClr>
              <a:buSzPts val="1800"/>
              <a:buFont typeface="Space Mono"/>
              <a:buNone/>
            </a:pPr>
            <a:r>
              <a:rPr lang="en-US" sz="1800" b="0" i="0" u="none" strike="noStrike" cap="none">
                <a:solidFill>
                  <a:srgbClr val="BF5A3C"/>
                </a:solidFill>
                <a:latin typeface="Space Mono"/>
                <a:ea typeface="Space Mono"/>
                <a:cs typeface="Space Mono"/>
                <a:sym typeface="Space Mono"/>
              </a:rPr>
              <a:t>03</a:t>
            </a:r>
            <a:endParaRPr sz="1800" b="0" i="0" u="none" strike="noStrike" cap="none">
              <a:solidFill>
                <a:schemeClr val="dk1"/>
              </a:solidFill>
              <a:latin typeface="Calibri"/>
              <a:ea typeface="Calibri"/>
              <a:cs typeface="Calibri"/>
              <a:sym typeface="Calibri"/>
            </a:endParaRPr>
          </a:p>
        </p:txBody>
      </p:sp>
      <p:sp>
        <p:nvSpPr>
          <p:cNvPr id="163" name="Google Shape;163;p8"/>
          <p:cNvSpPr/>
          <p:nvPr/>
        </p:nvSpPr>
        <p:spPr>
          <a:xfrm>
            <a:off x="1912620" y="5524500"/>
            <a:ext cx="3352800" cy="388500"/>
          </a:xfrm>
          <a:prstGeom prst="rect">
            <a:avLst/>
          </a:prstGeom>
          <a:noFill/>
          <a:ln>
            <a:noFill/>
          </a:ln>
        </p:spPr>
        <p:txBody>
          <a:bodyPr spcFirstLastPara="1" wrap="square" lIns="25400" tIns="25400" rIns="25400" bIns="25400" anchor="ctr" anchorCtr="0">
            <a:noAutofit/>
          </a:bodyPr>
          <a:lstStyle/>
          <a:p>
            <a:pPr marL="0" marR="0" lvl="0" indent="0" algn="l" rtl="0">
              <a:spcBef>
                <a:spcPts val="0"/>
              </a:spcBef>
              <a:spcAft>
                <a:spcPts val="0"/>
              </a:spcAft>
              <a:buClr>
                <a:srgbClr val="2A231D"/>
              </a:buClr>
              <a:buSzPts val="2400"/>
              <a:buFont typeface="Arial"/>
              <a:buNone/>
            </a:pPr>
            <a:r>
              <a:rPr lang="en-US" sz="2400" b="1" i="0" u="none" strike="noStrike" cap="none">
                <a:solidFill>
                  <a:srgbClr val="2A231D"/>
                </a:solidFill>
                <a:latin typeface="Arial"/>
                <a:ea typeface="Arial"/>
                <a:cs typeface="Arial"/>
                <a:sym typeface="Arial"/>
              </a:rPr>
              <a:t>LangChain4j¹</a:t>
            </a:r>
            <a:endParaRPr sz="2400" b="0" i="0" u="none" strike="noStrike" cap="none">
              <a:solidFill>
                <a:schemeClr val="dk1"/>
              </a:solidFill>
              <a:latin typeface="Calibri"/>
              <a:ea typeface="Calibri"/>
              <a:cs typeface="Calibri"/>
              <a:sym typeface="Calibri"/>
            </a:endParaRPr>
          </a:p>
        </p:txBody>
      </p:sp>
      <p:sp>
        <p:nvSpPr>
          <p:cNvPr id="164" name="Google Shape;164;p8"/>
          <p:cNvSpPr/>
          <p:nvPr/>
        </p:nvSpPr>
        <p:spPr>
          <a:xfrm>
            <a:off x="5189220" y="5564505"/>
            <a:ext cx="12975300" cy="308700"/>
          </a:xfrm>
          <a:prstGeom prst="rect">
            <a:avLst/>
          </a:prstGeom>
          <a:noFill/>
          <a:ln>
            <a:noFill/>
          </a:ln>
        </p:spPr>
        <p:txBody>
          <a:bodyPr spcFirstLastPara="1" wrap="square" lIns="25400" tIns="25400" rIns="25400" bIns="25400" anchor="ctr" anchorCtr="0">
            <a:noAutofit/>
          </a:bodyPr>
          <a:lstStyle/>
          <a:p>
            <a:pPr marL="0" marR="0" lvl="0" indent="0" algn="l" rtl="0">
              <a:spcBef>
                <a:spcPts val="0"/>
              </a:spcBef>
              <a:spcAft>
                <a:spcPts val="0"/>
              </a:spcAft>
              <a:buClr>
                <a:srgbClr val="5E564B"/>
              </a:buClr>
              <a:buSzPts val="1875"/>
              <a:buFont typeface="Arial"/>
              <a:buNone/>
            </a:pPr>
            <a:r>
              <a:rPr lang="en-US" sz="2300" b="0" i="0" u="none" strike="noStrike" cap="none">
                <a:solidFill>
                  <a:srgbClr val="5E564B"/>
                </a:solidFill>
                <a:latin typeface="Arial"/>
                <a:ea typeface="Arial"/>
                <a:cs typeface="Arial"/>
                <a:sym typeface="Arial"/>
              </a:rPr>
              <a:t>La capa de orquestación</a:t>
            </a:r>
            <a:r>
              <a:rPr lang="en-US" sz="2300">
                <a:solidFill>
                  <a:srgbClr val="5E564B"/>
                </a:solidFill>
              </a:rPr>
              <a:t>: </a:t>
            </a:r>
            <a:r>
              <a:rPr lang="en-US" sz="2300" b="0" i="0" u="none" strike="noStrike" cap="none">
                <a:solidFill>
                  <a:srgbClr val="5E564B"/>
                </a:solidFill>
                <a:latin typeface="Arial"/>
                <a:ea typeface="Arial"/>
                <a:cs typeface="Arial"/>
                <a:sym typeface="Arial"/>
              </a:rPr>
              <a:t>chat, RAG, herramientas y agentes, con Java idiomático.</a:t>
            </a:r>
            <a:endParaRPr sz="2300" b="0" i="0" u="none" strike="noStrike" cap="none">
              <a:solidFill>
                <a:schemeClr val="dk1"/>
              </a:solidFill>
              <a:latin typeface="Calibri"/>
              <a:ea typeface="Calibri"/>
              <a:cs typeface="Calibri"/>
              <a:sym typeface="Calibri"/>
            </a:endParaRPr>
          </a:p>
        </p:txBody>
      </p:sp>
      <p:sp>
        <p:nvSpPr>
          <p:cNvPr id="165" name="Google Shape;165;p8"/>
          <p:cNvSpPr/>
          <p:nvPr/>
        </p:nvSpPr>
        <p:spPr>
          <a:xfrm>
            <a:off x="990600" y="6320790"/>
            <a:ext cx="16306800" cy="1211700"/>
          </a:xfrm>
          <a:prstGeom prst="roundRect">
            <a:avLst>
              <a:gd name="adj" fmla="val 11006"/>
            </a:avLst>
          </a:prstGeom>
          <a:solidFill>
            <a:srgbClr val="FBF8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8"/>
          <p:cNvSpPr/>
          <p:nvPr/>
        </p:nvSpPr>
        <p:spPr>
          <a:xfrm>
            <a:off x="1303020" y="6757035"/>
            <a:ext cx="457200" cy="377100"/>
          </a:xfrm>
          <a:prstGeom prst="rect">
            <a:avLst/>
          </a:prstGeom>
          <a:noFill/>
          <a:ln>
            <a:noFill/>
          </a:ln>
        </p:spPr>
        <p:txBody>
          <a:bodyPr spcFirstLastPara="1" wrap="square" lIns="25400" tIns="25400" rIns="25400" bIns="25400" anchor="t" anchorCtr="0">
            <a:noAutofit/>
          </a:bodyPr>
          <a:lstStyle/>
          <a:p>
            <a:pPr marL="0" marR="0" lvl="0" indent="0" algn="l" rtl="0">
              <a:lnSpc>
                <a:spcPct val="100000"/>
              </a:lnSpc>
              <a:spcBef>
                <a:spcPts val="0"/>
              </a:spcBef>
              <a:spcAft>
                <a:spcPts val="0"/>
              </a:spcAft>
              <a:buClr>
                <a:srgbClr val="BF5A3C"/>
              </a:buClr>
              <a:buSzPts val="1800"/>
              <a:buFont typeface="Space Mono"/>
              <a:buNone/>
            </a:pPr>
            <a:r>
              <a:rPr lang="en-US" sz="1800">
                <a:solidFill>
                  <a:srgbClr val="BF5A3C"/>
                </a:solidFill>
                <a:latin typeface="Space Mono"/>
                <a:ea typeface="Space Mono"/>
                <a:cs typeface="Space Mono"/>
                <a:sym typeface="Space Mono"/>
              </a:rPr>
              <a:t>04</a:t>
            </a:r>
            <a:endParaRPr sz="1800">
              <a:solidFill>
                <a:srgbClr val="BF5A3C"/>
              </a:solidFill>
              <a:latin typeface="Space Mono"/>
              <a:ea typeface="Space Mono"/>
              <a:cs typeface="Space Mono"/>
              <a:sym typeface="Space Mono"/>
            </a:endParaRPr>
          </a:p>
        </p:txBody>
      </p:sp>
      <p:sp>
        <p:nvSpPr>
          <p:cNvPr id="167" name="Google Shape;167;p8"/>
          <p:cNvSpPr/>
          <p:nvPr/>
        </p:nvSpPr>
        <p:spPr>
          <a:xfrm>
            <a:off x="1912620" y="6576060"/>
            <a:ext cx="3139500" cy="739200"/>
          </a:xfrm>
          <a:prstGeom prst="rect">
            <a:avLst/>
          </a:prstGeom>
          <a:noFill/>
          <a:ln>
            <a:noFill/>
          </a:ln>
        </p:spPr>
        <p:txBody>
          <a:bodyPr spcFirstLastPara="1" wrap="square" lIns="25400" tIns="25400" rIns="25400" bIns="25400" anchor="ctr" anchorCtr="0">
            <a:noAutofit/>
          </a:bodyPr>
          <a:lstStyle/>
          <a:p>
            <a:pPr marL="0" marR="0" lvl="0" indent="0" algn="l" rtl="0">
              <a:spcBef>
                <a:spcPts val="0"/>
              </a:spcBef>
              <a:spcAft>
                <a:spcPts val="0"/>
              </a:spcAft>
              <a:buClr>
                <a:srgbClr val="F4EEE4"/>
              </a:buClr>
              <a:buSzPts val="2400"/>
              <a:buFont typeface="Arial"/>
              <a:buNone/>
            </a:pPr>
            <a:r>
              <a:rPr lang="en-US" sz="2400" b="1" i="0" u="none" strike="noStrike" cap="none">
                <a:solidFill>
                  <a:schemeClr val="dk1"/>
                </a:solidFill>
                <a:latin typeface="Arial"/>
                <a:ea typeface="Arial"/>
                <a:cs typeface="Arial"/>
                <a:sym typeface="Arial"/>
              </a:rPr>
              <a:t>Quarkus LC4j y Spring AI</a:t>
            </a:r>
            <a:endParaRPr sz="2400" b="0" i="0" u="none" strike="noStrike" cap="none">
              <a:solidFill>
                <a:schemeClr val="dk1"/>
              </a:solidFill>
              <a:latin typeface="Calibri"/>
              <a:ea typeface="Calibri"/>
              <a:cs typeface="Calibri"/>
              <a:sym typeface="Calibri"/>
            </a:endParaRPr>
          </a:p>
        </p:txBody>
      </p:sp>
      <p:sp>
        <p:nvSpPr>
          <p:cNvPr id="168" name="Google Shape;168;p8"/>
          <p:cNvSpPr/>
          <p:nvPr/>
        </p:nvSpPr>
        <p:spPr>
          <a:xfrm>
            <a:off x="5189220" y="6791325"/>
            <a:ext cx="12975300" cy="308700"/>
          </a:xfrm>
          <a:prstGeom prst="rect">
            <a:avLst/>
          </a:prstGeom>
          <a:noFill/>
          <a:ln>
            <a:noFill/>
          </a:ln>
        </p:spPr>
        <p:txBody>
          <a:bodyPr spcFirstLastPara="1" wrap="square" lIns="25400" tIns="25400" rIns="25400" bIns="25400" anchor="ctr" anchorCtr="0">
            <a:noAutofit/>
          </a:bodyPr>
          <a:lstStyle/>
          <a:p>
            <a:pPr marL="0" marR="0" lvl="0" indent="0" algn="l" rtl="0">
              <a:spcBef>
                <a:spcPts val="0"/>
              </a:spcBef>
              <a:spcAft>
                <a:spcPts val="0"/>
              </a:spcAft>
              <a:buClr>
                <a:srgbClr val="D8CDBD"/>
              </a:buClr>
              <a:buSzPts val="1875"/>
              <a:buFont typeface="Arial"/>
              <a:buNone/>
            </a:pPr>
            <a:r>
              <a:rPr lang="en-US" sz="2300" b="0" i="0" u="none" strike="noStrike" cap="none">
                <a:solidFill>
                  <a:srgbClr val="5E564B"/>
                </a:solidFill>
                <a:latin typeface="Arial"/>
                <a:ea typeface="Arial"/>
                <a:cs typeface="Arial"/>
                <a:sym typeface="Arial"/>
              </a:rPr>
              <a:t>Integración de primer nivel con el framework: configuración, DI y observabilidad incluidas.</a:t>
            </a:r>
            <a:endParaRPr sz="2300" b="0" i="0" u="none" strike="noStrike" cap="none">
              <a:solidFill>
                <a:srgbClr val="5E564B"/>
              </a:solidFill>
              <a:latin typeface="Calibri"/>
              <a:ea typeface="Calibri"/>
              <a:cs typeface="Calibri"/>
              <a:sym typeface="Calibri"/>
            </a:endParaRPr>
          </a:p>
        </p:txBody>
      </p:sp>
      <p:sp>
        <p:nvSpPr>
          <p:cNvPr id="169" name="Google Shape;169;p8"/>
          <p:cNvSpPr/>
          <p:nvPr/>
        </p:nvSpPr>
        <p:spPr>
          <a:xfrm>
            <a:off x="990600" y="7722865"/>
            <a:ext cx="16306800" cy="1211700"/>
          </a:xfrm>
          <a:prstGeom prst="roundRect">
            <a:avLst>
              <a:gd name="adj" fmla="val 11006"/>
            </a:avLst>
          </a:prstGeom>
          <a:solidFill>
            <a:srgbClr val="FBF8F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70" name="Google Shape;170;p8"/>
          <p:cNvSpPr/>
          <p:nvPr/>
        </p:nvSpPr>
        <p:spPr>
          <a:xfrm>
            <a:off x="1303020" y="8159110"/>
            <a:ext cx="457200" cy="377100"/>
          </a:xfrm>
          <a:prstGeom prst="rect">
            <a:avLst/>
          </a:prstGeom>
          <a:noFill/>
          <a:ln>
            <a:noFill/>
          </a:ln>
        </p:spPr>
        <p:txBody>
          <a:bodyPr spcFirstLastPara="1" wrap="square" lIns="25400" tIns="25400" rIns="25400" bIns="25400" anchor="t" anchorCtr="0">
            <a:noAutofit/>
          </a:bodyPr>
          <a:lstStyle/>
          <a:p>
            <a:pPr marL="0" marR="0" lvl="0" indent="0" algn="l" rtl="0">
              <a:lnSpc>
                <a:spcPct val="100000"/>
              </a:lnSpc>
              <a:spcBef>
                <a:spcPts val="0"/>
              </a:spcBef>
              <a:spcAft>
                <a:spcPts val="0"/>
              </a:spcAft>
              <a:buClr>
                <a:srgbClr val="BF5A3C"/>
              </a:buClr>
              <a:buSzPts val="1800"/>
              <a:buFont typeface="Space Mono"/>
              <a:buNone/>
            </a:pPr>
            <a:r>
              <a:rPr lang="en-US" sz="1800">
                <a:solidFill>
                  <a:srgbClr val="BF5A3C"/>
                </a:solidFill>
                <a:latin typeface="Space Mono"/>
                <a:ea typeface="Space Mono"/>
                <a:cs typeface="Space Mono"/>
                <a:sym typeface="Space Mono"/>
              </a:rPr>
              <a:t>05</a:t>
            </a:r>
            <a:endParaRPr sz="1800" b="0" i="0" u="none" strike="noStrike" cap="none">
              <a:solidFill>
                <a:schemeClr val="dk1"/>
              </a:solidFill>
              <a:latin typeface="Calibri"/>
              <a:ea typeface="Calibri"/>
              <a:cs typeface="Calibri"/>
              <a:sym typeface="Calibri"/>
            </a:endParaRPr>
          </a:p>
        </p:txBody>
      </p:sp>
      <p:sp>
        <p:nvSpPr>
          <p:cNvPr id="171" name="Google Shape;171;p8"/>
          <p:cNvSpPr/>
          <p:nvPr/>
        </p:nvSpPr>
        <p:spPr>
          <a:xfrm>
            <a:off x="1912620" y="7978135"/>
            <a:ext cx="3139500" cy="739200"/>
          </a:xfrm>
          <a:prstGeom prst="rect">
            <a:avLst/>
          </a:prstGeom>
          <a:noFill/>
          <a:ln>
            <a:noFill/>
          </a:ln>
        </p:spPr>
        <p:txBody>
          <a:bodyPr spcFirstLastPara="1" wrap="square" lIns="25400" tIns="25400" rIns="25400" bIns="25400" anchor="ctr" anchorCtr="0">
            <a:noAutofit/>
          </a:bodyPr>
          <a:lstStyle/>
          <a:p>
            <a:pPr marL="0" marR="0" lvl="0" indent="0" algn="l" rtl="0">
              <a:spcBef>
                <a:spcPts val="0"/>
              </a:spcBef>
              <a:spcAft>
                <a:spcPts val="0"/>
              </a:spcAft>
              <a:buClr>
                <a:srgbClr val="F4EEE4"/>
              </a:buClr>
              <a:buSzPts val="2400"/>
              <a:buFont typeface="Arial"/>
              <a:buNone/>
            </a:pPr>
            <a:r>
              <a:rPr lang="en-US" sz="2400" b="1">
                <a:solidFill>
                  <a:schemeClr val="dk1"/>
                </a:solidFill>
              </a:rPr>
              <a:t>Embabel</a:t>
            </a:r>
            <a:endParaRPr sz="2400" b="0" i="0" u="none" strike="noStrike" cap="none">
              <a:solidFill>
                <a:schemeClr val="dk1"/>
              </a:solidFill>
              <a:latin typeface="Calibri"/>
              <a:ea typeface="Calibri"/>
              <a:cs typeface="Calibri"/>
              <a:sym typeface="Calibri"/>
            </a:endParaRPr>
          </a:p>
        </p:txBody>
      </p:sp>
      <p:sp>
        <p:nvSpPr>
          <p:cNvPr id="172" name="Google Shape;172;p8"/>
          <p:cNvSpPr/>
          <p:nvPr/>
        </p:nvSpPr>
        <p:spPr>
          <a:xfrm>
            <a:off x="5189220" y="8193400"/>
            <a:ext cx="12975300" cy="308700"/>
          </a:xfrm>
          <a:prstGeom prst="rect">
            <a:avLst/>
          </a:prstGeom>
          <a:noFill/>
          <a:ln>
            <a:noFill/>
          </a:ln>
        </p:spPr>
        <p:txBody>
          <a:bodyPr spcFirstLastPara="1" wrap="square" lIns="25400" tIns="25400" rIns="25400" bIns="25400" anchor="ctr" anchorCtr="0">
            <a:noAutofit/>
          </a:bodyPr>
          <a:lstStyle/>
          <a:p>
            <a:pPr marL="0" marR="0" lvl="0" indent="0" algn="l" rtl="0">
              <a:spcBef>
                <a:spcPts val="0"/>
              </a:spcBef>
              <a:spcAft>
                <a:spcPts val="0"/>
              </a:spcAft>
              <a:buClr>
                <a:srgbClr val="D8CDBD"/>
              </a:buClr>
              <a:buSzPts val="1875"/>
              <a:buFont typeface="Arial"/>
              <a:buNone/>
            </a:pPr>
            <a:r>
              <a:rPr lang="en-US" sz="2300">
                <a:solidFill>
                  <a:srgbClr val="5E564B"/>
                </a:solidFill>
              </a:rPr>
              <a:t>Framework de agentes de código abierto basado en planificación de acciones orientada a objetivos (GOAP)</a:t>
            </a:r>
            <a:endParaRPr sz="2300" b="0" i="0" u="none" strike="noStrike" cap="none">
              <a:solidFill>
                <a:srgbClr val="5E564B"/>
              </a:solidFill>
              <a:latin typeface="Calibri"/>
              <a:ea typeface="Calibri"/>
              <a:cs typeface="Calibri"/>
              <a:sym typeface="Calibri"/>
            </a:endParaRPr>
          </a:p>
        </p:txBody>
      </p:sp>
      <p:sp>
        <p:nvSpPr>
          <p:cNvPr id="173" name="Google Shape;173;p8"/>
          <p:cNvSpPr txBox="1"/>
          <p:nvPr/>
        </p:nvSpPr>
        <p:spPr>
          <a:xfrm>
            <a:off x="543774" y="9221498"/>
            <a:ext cx="2950500" cy="388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600"/>
              <a:t>¹</a:t>
            </a:r>
            <a:endParaRPr sz="1600"/>
          </a:p>
        </p:txBody>
      </p:sp>
      <p:pic>
        <p:nvPicPr>
          <p:cNvPr id="174" name="Google Shape;174;p8" title="beyond-basics-free.png"/>
          <p:cNvPicPr preferRelativeResize="0"/>
          <p:nvPr/>
        </p:nvPicPr>
        <p:blipFill>
          <a:blip r:embed="rId3">
            <a:alphaModFix/>
          </a:blip>
          <a:stretch>
            <a:fillRect/>
          </a:stretch>
        </p:blipFill>
        <p:spPr>
          <a:xfrm>
            <a:off x="721374" y="9312674"/>
            <a:ext cx="860999" cy="8609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EEE4"/>
        </a:solidFill>
        <a:effectLst/>
      </p:bgPr>
    </p:bg>
    <p:spTree>
      <p:nvGrpSpPr>
        <p:cNvPr id="1" name="Shape 179"/>
        <p:cNvGrpSpPr/>
        <p:nvPr/>
      </p:nvGrpSpPr>
      <p:grpSpPr>
        <a:xfrm>
          <a:off x="0" y="0"/>
          <a:ext cx="0" cy="0"/>
          <a:chOff x="0" y="0"/>
          <a:chExt cx="0" cy="0"/>
        </a:xfrm>
      </p:grpSpPr>
      <p:grpSp>
        <p:nvGrpSpPr>
          <p:cNvPr id="180" name="Google Shape;180;p9"/>
          <p:cNvGrpSpPr/>
          <p:nvPr/>
        </p:nvGrpSpPr>
        <p:grpSpPr>
          <a:xfrm>
            <a:off x="2030498" y="191672"/>
            <a:ext cx="14226995" cy="9687262"/>
            <a:chOff x="1057275" y="138100"/>
            <a:chExt cx="7064400" cy="4810200"/>
          </a:xfrm>
        </p:grpSpPr>
        <p:sp>
          <p:nvSpPr>
            <p:cNvPr id="181" name="Google Shape;181;p9"/>
            <p:cNvSpPr/>
            <p:nvPr/>
          </p:nvSpPr>
          <p:spPr>
            <a:xfrm>
              <a:off x="1057275" y="138100"/>
              <a:ext cx="7064400" cy="4810200"/>
            </a:xfrm>
            <a:prstGeom prst="ellipse">
              <a:avLst/>
            </a:prstGeom>
            <a:solidFill>
              <a:srgbClr val="EFEFEF"/>
            </a:solidFill>
            <a:ln w="19175" cap="flat" cmpd="sng">
              <a:solidFill>
                <a:srgbClr val="595959"/>
              </a:solidFill>
              <a:prstDash val="solid"/>
              <a:round/>
              <a:headEnd type="none" w="sm" len="sm"/>
              <a:tailEnd type="none" w="sm" len="sm"/>
            </a:ln>
            <a:effectLst>
              <a:outerShdw blurRad="115096" dist="230192" dir="5400000" algn="bl" rotWithShape="0">
                <a:srgbClr val="000000">
                  <a:alpha val="50000"/>
                </a:srgbClr>
              </a:outerShdw>
            </a:effectLst>
          </p:spPr>
          <p:txBody>
            <a:bodyPr spcFirstLastPara="1" wrap="square" lIns="184125" tIns="184125" rIns="184125" bIns="184125" anchor="ctr" anchorCtr="0">
              <a:noAutofit/>
            </a:bodyPr>
            <a:lstStyle/>
            <a:p>
              <a:pPr marL="0" lvl="0" indent="0" algn="l" rtl="0">
                <a:spcBef>
                  <a:spcPts val="0"/>
                </a:spcBef>
                <a:spcAft>
                  <a:spcPts val="0"/>
                </a:spcAft>
                <a:buNone/>
              </a:pPr>
              <a:endParaRPr/>
            </a:p>
          </p:txBody>
        </p:sp>
        <p:sp>
          <p:nvSpPr>
            <p:cNvPr id="182" name="Google Shape;182;p9"/>
            <p:cNvSpPr/>
            <p:nvPr/>
          </p:nvSpPr>
          <p:spPr>
            <a:xfrm>
              <a:off x="1057275" y="717550"/>
              <a:ext cx="4810200" cy="3564000"/>
            </a:xfrm>
            <a:prstGeom prst="ellipse">
              <a:avLst/>
            </a:prstGeom>
            <a:solidFill>
              <a:srgbClr val="CFE2F3"/>
            </a:solidFill>
            <a:ln w="19175" cap="flat" cmpd="sng">
              <a:solidFill>
                <a:srgbClr val="595959"/>
              </a:solidFill>
              <a:prstDash val="solid"/>
              <a:round/>
              <a:headEnd type="none" w="sm" len="sm"/>
              <a:tailEnd type="none" w="sm" len="sm"/>
            </a:ln>
          </p:spPr>
          <p:txBody>
            <a:bodyPr spcFirstLastPara="1" wrap="square" lIns="184125" tIns="184125" rIns="184125" bIns="184125" anchor="ctr" anchorCtr="0">
              <a:noAutofit/>
            </a:bodyPr>
            <a:lstStyle/>
            <a:p>
              <a:pPr marL="0" lvl="0" indent="0" algn="l" rtl="0">
                <a:spcBef>
                  <a:spcPts val="0"/>
                </a:spcBef>
                <a:spcAft>
                  <a:spcPts val="0"/>
                </a:spcAft>
                <a:buNone/>
              </a:pPr>
              <a:endParaRPr sz="2819"/>
            </a:p>
          </p:txBody>
        </p:sp>
        <p:sp>
          <p:nvSpPr>
            <p:cNvPr id="183" name="Google Shape;183;p9"/>
            <p:cNvSpPr/>
            <p:nvPr/>
          </p:nvSpPr>
          <p:spPr>
            <a:xfrm>
              <a:off x="1057275" y="1288300"/>
              <a:ext cx="3284400" cy="2422500"/>
            </a:xfrm>
            <a:prstGeom prst="ellipse">
              <a:avLst/>
            </a:prstGeom>
            <a:solidFill>
              <a:srgbClr val="FCE5CD"/>
            </a:solidFill>
            <a:ln w="19175" cap="flat" cmpd="sng">
              <a:solidFill>
                <a:srgbClr val="595959"/>
              </a:solidFill>
              <a:prstDash val="solid"/>
              <a:round/>
              <a:headEnd type="none" w="sm" len="sm"/>
              <a:tailEnd type="none" w="sm" len="sm"/>
            </a:ln>
          </p:spPr>
          <p:txBody>
            <a:bodyPr spcFirstLastPara="1" wrap="square" lIns="184125" tIns="184125" rIns="184125" bIns="184125" anchor="ctr" anchorCtr="0">
              <a:noAutofit/>
            </a:bodyPr>
            <a:lstStyle/>
            <a:p>
              <a:pPr marL="0" lvl="0" indent="0" algn="l" rtl="0">
                <a:spcBef>
                  <a:spcPts val="0"/>
                </a:spcBef>
                <a:spcAft>
                  <a:spcPts val="0"/>
                </a:spcAft>
                <a:buNone/>
              </a:pPr>
              <a:endParaRPr sz="2819"/>
            </a:p>
          </p:txBody>
        </p:sp>
        <p:sp>
          <p:nvSpPr>
            <p:cNvPr id="184" name="Google Shape;184;p9"/>
            <p:cNvSpPr/>
            <p:nvPr/>
          </p:nvSpPr>
          <p:spPr>
            <a:xfrm>
              <a:off x="1057275" y="1808550"/>
              <a:ext cx="1620900" cy="1311900"/>
            </a:xfrm>
            <a:prstGeom prst="ellipse">
              <a:avLst/>
            </a:prstGeom>
            <a:solidFill>
              <a:srgbClr val="D9EAD3"/>
            </a:solidFill>
            <a:ln w="76725" cap="flat" cmpd="sng">
              <a:solidFill>
                <a:srgbClr val="595959"/>
              </a:solidFill>
              <a:prstDash val="solid"/>
              <a:round/>
              <a:headEnd type="none" w="sm" len="sm"/>
              <a:tailEnd type="none" w="sm" len="sm"/>
            </a:ln>
          </p:spPr>
          <p:txBody>
            <a:bodyPr spcFirstLastPara="1" wrap="square" lIns="184125" tIns="184125" rIns="184125" bIns="184125" anchor="ctr" anchorCtr="0">
              <a:noAutofit/>
            </a:bodyPr>
            <a:lstStyle/>
            <a:p>
              <a:pPr marL="0" lvl="0" indent="0" algn="l" rtl="0">
                <a:spcBef>
                  <a:spcPts val="0"/>
                </a:spcBef>
                <a:spcAft>
                  <a:spcPts val="0"/>
                </a:spcAft>
                <a:buNone/>
              </a:pPr>
              <a:endParaRPr sz="2819"/>
            </a:p>
          </p:txBody>
        </p:sp>
        <p:sp>
          <p:nvSpPr>
            <p:cNvPr id="185" name="Google Shape;185;p9"/>
            <p:cNvSpPr/>
            <p:nvPr/>
          </p:nvSpPr>
          <p:spPr>
            <a:xfrm>
              <a:off x="5327625" y="384250"/>
              <a:ext cx="2627400" cy="333300"/>
            </a:xfrm>
            <a:prstGeom prst="roundRect">
              <a:avLst>
                <a:gd name="adj" fmla="val 16667"/>
              </a:avLst>
            </a:prstGeom>
            <a:solidFill>
              <a:srgbClr val="FFFFFF"/>
            </a:solidFill>
            <a:ln w="38375" cap="flat" cmpd="sng">
              <a:solidFill>
                <a:srgbClr val="595959"/>
              </a:solidFill>
              <a:prstDash val="solid"/>
              <a:round/>
              <a:headEnd type="none" w="sm" len="sm"/>
              <a:tailEnd type="none" w="sm" len="sm"/>
            </a:ln>
            <a:effectLst>
              <a:outerShdw blurRad="115096" dist="153461" dir="5400000" algn="bl" rotWithShape="0">
                <a:srgbClr val="000000">
                  <a:alpha val="50000"/>
                </a:srgbClr>
              </a:outerShdw>
            </a:effectLst>
          </p:spPr>
          <p:txBody>
            <a:bodyPr spcFirstLastPara="1" wrap="square" lIns="184125" tIns="184125" rIns="184125" bIns="184125" anchor="ctr" anchorCtr="0">
              <a:noAutofit/>
            </a:bodyPr>
            <a:lstStyle/>
            <a:p>
              <a:pPr marL="0" lvl="0" indent="0" algn="ctr" rtl="0">
                <a:spcBef>
                  <a:spcPts val="0"/>
                </a:spcBef>
                <a:spcAft>
                  <a:spcPts val="0"/>
                </a:spcAft>
                <a:buNone/>
              </a:pPr>
              <a:r>
                <a:rPr lang="en-US" sz="2819">
                  <a:solidFill>
                    <a:srgbClr val="000000"/>
                  </a:solidFill>
                  <a:latin typeface="Special Elite"/>
                  <a:ea typeface="Special Elite"/>
                  <a:cs typeface="Special Elite"/>
                  <a:sym typeface="Special Elite"/>
                </a:rPr>
                <a:t>Inteligencia artificial</a:t>
              </a:r>
              <a:endParaRPr sz="2819">
                <a:solidFill>
                  <a:srgbClr val="000000"/>
                </a:solidFill>
                <a:latin typeface="Special Elite"/>
                <a:ea typeface="Special Elite"/>
                <a:cs typeface="Special Elite"/>
                <a:sym typeface="Special Elite"/>
              </a:endParaRPr>
            </a:p>
          </p:txBody>
        </p:sp>
        <p:sp>
          <p:nvSpPr>
            <p:cNvPr id="186" name="Google Shape;186;p9"/>
            <p:cNvSpPr/>
            <p:nvPr/>
          </p:nvSpPr>
          <p:spPr>
            <a:xfrm>
              <a:off x="3178150" y="782700"/>
              <a:ext cx="2014500" cy="333300"/>
            </a:xfrm>
            <a:prstGeom prst="roundRect">
              <a:avLst>
                <a:gd name="adj" fmla="val 16667"/>
              </a:avLst>
            </a:prstGeom>
            <a:solidFill>
              <a:srgbClr val="FFFFFF"/>
            </a:solidFill>
            <a:ln w="38375" cap="flat" cmpd="sng">
              <a:solidFill>
                <a:srgbClr val="595959"/>
              </a:solidFill>
              <a:prstDash val="solid"/>
              <a:round/>
              <a:headEnd type="none" w="sm" len="sm"/>
              <a:tailEnd type="none" w="sm" len="sm"/>
            </a:ln>
            <a:effectLst>
              <a:outerShdw blurRad="115096" dist="153461" dir="5400000" algn="bl" rotWithShape="0">
                <a:srgbClr val="000000">
                  <a:alpha val="50000"/>
                </a:srgbClr>
              </a:outerShdw>
            </a:effectLst>
          </p:spPr>
          <p:txBody>
            <a:bodyPr spcFirstLastPara="1" wrap="square" lIns="184125" tIns="184125" rIns="184125" bIns="184125" anchor="ctr" anchorCtr="0">
              <a:noAutofit/>
            </a:bodyPr>
            <a:lstStyle/>
            <a:p>
              <a:pPr marL="0" lvl="0" indent="0" algn="ctr" rtl="0">
                <a:spcBef>
                  <a:spcPts val="0"/>
                </a:spcBef>
                <a:spcAft>
                  <a:spcPts val="0"/>
                </a:spcAft>
                <a:buNone/>
              </a:pPr>
              <a:r>
                <a:rPr lang="en-US" sz="2819">
                  <a:solidFill>
                    <a:srgbClr val="000000"/>
                  </a:solidFill>
                  <a:latin typeface="Special Elite"/>
                  <a:ea typeface="Special Elite"/>
                  <a:cs typeface="Special Elite"/>
                  <a:sym typeface="Special Elite"/>
                </a:rPr>
                <a:t>Machine learning</a:t>
              </a:r>
              <a:endParaRPr sz="2819">
                <a:solidFill>
                  <a:srgbClr val="000000"/>
                </a:solidFill>
                <a:latin typeface="Special Elite"/>
                <a:ea typeface="Special Elite"/>
                <a:cs typeface="Special Elite"/>
                <a:sym typeface="Special Elite"/>
              </a:endParaRPr>
            </a:p>
          </p:txBody>
        </p:sp>
        <p:sp>
          <p:nvSpPr>
            <p:cNvPr id="187" name="Google Shape;187;p9"/>
            <p:cNvSpPr/>
            <p:nvPr/>
          </p:nvSpPr>
          <p:spPr>
            <a:xfrm>
              <a:off x="1897725" y="1403050"/>
              <a:ext cx="1603500" cy="333300"/>
            </a:xfrm>
            <a:prstGeom prst="roundRect">
              <a:avLst>
                <a:gd name="adj" fmla="val 16667"/>
              </a:avLst>
            </a:prstGeom>
            <a:solidFill>
              <a:srgbClr val="FFFFFF"/>
            </a:solidFill>
            <a:ln w="38375" cap="flat" cmpd="sng">
              <a:solidFill>
                <a:srgbClr val="595959"/>
              </a:solidFill>
              <a:prstDash val="solid"/>
              <a:round/>
              <a:headEnd type="none" w="sm" len="sm"/>
              <a:tailEnd type="none" w="sm" len="sm"/>
            </a:ln>
            <a:effectLst>
              <a:outerShdw blurRad="115096" dist="153461" dir="5400000" algn="bl" rotWithShape="0">
                <a:srgbClr val="000000">
                  <a:alpha val="50000"/>
                </a:srgbClr>
              </a:outerShdw>
            </a:effectLst>
          </p:spPr>
          <p:txBody>
            <a:bodyPr spcFirstLastPara="1" wrap="square" lIns="184125" tIns="184125" rIns="184125" bIns="184125" anchor="ctr" anchorCtr="0">
              <a:noAutofit/>
            </a:bodyPr>
            <a:lstStyle/>
            <a:p>
              <a:pPr marL="0" lvl="0" indent="0" algn="ctr" rtl="0">
                <a:spcBef>
                  <a:spcPts val="0"/>
                </a:spcBef>
                <a:spcAft>
                  <a:spcPts val="0"/>
                </a:spcAft>
                <a:buNone/>
              </a:pPr>
              <a:r>
                <a:rPr lang="en-US" sz="2819">
                  <a:solidFill>
                    <a:srgbClr val="000000"/>
                  </a:solidFill>
                  <a:latin typeface="Special Elite"/>
                  <a:ea typeface="Special Elite"/>
                  <a:cs typeface="Special Elite"/>
                  <a:sym typeface="Special Elite"/>
                </a:rPr>
                <a:t>Deep learning</a:t>
              </a:r>
              <a:endParaRPr sz="2819">
                <a:solidFill>
                  <a:srgbClr val="000000"/>
                </a:solidFill>
                <a:latin typeface="Special Elite"/>
                <a:ea typeface="Special Elite"/>
                <a:cs typeface="Special Elite"/>
                <a:sym typeface="Special Elite"/>
              </a:endParaRPr>
            </a:p>
          </p:txBody>
        </p:sp>
        <p:sp>
          <p:nvSpPr>
            <p:cNvPr id="188" name="Google Shape;188;p9"/>
            <p:cNvSpPr/>
            <p:nvPr/>
          </p:nvSpPr>
          <p:spPr>
            <a:xfrm>
              <a:off x="1152450" y="2246250"/>
              <a:ext cx="1349400" cy="436500"/>
            </a:xfrm>
            <a:prstGeom prst="roundRect">
              <a:avLst>
                <a:gd name="adj" fmla="val 16667"/>
              </a:avLst>
            </a:prstGeom>
            <a:solidFill>
              <a:srgbClr val="FFFFFF"/>
            </a:solidFill>
            <a:ln w="38375" cap="flat" cmpd="sng">
              <a:solidFill>
                <a:srgbClr val="595959"/>
              </a:solidFill>
              <a:prstDash val="solid"/>
              <a:round/>
              <a:headEnd type="none" w="sm" len="sm"/>
              <a:tailEnd type="none" w="sm" len="sm"/>
            </a:ln>
            <a:effectLst>
              <a:outerShdw blurRad="115096" dist="153461" dir="5400000" algn="bl" rotWithShape="0">
                <a:srgbClr val="000000">
                  <a:alpha val="50000"/>
                </a:srgbClr>
              </a:outerShdw>
            </a:effectLst>
          </p:spPr>
          <p:txBody>
            <a:bodyPr spcFirstLastPara="1" wrap="square" lIns="184125" tIns="184125" rIns="184125" bIns="184125" anchor="ctr" anchorCtr="0">
              <a:noAutofit/>
            </a:bodyPr>
            <a:lstStyle/>
            <a:p>
              <a:pPr marL="0" lvl="0" indent="0" algn="ctr" rtl="0">
                <a:spcBef>
                  <a:spcPts val="0"/>
                </a:spcBef>
                <a:spcAft>
                  <a:spcPts val="0"/>
                </a:spcAft>
                <a:buNone/>
              </a:pPr>
              <a:r>
                <a:rPr lang="en-US" sz="2819" b="1">
                  <a:solidFill>
                    <a:srgbClr val="000000"/>
                  </a:solidFill>
                  <a:latin typeface="Special Elite"/>
                  <a:ea typeface="Special Elite"/>
                  <a:cs typeface="Special Elite"/>
                  <a:sym typeface="Special Elite"/>
                </a:rPr>
                <a:t>Generativa</a:t>
              </a:r>
              <a:endParaRPr sz="2819" b="1">
                <a:solidFill>
                  <a:srgbClr val="000000"/>
                </a:solidFill>
                <a:latin typeface="Special Elite"/>
                <a:ea typeface="Special Elite"/>
                <a:cs typeface="Special Elite"/>
                <a:sym typeface="Special Elite"/>
              </a:endParaRPr>
            </a:p>
          </p:txBody>
        </p:sp>
        <p:sp>
          <p:nvSpPr>
            <p:cNvPr id="189" name="Google Shape;189;p9"/>
            <p:cNvSpPr txBox="1"/>
            <p:nvPr/>
          </p:nvSpPr>
          <p:spPr>
            <a:xfrm>
              <a:off x="4843475" y="3881350"/>
              <a:ext cx="2238300" cy="400200"/>
            </a:xfrm>
            <a:prstGeom prst="rect">
              <a:avLst/>
            </a:prstGeom>
            <a:noFill/>
            <a:ln>
              <a:noFill/>
            </a:ln>
          </p:spPr>
          <p:txBody>
            <a:bodyPr spcFirstLastPara="1" wrap="square" lIns="184125" tIns="184125" rIns="184125" bIns="184125" anchor="t" anchorCtr="0">
              <a:spAutoFit/>
            </a:bodyPr>
            <a:lstStyle/>
            <a:p>
              <a:pPr marL="0" lvl="0" indent="0" algn="ctr" rtl="0">
                <a:spcBef>
                  <a:spcPts val="0"/>
                </a:spcBef>
                <a:spcAft>
                  <a:spcPts val="0"/>
                </a:spcAft>
                <a:buNone/>
              </a:pPr>
              <a:r>
                <a:rPr lang="en-US" sz="2819">
                  <a:latin typeface="Courier New"/>
                  <a:ea typeface="Courier New"/>
                  <a:cs typeface="Courier New"/>
                  <a:sym typeface="Courier New"/>
                </a:rPr>
                <a:t>Programación lineal</a:t>
              </a:r>
              <a:endParaRPr sz="2819">
                <a:latin typeface="Courier New"/>
                <a:ea typeface="Courier New"/>
                <a:cs typeface="Courier New"/>
                <a:sym typeface="Courier New"/>
              </a:endParaRPr>
            </a:p>
          </p:txBody>
        </p:sp>
        <p:sp>
          <p:nvSpPr>
            <p:cNvPr id="190" name="Google Shape;190;p9"/>
            <p:cNvSpPr txBox="1"/>
            <p:nvPr/>
          </p:nvSpPr>
          <p:spPr>
            <a:xfrm>
              <a:off x="5924625" y="2717800"/>
              <a:ext cx="1873200" cy="615600"/>
            </a:xfrm>
            <a:prstGeom prst="rect">
              <a:avLst/>
            </a:prstGeom>
            <a:noFill/>
            <a:ln>
              <a:noFill/>
            </a:ln>
          </p:spPr>
          <p:txBody>
            <a:bodyPr spcFirstLastPara="1" wrap="square" lIns="184125" tIns="184125" rIns="184125" bIns="184125" anchor="t" anchorCtr="0">
              <a:spAutoFit/>
            </a:bodyPr>
            <a:lstStyle/>
            <a:p>
              <a:pPr marL="0" lvl="0" indent="0" algn="ctr" rtl="0">
                <a:spcBef>
                  <a:spcPts val="0"/>
                </a:spcBef>
                <a:spcAft>
                  <a:spcPts val="0"/>
                </a:spcAft>
                <a:buNone/>
              </a:pPr>
              <a:r>
                <a:rPr lang="en-US" sz="2819">
                  <a:latin typeface="Courier New"/>
                  <a:ea typeface="Courier New"/>
                  <a:cs typeface="Courier New"/>
                  <a:sym typeface="Courier New"/>
                </a:rPr>
                <a:t>Filtrado </a:t>
              </a:r>
              <a:endParaRPr sz="2819">
                <a:latin typeface="Courier New"/>
                <a:ea typeface="Courier New"/>
                <a:cs typeface="Courier New"/>
                <a:sym typeface="Courier New"/>
              </a:endParaRPr>
            </a:p>
            <a:p>
              <a:pPr marL="0" lvl="0" indent="0" algn="ctr" rtl="0">
                <a:spcBef>
                  <a:spcPts val="0"/>
                </a:spcBef>
                <a:spcAft>
                  <a:spcPts val="0"/>
                </a:spcAft>
                <a:buNone/>
              </a:pPr>
              <a:r>
                <a:rPr lang="en-US" sz="2819">
                  <a:latin typeface="Courier New"/>
                  <a:ea typeface="Courier New"/>
                  <a:cs typeface="Courier New"/>
                  <a:sym typeface="Courier New"/>
                </a:rPr>
                <a:t>colaborativo</a:t>
              </a:r>
              <a:endParaRPr sz="2819">
                <a:latin typeface="Courier New"/>
                <a:ea typeface="Courier New"/>
                <a:cs typeface="Courier New"/>
                <a:sym typeface="Courier New"/>
              </a:endParaRPr>
            </a:p>
          </p:txBody>
        </p:sp>
        <p:sp>
          <p:nvSpPr>
            <p:cNvPr id="191" name="Google Shape;191;p9"/>
            <p:cNvSpPr txBox="1"/>
            <p:nvPr/>
          </p:nvSpPr>
          <p:spPr>
            <a:xfrm>
              <a:off x="6035750" y="2187000"/>
              <a:ext cx="1974900" cy="400200"/>
            </a:xfrm>
            <a:prstGeom prst="rect">
              <a:avLst/>
            </a:prstGeom>
            <a:noFill/>
            <a:ln>
              <a:noFill/>
            </a:ln>
          </p:spPr>
          <p:txBody>
            <a:bodyPr spcFirstLastPara="1" wrap="square" lIns="184125" tIns="184125" rIns="184125" bIns="184125" anchor="t" anchorCtr="0">
              <a:spAutoFit/>
            </a:bodyPr>
            <a:lstStyle/>
            <a:p>
              <a:pPr marL="0" lvl="0" indent="0" algn="ctr" rtl="0">
                <a:spcBef>
                  <a:spcPts val="0"/>
                </a:spcBef>
                <a:spcAft>
                  <a:spcPts val="0"/>
                </a:spcAft>
                <a:buNone/>
              </a:pPr>
              <a:r>
                <a:rPr lang="en-US" sz="2819">
                  <a:latin typeface="Courier New"/>
                  <a:ea typeface="Courier New"/>
                  <a:cs typeface="Courier New"/>
                  <a:sym typeface="Courier New"/>
                </a:rPr>
                <a:t>Grafos de conocimiento</a:t>
              </a:r>
              <a:endParaRPr sz="2819">
                <a:latin typeface="Courier New"/>
                <a:ea typeface="Courier New"/>
                <a:cs typeface="Courier New"/>
                <a:sym typeface="Courier New"/>
              </a:endParaRPr>
            </a:p>
          </p:txBody>
        </p:sp>
        <p:sp>
          <p:nvSpPr>
            <p:cNvPr id="192" name="Google Shape;192;p9"/>
            <p:cNvSpPr txBox="1"/>
            <p:nvPr/>
          </p:nvSpPr>
          <p:spPr>
            <a:xfrm>
              <a:off x="5924625" y="1509325"/>
              <a:ext cx="1974900" cy="400200"/>
            </a:xfrm>
            <a:prstGeom prst="rect">
              <a:avLst/>
            </a:prstGeom>
            <a:noFill/>
            <a:ln>
              <a:noFill/>
            </a:ln>
          </p:spPr>
          <p:txBody>
            <a:bodyPr spcFirstLastPara="1" wrap="square" lIns="184125" tIns="184125" rIns="184125" bIns="184125" anchor="t" anchorCtr="0">
              <a:spAutoFit/>
            </a:bodyPr>
            <a:lstStyle/>
            <a:p>
              <a:pPr marL="0" lvl="0" indent="0" algn="ctr" rtl="0">
                <a:spcBef>
                  <a:spcPts val="0"/>
                </a:spcBef>
                <a:spcAft>
                  <a:spcPts val="0"/>
                </a:spcAft>
                <a:buNone/>
              </a:pPr>
              <a:r>
                <a:rPr lang="en-US" sz="2819">
                  <a:latin typeface="Courier New"/>
                  <a:ea typeface="Courier New"/>
                  <a:cs typeface="Courier New"/>
                  <a:sym typeface="Courier New"/>
                </a:rPr>
                <a:t>Sistemas expertos</a:t>
              </a:r>
              <a:endParaRPr sz="2819">
                <a:latin typeface="Courier New"/>
                <a:ea typeface="Courier New"/>
                <a:cs typeface="Courier New"/>
                <a:sym typeface="Courier New"/>
              </a:endParaRPr>
            </a:p>
          </p:txBody>
        </p:sp>
        <p:sp>
          <p:nvSpPr>
            <p:cNvPr id="193" name="Google Shape;193;p9"/>
            <p:cNvSpPr txBox="1"/>
            <p:nvPr/>
          </p:nvSpPr>
          <p:spPr>
            <a:xfrm>
              <a:off x="2678175" y="3805225"/>
              <a:ext cx="1873200" cy="400200"/>
            </a:xfrm>
            <a:prstGeom prst="rect">
              <a:avLst/>
            </a:prstGeom>
            <a:noFill/>
            <a:ln>
              <a:noFill/>
            </a:ln>
          </p:spPr>
          <p:txBody>
            <a:bodyPr spcFirstLastPara="1" wrap="square" lIns="184125" tIns="184125" rIns="184125" bIns="184125" anchor="t" anchorCtr="0">
              <a:spAutoFit/>
            </a:bodyPr>
            <a:lstStyle/>
            <a:p>
              <a:pPr marL="0" lvl="0" indent="0" algn="ctr" rtl="0">
                <a:spcBef>
                  <a:spcPts val="0"/>
                </a:spcBef>
                <a:spcAft>
                  <a:spcPts val="0"/>
                </a:spcAft>
                <a:buNone/>
              </a:pPr>
              <a:r>
                <a:rPr lang="en-US" sz="2819" i="1"/>
                <a:t>Reconocimiento de patrones</a:t>
              </a:r>
              <a:endParaRPr sz="2819" i="1"/>
            </a:p>
          </p:txBody>
        </p:sp>
        <p:sp>
          <p:nvSpPr>
            <p:cNvPr id="194" name="Google Shape;194;p9"/>
            <p:cNvSpPr txBox="1"/>
            <p:nvPr/>
          </p:nvSpPr>
          <p:spPr>
            <a:xfrm>
              <a:off x="1824100" y="3262750"/>
              <a:ext cx="1873200" cy="400200"/>
            </a:xfrm>
            <a:prstGeom prst="rect">
              <a:avLst/>
            </a:prstGeom>
            <a:noFill/>
            <a:ln>
              <a:noFill/>
            </a:ln>
          </p:spPr>
          <p:txBody>
            <a:bodyPr spcFirstLastPara="1" wrap="square" lIns="184125" tIns="184125" rIns="184125" bIns="184125" anchor="t" anchorCtr="0">
              <a:spAutoFit/>
            </a:bodyPr>
            <a:lstStyle/>
            <a:p>
              <a:pPr marL="0" lvl="0" indent="0" algn="ctr" rtl="0">
                <a:spcBef>
                  <a:spcPts val="0"/>
                </a:spcBef>
                <a:spcAft>
                  <a:spcPts val="0"/>
                </a:spcAft>
                <a:buNone/>
              </a:pPr>
              <a:r>
                <a:rPr lang="en-US" sz="2819" i="1"/>
                <a:t>Redes neuronales</a:t>
              </a:r>
              <a:endParaRPr sz="2819" i="1"/>
            </a:p>
          </p:txBody>
        </p:sp>
        <p:sp>
          <p:nvSpPr>
            <p:cNvPr id="195" name="Google Shape;195;p9"/>
            <p:cNvSpPr/>
            <p:nvPr/>
          </p:nvSpPr>
          <p:spPr>
            <a:xfrm>
              <a:off x="2720775" y="1843600"/>
              <a:ext cx="1620900" cy="1311900"/>
            </a:xfrm>
            <a:prstGeom prst="ellipse">
              <a:avLst/>
            </a:prstGeom>
            <a:solidFill>
              <a:srgbClr val="D9EAD3"/>
            </a:solidFill>
            <a:ln w="76725" cap="flat" cmpd="sng">
              <a:solidFill>
                <a:srgbClr val="595959"/>
              </a:solidFill>
              <a:prstDash val="solid"/>
              <a:round/>
              <a:headEnd type="none" w="sm" len="sm"/>
              <a:tailEnd type="none" w="sm" len="sm"/>
            </a:ln>
          </p:spPr>
          <p:txBody>
            <a:bodyPr spcFirstLastPara="1" wrap="square" lIns="184125" tIns="184125" rIns="184125" bIns="184125" anchor="ctr" anchorCtr="0">
              <a:noAutofit/>
            </a:bodyPr>
            <a:lstStyle/>
            <a:p>
              <a:pPr marL="0" lvl="0" indent="0" algn="l" rtl="0">
                <a:spcBef>
                  <a:spcPts val="0"/>
                </a:spcBef>
                <a:spcAft>
                  <a:spcPts val="0"/>
                </a:spcAft>
                <a:buNone/>
              </a:pPr>
              <a:endParaRPr sz="2819"/>
            </a:p>
          </p:txBody>
        </p:sp>
        <p:sp>
          <p:nvSpPr>
            <p:cNvPr id="196" name="Google Shape;196;p9"/>
            <p:cNvSpPr/>
            <p:nvPr/>
          </p:nvSpPr>
          <p:spPr>
            <a:xfrm>
              <a:off x="2856525" y="2246250"/>
              <a:ext cx="1349400" cy="436500"/>
            </a:xfrm>
            <a:prstGeom prst="roundRect">
              <a:avLst>
                <a:gd name="adj" fmla="val 16667"/>
              </a:avLst>
            </a:prstGeom>
            <a:solidFill>
              <a:srgbClr val="FFFFFF"/>
            </a:solidFill>
            <a:ln w="38375" cap="flat" cmpd="sng">
              <a:solidFill>
                <a:srgbClr val="595959"/>
              </a:solidFill>
              <a:prstDash val="solid"/>
              <a:round/>
              <a:headEnd type="none" w="sm" len="sm"/>
              <a:tailEnd type="none" w="sm" len="sm"/>
            </a:ln>
            <a:effectLst>
              <a:outerShdw blurRad="115096" dist="153461" dir="5400000" algn="bl" rotWithShape="0">
                <a:srgbClr val="000000">
                  <a:alpha val="50000"/>
                </a:srgbClr>
              </a:outerShdw>
            </a:effectLst>
          </p:spPr>
          <p:txBody>
            <a:bodyPr spcFirstLastPara="1" wrap="square" lIns="184125" tIns="184125" rIns="184125" bIns="184125" anchor="ctr" anchorCtr="0">
              <a:noAutofit/>
            </a:bodyPr>
            <a:lstStyle/>
            <a:p>
              <a:pPr marL="0" lvl="0" indent="0" algn="ctr" rtl="0">
                <a:spcBef>
                  <a:spcPts val="0"/>
                </a:spcBef>
                <a:spcAft>
                  <a:spcPts val="0"/>
                </a:spcAft>
                <a:buNone/>
              </a:pPr>
              <a:r>
                <a:rPr lang="en-US" sz="2819" b="1">
                  <a:solidFill>
                    <a:srgbClr val="000000"/>
                  </a:solidFill>
                  <a:latin typeface="Special Elite"/>
                  <a:ea typeface="Special Elite"/>
                  <a:cs typeface="Special Elite"/>
                  <a:sym typeface="Special Elite"/>
                </a:rPr>
                <a:t>Predictiva</a:t>
              </a:r>
              <a:endParaRPr sz="2819" b="1">
                <a:solidFill>
                  <a:srgbClr val="000000"/>
                </a:solidFill>
                <a:latin typeface="Special Elite"/>
                <a:ea typeface="Special Elite"/>
                <a:cs typeface="Special Elite"/>
                <a:sym typeface="Special Elite"/>
              </a:endParaRPr>
            </a:p>
          </p:txBody>
        </p:sp>
        <p:sp>
          <p:nvSpPr>
            <p:cNvPr id="197" name="Google Shape;197;p9"/>
            <p:cNvSpPr txBox="1"/>
            <p:nvPr/>
          </p:nvSpPr>
          <p:spPr>
            <a:xfrm>
              <a:off x="5424500" y="3422550"/>
              <a:ext cx="2030400" cy="400200"/>
            </a:xfrm>
            <a:prstGeom prst="rect">
              <a:avLst/>
            </a:prstGeom>
            <a:noFill/>
            <a:ln>
              <a:noFill/>
            </a:ln>
          </p:spPr>
          <p:txBody>
            <a:bodyPr spcFirstLastPara="1" wrap="square" lIns="184125" tIns="184125" rIns="184125" bIns="184125" anchor="t" anchorCtr="0">
              <a:spAutoFit/>
            </a:bodyPr>
            <a:lstStyle/>
            <a:p>
              <a:pPr marL="0" lvl="0" indent="0" algn="ctr" rtl="0">
                <a:spcBef>
                  <a:spcPts val="0"/>
                </a:spcBef>
                <a:spcAft>
                  <a:spcPts val="0"/>
                </a:spcAft>
                <a:buNone/>
              </a:pPr>
              <a:r>
                <a:rPr lang="en-US" sz="2819">
                  <a:latin typeface="Courier New"/>
                  <a:ea typeface="Courier New"/>
                  <a:cs typeface="Courier New"/>
                  <a:sym typeface="Courier New"/>
                </a:rPr>
                <a:t>IA simbólica</a:t>
              </a:r>
              <a:endParaRPr sz="2819">
                <a:latin typeface="Courier New"/>
                <a:ea typeface="Courier New"/>
                <a:cs typeface="Courier New"/>
                <a:sym typeface="Courier New"/>
              </a:endParaRPr>
            </a:p>
          </p:txBody>
        </p:sp>
      </p:grpSp>
      <p:sp>
        <p:nvSpPr>
          <p:cNvPr id="198" name="Google Shape;198;p9"/>
          <p:cNvSpPr txBox="1"/>
          <p:nvPr/>
        </p:nvSpPr>
        <p:spPr>
          <a:xfrm>
            <a:off x="12343500" y="9534900"/>
            <a:ext cx="5944500" cy="63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u="sng">
                <a:solidFill>
                  <a:schemeClr val="hlink"/>
                </a:solidFill>
                <a:hlinkClick r:id="rId3"/>
              </a:rPr>
              <a:t>Imagen de JavaOne 2025 “Introducción a IA/ML para desarrolladores Java”</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EEE4"/>
        </a:solidFill>
        <a:effectLst/>
      </p:bgPr>
    </p:bg>
    <p:spTree>
      <p:nvGrpSpPr>
        <p:cNvPr id="1" name="Shape 203"/>
        <p:cNvGrpSpPr/>
        <p:nvPr/>
      </p:nvGrpSpPr>
      <p:grpSpPr>
        <a:xfrm>
          <a:off x="0" y="0"/>
          <a:ext cx="0" cy="0"/>
          <a:chOff x="0" y="0"/>
          <a:chExt cx="0" cy="0"/>
        </a:xfrm>
      </p:grpSpPr>
      <p:sp>
        <p:nvSpPr>
          <p:cNvPr id="204" name="Google Shape;204;p10"/>
          <p:cNvSpPr/>
          <p:nvPr/>
        </p:nvSpPr>
        <p:spPr>
          <a:xfrm>
            <a:off x="16384667" y="762000"/>
            <a:ext cx="912733" cy="388620"/>
          </a:xfrm>
          <a:prstGeom prst="roundRect">
            <a:avLst>
              <a:gd name="adj" fmla="val 50000"/>
            </a:avLst>
          </a:prstGeom>
          <a:noFill/>
          <a:ln w="9525" cap="flat" cmpd="sng">
            <a:solidFill>
              <a:srgbClr val="DDD4C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0"/>
          <p:cNvSpPr/>
          <p:nvPr/>
        </p:nvSpPr>
        <p:spPr>
          <a:xfrm>
            <a:off x="990600" y="1436370"/>
            <a:ext cx="17937480" cy="762000"/>
          </a:xfrm>
          <a:prstGeom prst="rect">
            <a:avLst/>
          </a:prstGeom>
          <a:noFill/>
          <a:ln>
            <a:noFill/>
          </a:ln>
        </p:spPr>
        <p:txBody>
          <a:bodyPr spcFirstLastPara="1" wrap="square" lIns="25400" tIns="25400" rIns="25400" bIns="25400" anchor="t" anchorCtr="0">
            <a:noAutofit/>
          </a:bodyPr>
          <a:lstStyle/>
          <a:p>
            <a:pPr marL="0" marR="0" lvl="0" indent="0" algn="l" rtl="0">
              <a:lnSpc>
                <a:spcPct val="100000"/>
              </a:lnSpc>
              <a:spcBef>
                <a:spcPts val="0"/>
              </a:spcBef>
              <a:spcAft>
                <a:spcPts val="0"/>
              </a:spcAft>
              <a:buClr>
                <a:srgbClr val="2A231D"/>
              </a:buClr>
              <a:buSzPts val="5700"/>
              <a:buFont typeface="Newsreader"/>
              <a:buNone/>
            </a:pPr>
            <a:r>
              <a:rPr lang="en-US" sz="5700" b="0" i="0" u="none" strike="noStrike" cap="none">
                <a:solidFill>
                  <a:srgbClr val="2A231D"/>
                </a:solidFill>
                <a:latin typeface="Newsreader"/>
                <a:ea typeface="Newsreader"/>
                <a:cs typeface="Newsreader"/>
                <a:sym typeface="Newsreader"/>
              </a:rPr>
              <a:t>IA predictiva (vs. IA generativa) en la JVM</a:t>
            </a:r>
            <a:endParaRPr sz="5700" b="0" i="0" u="none" strike="noStrike" cap="none">
              <a:solidFill>
                <a:schemeClr val="dk1"/>
              </a:solidFill>
              <a:latin typeface="Calibri"/>
              <a:ea typeface="Calibri"/>
              <a:cs typeface="Calibri"/>
              <a:sym typeface="Calibri"/>
            </a:endParaRPr>
          </a:p>
        </p:txBody>
      </p:sp>
      <p:sp>
        <p:nvSpPr>
          <p:cNvPr id="206" name="Google Shape;206;p10"/>
          <p:cNvSpPr/>
          <p:nvPr/>
        </p:nvSpPr>
        <p:spPr>
          <a:xfrm>
            <a:off x="990600" y="2274576"/>
            <a:ext cx="14250300" cy="38850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5E564B"/>
              </a:buClr>
              <a:buSzPts val="2250"/>
              <a:buFont typeface="Arial"/>
              <a:buNone/>
            </a:pPr>
            <a:r>
              <a:rPr lang="en-US" sz="2250" b="0" i="0" u="none" strike="noStrike" cap="none">
                <a:solidFill>
                  <a:srgbClr val="5E564B"/>
                </a:solidFill>
                <a:latin typeface="Arial"/>
                <a:ea typeface="Arial"/>
                <a:cs typeface="Arial"/>
                <a:sym typeface="Arial"/>
              </a:rPr>
              <a:t>No todo es </a:t>
            </a:r>
            <a:r>
              <a:rPr lang="en-US" sz="2250">
                <a:solidFill>
                  <a:srgbClr val="5E564B"/>
                </a:solidFill>
              </a:rPr>
              <a:t>IA generativa y</a:t>
            </a:r>
            <a:r>
              <a:rPr lang="en-US" sz="2250" b="0" i="0" u="none" strike="noStrike" cap="none">
                <a:solidFill>
                  <a:srgbClr val="5E564B"/>
                </a:solidFill>
                <a:latin typeface="Arial"/>
                <a:ea typeface="Arial"/>
                <a:cs typeface="Arial"/>
                <a:sym typeface="Arial"/>
              </a:rPr>
              <a:t> LLM. El machine learning clásico se sigue usando, y todo está aquí en Java.</a:t>
            </a:r>
            <a:endParaRPr sz="2250" b="0" i="0" u="none" strike="noStrike" cap="none">
              <a:solidFill>
                <a:schemeClr val="dk1"/>
              </a:solidFill>
              <a:latin typeface="Calibri"/>
              <a:ea typeface="Calibri"/>
              <a:cs typeface="Calibri"/>
              <a:sym typeface="Calibri"/>
            </a:endParaRPr>
          </a:p>
        </p:txBody>
      </p:sp>
      <p:sp>
        <p:nvSpPr>
          <p:cNvPr id="207" name="Google Shape;207;p10"/>
          <p:cNvSpPr/>
          <p:nvPr/>
        </p:nvSpPr>
        <p:spPr>
          <a:xfrm>
            <a:off x="990600" y="2887980"/>
            <a:ext cx="8039100" cy="2927985"/>
          </a:xfrm>
          <a:prstGeom prst="roundRect">
            <a:avLst>
              <a:gd name="adj" fmla="val 5205"/>
            </a:avLst>
          </a:prstGeom>
          <a:solidFill>
            <a:srgbClr val="FBF8F1"/>
          </a:solidFill>
          <a:ln w="9525" cap="flat" cmpd="sng">
            <a:solidFill>
              <a:srgbClr val="E0D8C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0"/>
          <p:cNvSpPr/>
          <p:nvPr/>
        </p:nvSpPr>
        <p:spPr>
          <a:xfrm>
            <a:off x="1322070" y="3780472"/>
            <a:ext cx="8113776" cy="419100"/>
          </a:xfrm>
          <a:prstGeom prst="rect">
            <a:avLst/>
          </a:prstGeom>
          <a:noFill/>
          <a:ln>
            <a:noFill/>
          </a:ln>
        </p:spPr>
        <p:txBody>
          <a:bodyPr spcFirstLastPara="1" wrap="square" lIns="25400" tIns="25400" rIns="25400" bIns="25400" anchor="t" anchorCtr="0">
            <a:noAutofit/>
          </a:bodyPr>
          <a:lstStyle/>
          <a:p>
            <a:pPr marL="0" marR="0" lvl="0" indent="0" algn="l" rtl="0">
              <a:lnSpc>
                <a:spcPct val="100000"/>
              </a:lnSpc>
              <a:spcBef>
                <a:spcPts val="0"/>
              </a:spcBef>
              <a:spcAft>
                <a:spcPts val="0"/>
              </a:spcAft>
              <a:buClr>
                <a:srgbClr val="2A231D"/>
              </a:buClr>
              <a:buSzPts val="3000"/>
              <a:buFont typeface="Newsreader"/>
              <a:buNone/>
            </a:pPr>
            <a:r>
              <a:rPr lang="en-US" sz="3000" b="0" i="0" u="none" strike="noStrike" cap="none">
                <a:solidFill>
                  <a:srgbClr val="2A231D"/>
                </a:solidFill>
                <a:latin typeface="Newsreader"/>
                <a:ea typeface="Newsreader"/>
                <a:cs typeface="Newsreader"/>
                <a:sym typeface="Newsreader"/>
              </a:rPr>
              <a:t>DeepLearning4j </a:t>
            </a:r>
            <a:r>
              <a:rPr lang="en-US" sz="1950" b="0" i="0" u="none" strike="noStrike" cap="none">
                <a:solidFill>
                  <a:srgbClr val="897F71"/>
                </a:solidFill>
                <a:latin typeface="Newsreader"/>
                <a:ea typeface="Newsreader"/>
                <a:cs typeface="Newsreader"/>
                <a:sym typeface="Newsreader"/>
              </a:rPr>
              <a:t>(</a:t>
            </a:r>
            <a:r>
              <a:rPr lang="en-US" sz="1950">
                <a:solidFill>
                  <a:srgbClr val="897F71"/>
                </a:solidFill>
                <a:latin typeface="Newsreader"/>
                <a:ea typeface="Newsreader"/>
                <a:cs typeface="Newsreader"/>
                <a:sym typeface="Newsreader"/>
              </a:rPr>
              <a:t>Eclipse Deeplearning4j</a:t>
            </a:r>
            <a:r>
              <a:rPr lang="en-US" sz="1950" b="0" i="0" u="none" strike="noStrike" cap="none">
                <a:solidFill>
                  <a:srgbClr val="897F71"/>
                </a:solidFill>
                <a:latin typeface="Newsreader"/>
                <a:ea typeface="Newsreader"/>
                <a:cs typeface="Newsreader"/>
                <a:sym typeface="Newsreader"/>
              </a:rPr>
              <a:t>)</a:t>
            </a:r>
            <a:endParaRPr sz="3000" b="0" i="0" u="none" strike="noStrike" cap="none">
              <a:solidFill>
                <a:schemeClr val="dk1"/>
              </a:solidFill>
              <a:latin typeface="Calibri"/>
              <a:ea typeface="Calibri"/>
              <a:cs typeface="Calibri"/>
              <a:sym typeface="Calibri"/>
            </a:endParaRPr>
          </a:p>
        </p:txBody>
      </p:sp>
      <p:sp>
        <p:nvSpPr>
          <p:cNvPr id="209" name="Google Shape;209;p10"/>
          <p:cNvSpPr/>
          <p:nvPr/>
        </p:nvSpPr>
        <p:spPr>
          <a:xfrm>
            <a:off x="1322070" y="4256722"/>
            <a:ext cx="7597445" cy="704850"/>
          </a:xfrm>
          <a:prstGeom prst="rect">
            <a:avLst/>
          </a:prstGeom>
          <a:noFill/>
          <a:ln>
            <a:noFill/>
          </a:ln>
        </p:spPr>
        <p:txBody>
          <a:bodyPr spcFirstLastPara="1" wrap="square" lIns="25400" tIns="25400" rIns="25400" bIns="25400" anchor="t" anchorCtr="0">
            <a:noAutofit/>
          </a:bodyPr>
          <a:lstStyle/>
          <a:p>
            <a:pPr marL="0" marR="0" lvl="0" indent="0" algn="l" rtl="0">
              <a:lnSpc>
                <a:spcPct val="140000"/>
              </a:lnSpc>
              <a:spcBef>
                <a:spcPts val="0"/>
              </a:spcBef>
              <a:spcAft>
                <a:spcPts val="0"/>
              </a:spcAft>
              <a:buClr>
                <a:srgbClr val="5E564B"/>
              </a:buClr>
              <a:buSzPts val="1875"/>
              <a:buFont typeface="Arial"/>
              <a:buNone/>
            </a:pPr>
            <a:r>
              <a:rPr lang="en-US" sz="1875" b="0" i="0" u="none" strike="noStrike" cap="none">
                <a:solidFill>
                  <a:srgbClr val="5E564B"/>
                </a:solidFill>
                <a:latin typeface="Arial"/>
                <a:ea typeface="Arial"/>
                <a:cs typeface="Arial"/>
                <a:sym typeface="Arial"/>
              </a:rPr>
              <a:t>Deep learning distribuido y redes neuronales, creado para la JVM y pilas de big data.</a:t>
            </a:r>
            <a:endParaRPr sz="1875" b="0" i="0" u="none" strike="noStrike" cap="none">
              <a:solidFill>
                <a:schemeClr val="dk1"/>
              </a:solidFill>
              <a:latin typeface="Calibri"/>
              <a:ea typeface="Calibri"/>
              <a:cs typeface="Calibri"/>
              <a:sym typeface="Calibri"/>
            </a:endParaRPr>
          </a:p>
        </p:txBody>
      </p:sp>
      <p:sp>
        <p:nvSpPr>
          <p:cNvPr id="210" name="Google Shape;210;p10"/>
          <p:cNvSpPr/>
          <p:nvPr/>
        </p:nvSpPr>
        <p:spPr>
          <a:xfrm>
            <a:off x="9258300" y="2887980"/>
            <a:ext cx="8039100" cy="2927985"/>
          </a:xfrm>
          <a:prstGeom prst="roundRect">
            <a:avLst>
              <a:gd name="adj" fmla="val 5205"/>
            </a:avLst>
          </a:prstGeom>
          <a:solidFill>
            <a:srgbClr val="FBF8F1"/>
          </a:solidFill>
          <a:ln w="9525" cap="flat" cmpd="sng">
            <a:solidFill>
              <a:srgbClr val="E0D8C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10"/>
          <p:cNvSpPr/>
          <p:nvPr/>
        </p:nvSpPr>
        <p:spPr>
          <a:xfrm>
            <a:off x="9589770" y="3780472"/>
            <a:ext cx="8113776" cy="419100"/>
          </a:xfrm>
          <a:prstGeom prst="rect">
            <a:avLst/>
          </a:prstGeom>
          <a:noFill/>
          <a:ln>
            <a:noFill/>
          </a:ln>
        </p:spPr>
        <p:txBody>
          <a:bodyPr spcFirstLastPara="1" wrap="square" lIns="25400" tIns="25400" rIns="25400" bIns="25400" anchor="t" anchorCtr="0">
            <a:noAutofit/>
          </a:bodyPr>
          <a:lstStyle/>
          <a:p>
            <a:pPr marL="0" marR="0" lvl="0" indent="0" algn="l" rtl="0">
              <a:lnSpc>
                <a:spcPct val="100000"/>
              </a:lnSpc>
              <a:spcBef>
                <a:spcPts val="0"/>
              </a:spcBef>
              <a:spcAft>
                <a:spcPts val="0"/>
              </a:spcAft>
              <a:buClr>
                <a:srgbClr val="2A231D"/>
              </a:buClr>
              <a:buSzPts val="3000"/>
              <a:buFont typeface="Newsreader"/>
              <a:buNone/>
            </a:pPr>
            <a:r>
              <a:rPr lang="en-US" sz="3000" b="0" i="0" u="none" strike="noStrike" cap="none">
                <a:solidFill>
                  <a:srgbClr val="2A231D"/>
                </a:solidFill>
                <a:latin typeface="Newsreader"/>
                <a:ea typeface="Newsreader"/>
                <a:cs typeface="Newsreader"/>
                <a:sym typeface="Newsreader"/>
              </a:rPr>
              <a:t>DeepNetts</a:t>
            </a:r>
            <a:endParaRPr sz="3000" b="0" i="0" u="none" strike="noStrike" cap="none">
              <a:solidFill>
                <a:schemeClr val="dk1"/>
              </a:solidFill>
              <a:latin typeface="Calibri"/>
              <a:ea typeface="Calibri"/>
              <a:cs typeface="Calibri"/>
              <a:sym typeface="Calibri"/>
            </a:endParaRPr>
          </a:p>
        </p:txBody>
      </p:sp>
      <p:sp>
        <p:nvSpPr>
          <p:cNvPr id="212" name="Google Shape;212;p10"/>
          <p:cNvSpPr/>
          <p:nvPr/>
        </p:nvSpPr>
        <p:spPr>
          <a:xfrm>
            <a:off x="9589770" y="4256722"/>
            <a:ext cx="7597445" cy="704850"/>
          </a:xfrm>
          <a:prstGeom prst="rect">
            <a:avLst/>
          </a:prstGeom>
          <a:noFill/>
          <a:ln>
            <a:noFill/>
          </a:ln>
        </p:spPr>
        <p:txBody>
          <a:bodyPr spcFirstLastPara="1" wrap="square" lIns="25400" tIns="25400" rIns="25400" bIns="25400" anchor="t" anchorCtr="0">
            <a:noAutofit/>
          </a:bodyPr>
          <a:lstStyle/>
          <a:p>
            <a:pPr marL="0" marR="0" lvl="0" indent="0" algn="l" rtl="0">
              <a:lnSpc>
                <a:spcPct val="140000"/>
              </a:lnSpc>
              <a:spcBef>
                <a:spcPts val="0"/>
              </a:spcBef>
              <a:spcAft>
                <a:spcPts val="0"/>
              </a:spcAft>
              <a:buClr>
                <a:srgbClr val="5E564B"/>
              </a:buClr>
              <a:buSzPts val="1875"/>
              <a:buFont typeface="Arial"/>
              <a:buNone/>
            </a:pPr>
            <a:r>
              <a:rPr lang="en-US" sz="1875" b="0" i="0" u="none" strike="noStrike" cap="none">
                <a:solidFill>
                  <a:srgbClr val="5E564B"/>
                </a:solidFill>
                <a:latin typeface="Arial"/>
                <a:ea typeface="Arial"/>
                <a:cs typeface="Arial"/>
                <a:sym typeface="Arial"/>
              </a:rPr>
              <a:t>Deep learning en Java puro con una API nativa de Java</a:t>
            </a:r>
            <a:r>
              <a:rPr lang="en-US" sz="1875">
                <a:solidFill>
                  <a:srgbClr val="5E564B"/>
                </a:solidFill>
              </a:rPr>
              <a:t>. Muy f</a:t>
            </a:r>
            <a:r>
              <a:rPr lang="en-US" sz="1875" b="0" i="0" u="none" strike="noStrike" cap="none">
                <a:solidFill>
                  <a:srgbClr val="5E564B"/>
                </a:solidFill>
                <a:latin typeface="Arial"/>
                <a:ea typeface="Arial"/>
                <a:cs typeface="Arial"/>
                <a:sym typeface="Arial"/>
              </a:rPr>
              <a:t>ácil de integrar directamente en las apps. Ver </a:t>
            </a:r>
            <a:r>
              <a:rPr lang="en-US" sz="1875" b="1" i="0" u="sng" strike="noStrike" cap="none">
                <a:solidFill>
                  <a:schemeClr val="hlink"/>
                </a:solidFill>
                <a:hlinkClick r:id="rId3"/>
              </a:rPr>
              <a:t>JSR 381</a:t>
            </a:r>
            <a:endParaRPr sz="1875" b="1" i="0" u="none" strike="noStrike" cap="none">
              <a:solidFill>
                <a:schemeClr val="dk1"/>
              </a:solidFill>
              <a:latin typeface="Calibri"/>
              <a:ea typeface="Calibri"/>
              <a:cs typeface="Calibri"/>
              <a:sym typeface="Calibri"/>
            </a:endParaRPr>
          </a:p>
        </p:txBody>
      </p:sp>
      <p:sp>
        <p:nvSpPr>
          <p:cNvPr id="213" name="Google Shape;213;p10"/>
          <p:cNvSpPr/>
          <p:nvPr/>
        </p:nvSpPr>
        <p:spPr>
          <a:xfrm>
            <a:off x="990600" y="6044565"/>
            <a:ext cx="8039100" cy="2927985"/>
          </a:xfrm>
          <a:prstGeom prst="roundRect">
            <a:avLst>
              <a:gd name="adj" fmla="val 5205"/>
            </a:avLst>
          </a:prstGeom>
          <a:solidFill>
            <a:srgbClr val="FBF8F1"/>
          </a:solidFill>
          <a:ln w="9525" cap="flat" cmpd="sng">
            <a:solidFill>
              <a:srgbClr val="E0D8C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10"/>
          <p:cNvSpPr/>
          <p:nvPr/>
        </p:nvSpPr>
        <p:spPr>
          <a:xfrm>
            <a:off x="1322070" y="6937057"/>
            <a:ext cx="8113776" cy="419100"/>
          </a:xfrm>
          <a:prstGeom prst="rect">
            <a:avLst/>
          </a:prstGeom>
          <a:noFill/>
          <a:ln>
            <a:noFill/>
          </a:ln>
        </p:spPr>
        <p:txBody>
          <a:bodyPr spcFirstLastPara="1" wrap="square" lIns="25400" tIns="25400" rIns="25400" bIns="25400" anchor="t" anchorCtr="0">
            <a:noAutofit/>
          </a:bodyPr>
          <a:lstStyle/>
          <a:p>
            <a:pPr marL="0" marR="0" lvl="0" indent="0" algn="l" rtl="0">
              <a:lnSpc>
                <a:spcPct val="100000"/>
              </a:lnSpc>
              <a:spcBef>
                <a:spcPts val="0"/>
              </a:spcBef>
              <a:spcAft>
                <a:spcPts val="0"/>
              </a:spcAft>
              <a:buClr>
                <a:srgbClr val="2A231D"/>
              </a:buClr>
              <a:buSzPts val="3000"/>
              <a:buFont typeface="Newsreader"/>
              <a:buNone/>
            </a:pPr>
            <a:r>
              <a:rPr lang="en-US" sz="3000" b="0" i="0" u="none" strike="noStrike" cap="none">
                <a:solidFill>
                  <a:srgbClr val="2A231D"/>
                </a:solidFill>
                <a:latin typeface="Newsreader"/>
                <a:ea typeface="Newsreader"/>
                <a:cs typeface="Newsreader"/>
                <a:sym typeface="Newsreader"/>
              </a:rPr>
              <a:t>Weka</a:t>
            </a:r>
            <a:endParaRPr sz="3000" b="0" i="0" u="none" strike="noStrike" cap="none">
              <a:solidFill>
                <a:schemeClr val="dk1"/>
              </a:solidFill>
              <a:latin typeface="Calibri"/>
              <a:ea typeface="Calibri"/>
              <a:cs typeface="Calibri"/>
              <a:sym typeface="Calibri"/>
            </a:endParaRPr>
          </a:p>
        </p:txBody>
      </p:sp>
      <p:sp>
        <p:nvSpPr>
          <p:cNvPr id="215" name="Google Shape;215;p10"/>
          <p:cNvSpPr/>
          <p:nvPr/>
        </p:nvSpPr>
        <p:spPr>
          <a:xfrm>
            <a:off x="1322070" y="7413307"/>
            <a:ext cx="7597445" cy="704850"/>
          </a:xfrm>
          <a:prstGeom prst="rect">
            <a:avLst/>
          </a:prstGeom>
          <a:noFill/>
          <a:ln>
            <a:noFill/>
          </a:ln>
        </p:spPr>
        <p:txBody>
          <a:bodyPr spcFirstLastPara="1" wrap="square" lIns="25400" tIns="25400" rIns="25400" bIns="25400" anchor="t" anchorCtr="0">
            <a:noAutofit/>
          </a:bodyPr>
          <a:lstStyle/>
          <a:p>
            <a:pPr marL="0" marR="0" lvl="0" indent="0" algn="l" rtl="0">
              <a:lnSpc>
                <a:spcPct val="140000"/>
              </a:lnSpc>
              <a:spcBef>
                <a:spcPts val="0"/>
              </a:spcBef>
              <a:spcAft>
                <a:spcPts val="0"/>
              </a:spcAft>
              <a:buClr>
                <a:srgbClr val="5E564B"/>
              </a:buClr>
              <a:buSzPts val="1875"/>
              <a:buFont typeface="Arial"/>
              <a:buNone/>
            </a:pPr>
            <a:r>
              <a:rPr lang="en-US" sz="1875" b="0" i="0" u="none" strike="noStrike" cap="none">
                <a:solidFill>
                  <a:srgbClr val="5E564B"/>
                </a:solidFill>
                <a:latin typeface="Arial"/>
                <a:ea typeface="Arial"/>
                <a:cs typeface="Arial"/>
                <a:sym typeface="Arial"/>
              </a:rPr>
              <a:t>El banco de trabajo clásico de ML</a:t>
            </a:r>
            <a:r>
              <a:rPr lang="en-US" sz="1875">
                <a:solidFill>
                  <a:srgbClr val="5E564B"/>
                </a:solidFill>
              </a:rPr>
              <a:t>:</a:t>
            </a:r>
            <a:r>
              <a:rPr lang="en-US" sz="1875" b="0" i="0" u="none" strike="noStrike" cap="none">
                <a:solidFill>
                  <a:srgbClr val="5E564B"/>
                </a:solidFill>
                <a:latin typeface="Arial"/>
                <a:ea typeface="Arial"/>
                <a:cs typeface="Arial"/>
                <a:sym typeface="Arial"/>
              </a:rPr>
              <a:t> clasificación, regresión y agrupamiento, listo para usar.</a:t>
            </a:r>
            <a:endParaRPr sz="1875" b="0" i="0" u="none" strike="noStrike" cap="none">
              <a:solidFill>
                <a:schemeClr val="dk1"/>
              </a:solidFill>
              <a:latin typeface="Calibri"/>
              <a:ea typeface="Calibri"/>
              <a:cs typeface="Calibri"/>
              <a:sym typeface="Calibri"/>
            </a:endParaRPr>
          </a:p>
        </p:txBody>
      </p:sp>
      <p:sp>
        <p:nvSpPr>
          <p:cNvPr id="216" name="Google Shape;216;p10"/>
          <p:cNvSpPr/>
          <p:nvPr/>
        </p:nvSpPr>
        <p:spPr>
          <a:xfrm>
            <a:off x="9258300" y="6044565"/>
            <a:ext cx="8039100" cy="2927985"/>
          </a:xfrm>
          <a:prstGeom prst="roundRect">
            <a:avLst>
              <a:gd name="adj" fmla="val 5205"/>
            </a:avLst>
          </a:prstGeom>
          <a:solidFill>
            <a:srgbClr val="FBF8F1"/>
          </a:solidFill>
          <a:ln w="9525" cap="flat" cmpd="sng">
            <a:solidFill>
              <a:srgbClr val="E0D8C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10"/>
          <p:cNvSpPr/>
          <p:nvPr/>
        </p:nvSpPr>
        <p:spPr>
          <a:xfrm>
            <a:off x="9589770" y="6937057"/>
            <a:ext cx="8113776" cy="419100"/>
          </a:xfrm>
          <a:prstGeom prst="rect">
            <a:avLst/>
          </a:prstGeom>
          <a:noFill/>
          <a:ln>
            <a:noFill/>
          </a:ln>
        </p:spPr>
        <p:txBody>
          <a:bodyPr spcFirstLastPara="1" wrap="square" lIns="25400" tIns="25400" rIns="25400" bIns="25400" anchor="t" anchorCtr="0">
            <a:noAutofit/>
          </a:bodyPr>
          <a:lstStyle/>
          <a:p>
            <a:pPr marL="0" marR="0" lvl="0" indent="0" algn="l" rtl="0">
              <a:lnSpc>
                <a:spcPct val="100000"/>
              </a:lnSpc>
              <a:spcBef>
                <a:spcPts val="0"/>
              </a:spcBef>
              <a:spcAft>
                <a:spcPts val="0"/>
              </a:spcAft>
              <a:buClr>
                <a:srgbClr val="2A231D"/>
              </a:buClr>
              <a:buSzPts val="3000"/>
              <a:buFont typeface="Newsreader"/>
              <a:buNone/>
            </a:pPr>
            <a:r>
              <a:rPr lang="en-US" sz="3000" b="0" i="0" u="none" strike="noStrike" cap="none">
                <a:solidFill>
                  <a:srgbClr val="2A231D"/>
                </a:solidFill>
                <a:latin typeface="Newsreader"/>
                <a:ea typeface="Newsreader"/>
                <a:cs typeface="Newsreader"/>
                <a:sym typeface="Newsreader"/>
              </a:rPr>
              <a:t>Mahout</a:t>
            </a:r>
            <a:endParaRPr sz="3000" b="0" i="0" u="none" strike="noStrike" cap="none">
              <a:solidFill>
                <a:schemeClr val="dk1"/>
              </a:solidFill>
              <a:latin typeface="Calibri"/>
              <a:ea typeface="Calibri"/>
              <a:cs typeface="Calibri"/>
              <a:sym typeface="Calibri"/>
            </a:endParaRPr>
          </a:p>
        </p:txBody>
      </p:sp>
      <p:sp>
        <p:nvSpPr>
          <p:cNvPr id="218" name="Google Shape;218;p10"/>
          <p:cNvSpPr/>
          <p:nvPr/>
        </p:nvSpPr>
        <p:spPr>
          <a:xfrm>
            <a:off x="9589770" y="7413307"/>
            <a:ext cx="7597445" cy="704850"/>
          </a:xfrm>
          <a:prstGeom prst="rect">
            <a:avLst/>
          </a:prstGeom>
          <a:noFill/>
          <a:ln>
            <a:noFill/>
          </a:ln>
        </p:spPr>
        <p:txBody>
          <a:bodyPr spcFirstLastPara="1" wrap="square" lIns="25400" tIns="25400" rIns="25400" bIns="25400" anchor="t" anchorCtr="0">
            <a:noAutofit/>
          </a:bodyPr>
          <a:lstStyle/>
          <a:p>
            <a:pPr marL="0" marR="0" lvl="0" indent="0" algn="l" rtl="0">
              <a:lnSpc>
                <a:spcPct val="140000"/>
              </a:lnSpc>
              <a:spcBef>
                <a:spcPts val="0"/>
              </a:spcBef>
              <a:spcAft>
                <a:spcPts val="0"/>
              </a:spcAft>
              <a:buClr>
                <a:srgbClr val="5E564B"/>
              </a:buClr>
              <a:buSzPts val="1875"/>
              <a:buFont typeface="Arial"/>
              <a:buNone/>
            </a:pPr>
            <a:r>
              <a:rPr lang="en-US" sz="1875" b="0" i="0" u="none" strike="noStrike" cap="none">
                <a:solidFill>
                  <a:srgbClr val="5E564B"/>
                </a:solidFill>
                <a:latin typeface="Arial"/>
                <a:ea typeface="Arial"/>
                <a:cs typeface="Arial"/>
                <a:sym typeface="Arial"/>
              </a:rPr>
              <a:t>Álgebra lineal y machine learning escalables y distribuidos para grandes conjuntos de datos.</a:t>
            </a:r>
            <a:endParaRPr sz="1875" b="0" i="0" u="none" strike="noStrike" cap="none">
              <a:solidFill>
                <a:schemeClr val="dk1"/>
              </a:solidFill>
              <a:latin typeface="Calibri"/>
              <a:ea typeface="Calibri"/>
              <a:cs typeface="Calibri"/>
              <a:sym typeface="Calibri"/>
            </a:endParaRPr>
          </a:p>
        </p:txBody>
      </p:sp>
      <p:sp>
        <p:nvSpPr>
          <p:cNvPr id="219" name="Google Shape;219;p10"/>
          <p:cNvSpPr/>
          <p:nvPr/>
        </p:nvSpPr>
        <p:spPr>
          <a:xfrm>
            <a:off x="175260" y="9258300"/>
            <a:ext cx="17937480" cy="304800"/>
          </a:xfrm>
          <a:prstGeom prst="rect">
            <a:avLst/>
          </a:prstGeom>
          <a:noFill/>
          <a:ln>
            <a:noFill/>
          </a:ln>
        </p:spPr>
        <p:txBody>
          <a:bodyPr spcFirstLastPara="1" wrap="square" lIns="25400" tIns="25400" rIns="25400" bIns="25400" anchor="t" anchorCtr="0">
            <a:noAutofit/>
          </a:bodyPr>
          <a:lstStyle/>
          <a:p>
            <a:pPr marL="0" marR="0" lvl="0" indent="0" algn="ctr" rtl="0">
              <a:spcBef>
                <a:spcPts val="0"/>
              </a:spcBef>
              <a:spcAft>
                <a:spcPts val="0"/>
              </a:spcAft>
              <a:buClr>
                <a:srgbClr val="897F71"/>
              </a:buClr>
              <a:buSzPts val="1425"/>
              <a:buFont typeface="Space Mono"/>
              <a:buNone/>
            </a:pPr>
            <a:r>
              <a:rPr lang="en-US" sz="1925" b="0" i="0" u="none" strike="noStrike" cap="none">
                <a:solidFill>
                  <a:srgbClr val="897F71"/>
                </a:solidFill>
                <a:latin typeface="Space Mono"/>
                <a:ea typeface="Space Mono"/>
                <a:cs typeface="Space Mono"/>
                <a:sym typeface="Space Mono"/>
              </a:rPr>
              <a:t>Recurre a estas cuando la tarea sea pronóstico · clasificación · detección de anomalías</a:t>
            </a:r>
            <a:r>
              <a:rPr lang="en-US" sz="1925">
                <a:solidFill>
                  <a:srgbClr val="897F71"/>
                </a:solidFill>
                <a:latin typeface="Space Mono"/>
                <a:ea typeface="Space Mono"/>
                <a:cs typeface="Space Mono"/>
                <a:sym typeface="Space Mono"/>
              </a:rPr>
              <a:t>. N</a:t>
            </a:r>
            <a:r>
              <a:rPr lang="en-US" sz="1925" b="0" i="0" u="none" strike="noStrike" cap="none">
                <a:solidFill>
                  <a:srgbClr val="897F71"/>
                </a:solidFill>
                <a:latin typeface="Space Mono"/>
                <a:ea typeface="Space Mono"/>
                <a:cs typeface="Space Mono"/>
                <a:sym typeface="Space Mono"/>
              </a:rPr>
              <a:t>o se necesita un LLM.</a:t>
            </a:r>
            <a:endParaRPr sz="1925" b="0"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EEE4"/>
        </a:solidFill>
        <a:effectLst/>
      </p:bgPr>
    </p:bg>
    <p:spTree>
      <p:nvGrpSpPr>
        <p:cNvPr id="1" name="Shape 224"/>
        <p:cNvGrpSpPr/>
        <p:nvPr/>
      </p:nvGrpSpPr>
      <p:grpSpPr>
        <a:xfrm>
          <a:off x="0" y="0"/>
          <a:ext cx="0" cy="0"/>
          <a:chOff x="0" y="0"/>
          <a:chExt cx="0" cy="0"/>
        </a:xfrm>
      </p:grpSpPr>
      <p:sp>
        <p:nvSpPr>
          <p:cNvPr id="225" name="Google Shape;225;p11"/>
          <p:cNvSpPr/>
          <p:nvPr/>
        </p:nvSpPr>
        <p:spPr>
          <a:xfrm>
            <a:off x="16384667" y="762000"/>
            <a:ext cx="912733" cy="388620"/>
          </a:xfrm>
          <a:prstGeom prst="roundRect">
            <a:avLst>
              <a:gd name="adj" fmla="val 50000"/>
            </a:avLst>
          </a:prstGeom>
          <a:noFill/>
          <a:ln w="9525" cap="flat" cmpd="sng">
            <a:solidFill>
              <a:srgbClr val="DDD4C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11"/>
          <p:cNvSpPr/>
          <p:nvPr/>
        </p:nvSpPr>
        <p:spPr>
          <a:xfrm>
            <a:off x="990600" y="1436370"/>
            <a:ext cx="17937480" cy="762000"/>
          </a:xfrm>
          <a:prstGeom prst="rect">
            <a:avLst/>
          </a:prstGeom>
          <a:noFill/>
          <a:ln>
            <a:noFill/>
          </a:ln>
        </p:spPr>
        <p:txBody>
          <a:bodyPr spcFirstLastPara="1" wrap="square" lIns="25400" tIns="25400" rIns="25400" bIns="25400" anchor="t" anchorCtr="0">
            <a:noAutofit/>
          </a:bodyPr>
          <a:lstStyle/>
          <a:p>
            <a:pPr marL="0" marR="0" lvl="0" indent="0" algn="l" rtl="0">
              <a:lnSpc>
                <a:spcPct val="100000"/>
              </a:lnSpc>
              <a:spcBef>
                <a:spcPts val="0"/>
              </a:spcBef>
              <a:spcAft>
                <a:spcPts val="0"/>
              </a:spcAft>
              <a:buClr>
                <a:srgbClr val="2A231D"/>
              </a:buClr>
              <a:buSzPts val="5700"/>
              <a:buFont typeface="Newsreader"/>
              <a:buNone/>
            </a:pPr>
            <a:r>
              <a:rPr lang="en-US" sz="5700" b="0" i="0" u="none" strike="noStrike" cap="none">
                <a:solidFill>
                  <a:srgbClr val="2A231D"/>
                </a:solidFill>
                <a:latin typeface="Newsreader"/>
                <a:ea typeface="Newsreader"/>
                <a:cs typeface="Newsreader"/>
                <a:sym typeface="Newsreader"/>
              </a:rPr>
              <a:t>Dónde enfocar tu crecimiento</a:t>
            </a:r>
            <a:endParaRPr sz="5700" b="0" i="0" u="none" strike="noStrike" cap="none">
              <a:solidFill>
                <a:schemeClr val="dk1"/>
              </a:solidFill>
              <a:latin typeface="Calibri"/>
              <a:ea typeface="Calibri"/>
              <a:cs typeface="Calibri"/>
              <a:sym typeface="Calibri"/>
            </a:endParaRPr>
          </a:p>
        </p:txBody>
      </p:sp>
      <p:sp>
        <p:nvSpPr>
          <p:cNvPr id="227" name="Google Shape;227;p11"/>
          <p:cNvSpPr/>
          <p:nvPr/>
        </p:nvSpPr>
        <p:spPr>
          <a:xfrm>
            <a:off x="990600" y="2274570"/>
            <a:ext cx="17937480" cy="36576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5E564B"/>
              </a:buClr>
              <a:buSzPts val="2250"/>
              <a:buFont typeface="Arial"/>
              <a:buNone/>
            </a:pPr>
            <a:r>
              <a:rPr lang="en-US" sz="2250" b="0" i="0" u="none" strike="noStrike" cap="none">
                <a:solidFill>
                  <a:srgbClr val="5E564B"/>
                </a:solidFill>
                <a:latin typeface="Arial"/>
                <a:ea typeface="Arial"/>
                <a:cs typeface="Arial"/>
                <a:sym typeface="Arial"/>
              </a:rPr>
              <a:t>El modelo escribe código. Tu ventaja está en todo lo que rodea al código.</a:t>
            </a:r>
            <a:endParaRPr sz="2250" b="0" i="0" u="none" strike="noStrike" cap="none">
              <a:solidFill>
                <a:schemeClr val="dk1"/>
              </a:solidFill>
              <a:latin typeface="Calibri"/>
              <a:ea typeface="Calibri"/>
              <a:cs typeface="Calibri"/>
              <a:sym typeface="Calibri"/>
            </a:endParaRPr>
          </a:p>
        </p:txBody>
      </p:sp>
      <p:sp>
        <p:nvSpPr>
          <p:cNvPr id="228" name="Google Shape;228;p11"/>
          <p:cNvSpPr/>
          <p:nvPr/>
        </p:nvSpPr>
        <p:spPr>
          <a:xfrm>
            <a:off x="990600" y="2887980"/>
            <a:ext cx="5295900" cy="6637020"/>
          </a:xfrm>
          <a:prstGeom prst="roundRect">
            <a:avLst>
              <a:gd name="adj" fmla="val 2878"/>
            </a:avLst>
          </a:prstGeom>
          <a:solidFill>
            <a:srgbClr val="2A231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11"/>
          <p:cNvSpPr/>
          <p:nvPr/>
        </p:nvSpPr>
        <p:spPr>
          <a:xfrm>
            <a:off x="1295400" y="4360045"/>
            <a:ext cx="5154900" cy="76200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E6B59C"/>
              </a:buClr>
              <a:buSzPts val="1200"/>
              <a:buFont typeface="Space Mono"/>
              <a:buNone/>
            </a:pPr>
            <a:r>
              <a:rPr lang="en-US" sz="2400" b="0" i="0" u="none" strike="noStrike" cap="none">
                <a:solidFill>
                  <a:srgbClr val="E6B59C"/>
                </a:solidFill>
                <a:latin typeface="Space Mono"/>
                <a:ea typeface="Space Mono"/>
                <a:cs typeface="Space Mono"/>
                <a:sym typeface="Space Mono"/>
              </a:rPr>
              <a:t>LA HABILIDAD QUE MÁS RINDE</a:t>
            </a:r>
            <a:endParaRPr sz="2400" b="0" i="0" u="none" strike="noStrike" cap="none">
              <a:solidFill>
                <a:schemeClr val="dk1"/>
              </a:solidFill>
              <a:latin typeface="Calibri"/>
              <a:ea typeface="Calibri"/>
              <a:cs typeface="Calibri"/>
              <a:sym typeface="Calibri"/>
            </a:endParaRPr>
          </a:p>
        </p:txBody>
      </p:sp>
      <p:sp>
        <p:nvSpPr>
          <p:cNvPr id="230" name="Google Shape;230;p11"/>
          <p:cNvSpPr/>
          <p:nvPr/>
        </p:nvSpPr>
        <p:spPr>
          <a:xfrm>
            <a:off x="1295400" y="5358765"/>
            <a:ext cx="4826889" cy="958215"/>
          </a:xfrm>
          <a:prstGeom prst="rect">
            <a:avLst/>
          </a:prstGeom>
          <a:noFill/>
          <a:ln>
            <a:noFill/>
          </a:ln>
        </p:spPr>
        <p:txBody>
          <a:bodyPr spcFirstLastPara="1" wrap="square" lIns="25400" tIns="25400" rIns="25400" bIns="25400" anchor="t" anchorCtr="0">
            <a:noAutofit/>
          </a:bodyPr>
          <a:lstStyle/>
          <a:p>
            <a:pPr marL="0" marR="0" lvl="0" indent="0" algn="l" rtl="0">
              <a:lnSpc>
                <a:spcPct val="105000"/>
              </a:lnSpc>
              <a:spcBef>
                <a:spcPts val="0"/>
              </a:spcBef>
              <a:spcAft>
                <a:spcPts val="0"/>
              </a:spcAft>
              <a:buClr>
                <a:srgbClr val="F4EEE4"/>
              </a:buClr>
              <a:buSzPts val="3450"/>
              <a:buFont typeface="Newsreader"/>
              <a:buNone/>
            </a:pPr>
            <a:r>
              <a:rPr lang="en-US" sz="2500" b="0" i="0" u="none" strike="noStrike" cap="none">
                <a:solidFill>
                  <a:srgbClr val="F4EEE4"/>
                </a:solidFill>
                <a:latin typeface="Newsreader"/>
                <a:ea typeface="Newsreader"/>
                <a:cs typeface="Newsreader"/>
                <a:sym typeface="Newsreader"/>
              </a:rPr>
              <a:t>Pensamiento crítico frente a generación de código</a:t>
            </a:r>
            <a:endParaRPr sz="3450" b="0" i="0" u="none" strike="noStrike" cap="none">
              <a:solidFill>
                <a:schemeClr val="dk1"/>
              </a:solidFill>
              <a:latin typeface="Calibri"/>
              <a:ea typeface="Calibri"/>
              <a:cs typeface="Calibri"/>
              <a:sym typeface="Calibri"/>
            </a:endParaRPr>
          </a:p>
        </p:txBody>
      </p:sp>
      <p:sp>
        <p:nvSpPr>
          <p:cNvPr id="231" name="Google Shape;231;p11"/>
          <p:cNvSpPr/>
          <p:nvPr/>
        </p:nvSpPr>
        <p:spPr>
          <a:xfrm>
            <a:off x="1295400" y="6747667"/>
            <a:ext cx="4827000" cy="1884300"/>
          </a:xfrm>
          <a:prstGeom prst="rect">
            <a:avLst/>
          </a:prstGeom>
          <a:noFill/>
          <a:ln>
            <a:noFill/>
          </a:ln>
        </p:spPr>
        <p:txBody>
          <a:bodyPr spcFirstLastPara="1" wrap="square" lIns="25400" tIns="25400" rIns="25400" bIns="25400" anchor="t" anchorCtr="0">
            <a:noAutofit/>
          </a:bodyPr>
          <a:lstStyle/>
          <a:p>
            <a:pPr marL="0" marR="0" lvl="0" indent="0" algn="l" rtl="0">
              <a:lnSpc>
                <a:spcPct val="140000"/>
              </a:lnSpc>
              <a:spcBef>
                <a:spcPts val="0"/>
              </a:spcBef>
              <a:spcAft>
                <a:spcPts val="0"/>
              </a:spcAft>
              <a:buClr>
                <a:srgbClr val="D8CDBD"/>
              </a:buClr>
              <a:buSzPts val="1875"/>
              <a:buFont typeface="Arial"/>
              <a:buNone/>
            </a:pPr>
            <a:r>
              <a:rPr lang="en-US" sz="2275" b="0" i="0" u="none" strike="noStrike" cap="none">
                <a:solidFill>
                  <a:srgbClr val="D8CDBD"/>
                </a:solidFill>
                <a:latin typeface="Arial"/>
                <a:ea typeface="Arial"/>
                <a:cs typeface="Arial"/>
                <a:sym typeface="Arial"/>
              </a:rPr>
              <a:t>Generar código es barato. Saber si es correcto, seguro y adecuado para el problema es el verdadero trabajo.</a:t>
            </a:r>
            <a:endParaRPr sz="2275" b="0" i="0" u="none" strike="noStrike" cap="none">
              <a:solidFill>
                <a:schemeClr val="dk1"/>
              </a:solidFill>
              <a:latin typeface="Calibri"/>
              <a:ea typeface="Calibri"/>
              <a:cs typeface="Calibri"/>
              <a:sym typeface="Calibri"/>
            </a:endParaRPr>
          </a:p>
        </p:txBody>
      </p:sp>
      <p:sp>
        <p:nvSpPr>
          <p:cNvPr id="232" name="Google Shape;232;p11"/>
          <p:cNvSpPr/>
          <p:nvPr/>
        </p:nvSpPr>
        <p:spPr>
          <a:xfrm>
            <a:off x="6496050" y="2887980"/>
            <a:ext cx="5295900" cy="3213735"/>
          </a:xfrm>
          <a:prstGeom prst="roundRect">
            <a:avLst>
              <a:gd name="adj" fmla="val 4742"/>
            </a:avLst>
          </a:prstGeom>
          <a:solidFill>
            <a:srgbClr val="FBF8F1"/>
          </a:solidFill>
          <a:ln w="9525" cap="flat" cmpd="sng">
            <a:solidFill>
              <a:srgbClr val="E0D8C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1"/>
          <p:cNvSpPr/>
          <p:nvPr/>
        </p:nvSpPr>
        <p:spPr>
          <a:xfrm>
            <a:off x="6770370" y="4021455"/>
            <a:ext cx="5221986" cy="34290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2A231D"/>
              </a:buClr>
              <a:buSzPts val="2400"/>
              <a:buFont typeface="Newsreader"/>
              <a:buNone/>
            </a:pPr>
            <a:r>
              <a:rPr lang="en-US" sz="2400" b="0" i="0" u="none" strike="noStrike" cap="none">
                <a:solidFill>
                  <a:srgbClr val="2A231D"/>
                </a:solidFill>
                <a:latin typeface="Newsreader"/>
                <a:ea typeface="Newsreader"/>
                <a:cs typeface="Newsreader"/>
                <a:sym typeface="Newsreader"/>
              </a:rPr>
              <a:t>Diseño de sistemas heterogéneos</a:t>
            </a:r>
            <a:endParaRPr sz="2400" b="0" i="0" u="none" strike="noStrike" cap="none">
              <a:solidFill>
                <a:schemeClr val="dk1"/>
              </a:solidFill>
              <a:latin typeface="Calibri"/>
              <a:ea typeface="Calibri"/>
              <a:cs typeface="Calibri"/>
              <a:sym typeface="Calibri"/>
            </a:endParaRPr>
          </a:p>
        </p:txBody>
      </p:sp>
      <p:sp>
        <p:nvSpPr>
          <p:cNvPr id="234" name="Google Shape;234;p11"/>
          <p:cNvSpPr/>
          <p:nvPr/>
        </p:nvSpPr>
        <p:spPr>
          <a:xfrm>
            <a:off x="6770375" y="4402449"/>
            <a:ext cx="4889700" cy="693000"/>
          </a:xfrm>
          <a:prstGeom prst="rect">
            <a:avLst/>
          </a:prstGeom>
          <a:noFill/>
          <a:ln>
            <a:noFill/>
          </a:ln>
        </p:spPr>
        <p:txBody>
          <a:bodyPr spcFirstLastPara="1" wrap="square" lIns="25400" tIns="25400" rIns="25400" bIns="25400" anchor="t" anchorCtr="0">
            <a:noAutofit/>
          </a:bodyPr>
          <a:lstStyle/>
          <a:p>
            <a:pPr marL="0" marR="0" lvl="0" indent="0" algn="l" rtl="0">
              <a:lnSpc>
                <a:spcPct val="135000"/>
              </a:lnSpc>
              <a:spcBef>
                <a:spcPts val="0"/>
              </a:spcBef>
              <a:spcAft>
                <a:spcPts val="0"/>
              </a:spcAft>
              <a:buClr>
                <a:srgbClr val="5E564B"/>
              </a:buClr>
              <a:buSzPts val="1650"/>
              <a:buFont typeface="Arial"/>
              <a:buNone/>
            </a:pPr>
            <a:r>
              <a:rPr lang="en-US" sz="2000" b="0" i="0" u="none" strike="noStrike" cap="none">
                <a:solidFill>
                  <a:srgbClr val="5E564B"/>
                </a:solidFill>
                <a:latin typeface="Arial"/>
                <a:ea typeface="Arial"/>
                <a:cs typeface="Arial"/>
                <a:sym typeface="Arial"/>
              </a:rPr>
              <a:t>Java, Python, modelos y datos funcionando como un solo sistema.</a:t>
            </a:r>
            <a:endParaRPr sz="2000" b="0" i="0" u="none" strike="noStrike" cap="none">
              <a:solidFill>
                <a:schemeClr val="dk1"/>
              </a:solidFill>
              <a:latin typeface="Calibri"/>
              <a:ea typeface="Calibri"/>
              <a:cs typeface="Calibri"/>
              <a:sym typeface="Calibri"/>
            </a:endParaRPr>
          </a:p>
        </p:txBody>
      </p:sp>
      <p:sp>
        <p:nvSpPr>
          <p:cNvPr id="235" name="Google Shape;235;p11"/>
          <p:cNvSpPr/>
          <p:nvPr/>
        </p:nvSpPr>
        <p:spPr>
          <a:xfrm>
            <a:off x="12001500" y="2887980"/>
            <a:ext cx="5295900" cy="3213735"/>
          </a:xfrm>
          <a:prstGeom prst="roundRect">
            <a:avLst>
              <a:gd name="adj" fmla="val 4742"/>
            </a:avLst>
          </a:prstGeom>
          <a:solidFill>
            <a:srgbClr val="FBF8F1"/>
          </a:solidFill>
          <a:ln w="9525" cap="flat" cmpd="sng">
            <a:solidFill>
              <a:srgbClr val="E0D8C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11"/>
          <p:cNvSpPr/>
          <p:nvPr/>
        </p:nvSpPr>
        <p:spPr>
          <a:xfrm>
            <a:off x="12275820" y="4021455"/>
            <a:ext cx="5221986" cy="34290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2A231D"/>
              </a:buClr>
              <a:buSzPts val="2400"/>
              <a:buFont typeface="Newsreader"/>
              <a:buNone/>
            </a:pPr>
            <a:r>
              <a:rPr lang="en-US" sz="2400" b="0" i="0" u="none" strike="noStrike" cap="none">
                <a:solidFill>
                  <a:srgbClr val="2A231D"/>
                </a:solidFill>
                <a:latin typeface="Newsreader"/>
                <a:ea typeface="Newsreader"/>
                <a:cs typeface="Newsreader"/>
                <a:sym typeface="Newsreader"/>
              </a:rPr>
              <a:t>Colaboración</a:t>
            </a:r>
            <a:endParaRPr sz="2400" b="0" i="0" u="none" strike="noStrike" cap="none">
              <a:solidFill>
                <a:schemeClr val="dk1"/>
              </a:solidFill>
              <a:latin typeface="Calibri"/>
              <a:ea typeface="Calibri"/>
              <a:cs typeface="Calibri"/>
              <a:sym typeface="Calibri"/>
            </a:endParaRPr>
          </a:p>
        </p:txBody>
      </p:sp>
      <p:sp>
        <p:nvSpPr>
          <p:cNvPr id="237" name="Google Shape;237;p11"/>
          <p:cNvSpPr/>
          <p:nvPr/>
        </p:nvSpPr>
        <p:spPr>
          <a:xfrm>
            <a:off x="12275823" y="4402449"/>
            <a:ext cx="4889700" cy="693000"/>
          </a:xfrm>
          <a:prstGeom prst="rect">
            <a:avLst/>
          </a:prstGeom>
          <a:noFill/>
          <a:ln>
            <a:noFill/>
          </a:ln>
        </p:spPr>
        <p:txBody>
          <a:bodyPr spcFirstLastPara="1" wrap="square" lIns="25400" tIns="25400" rIns="25400" bIns="25400" anchor="t" anchorCtr="0">
            <a:noAutofit/>
          </a:bodyPr>
          <a:lstStyle/>
          <a:p>
            <a:pPr marL="0" marR="0" lvl="0" indent="0" algn="l" rtl="0">
              <a:lnSpc>
                <a:spcPct val="135000"/>
              </a:lnSpc>
              <a:spcBef>
                <a:spcPts val="0"/>
              </a:spcBef>
              <a:spcAft>
                <a:spcPts val="0"/>
              </a:spcAft>
              <a:buClr>
                <a:srgbClr val="5E564B"/>
              </a:buClr>
              <a:buSzPts val="1650"/>
              <a:buFont typeface="Arial"/>
              <a:buNone/>
            </a:pPr>
            <a:r>
              <a:rPr lang="en-US" sz="2000" b="0" i="0" u="none" strike="noStrike" cap="none">
                <a:solidFill>
                  <a:srgbClr val="5E564B"/>
                </a:solidFill>
                <a:latin typeface="Arial"/>
                <a:ea typeface="Arial"/>
                <a:cs typeface="Arial"/>
                <a:sym typeface="Arial"/>
              </a:rPr>
              <a:t>Trabajar con IA, y con personas, como un multiplicador de fuerza.</a:t>
            </a:r>
            <a:endParaRPr sz="2000" b="0" i="0" u="none" strike="noStrike" cap="none">
              <a:solidFill>
                <a:schemeClr val="dk1"/>
              </a:solidFill>
              <a:latin typeface="Calibri"/>
              <a:ea typeface="Calibri"/>
              <a:cs typeface="Calibri"/>
              <a:sym typeface="Calibri"/>
            </a:endParaRPr>
          </a:p>
        </p:txBody>
      </p:sp>
      <p:sp>
        <p:nvSpPr>
          <p:cNvPr id="238" name="Google Shape;238;p11"/>
          <p:cNvSpPr/>
          <p:nvPr/>
        </p:nvSpPr>
        <p:spPr>
          <a:xfrm>
            <a:off x="6496050" y="6311265"/>
            <a:ext cx="5295900" cy="3213735"/>
          </a:xfrm>
          <a:prstGeom prst="roundRect">
            <a:avLst>
              <a:gd name="adj" fmla="val 4742"/>
            </a:avLst>
          </a:prstGeom>
          <a:solidFill>
            <a:srgbClr val="FBF8F1"/>
          </a:solidFill>
          <a:ln w="9525" cap="flat" cmpd="sng">
            <a:solidFill>
              <a:srgbClr val="E0D8C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11"/>
          <p:cNvSpPr/>
          <p:nvPr/>
        </p:nvSpPr>
        <p:spPr>
          <a:xfrm>
            <a:off x="6770370" y="7444740"/>
            <a:ext cx="5221986" cy="34290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2A231D"/>
              </a:buClr>
              <a:buSzPts val="2400"/>
              <a:buFont typeface="Newsreader"/>
              <a:buNone/>
            </a:pPr>
            <a:r>
              <a:rPr lang="en-US" sz="2400" b="0" i="0" u="none" strike="noStrike" cap="none">
                <a:solidFill>
                  <a:srgbClr val="2A231D"/>
                </a:solidFill>
                <a:latin typeface="Newsreader"/>
                <a:ea typeface="Newsreader"/>
                <a:cs typeface="Newsreader"/>
                <a:sym typeface="Newsreader"/>
              </a:rPr>
              <a:t>Seguridad y privacidad</a:t>
            </a:r>
            <a:endParaRPr sz="2400" b="0" i="0" u="none" strike="noStrike" cap="none">
              <a:solidFill>
                <a:schemeClr val="dk1"/>
              </a:solidFill>
              <a:latin typeface="Calibri"/>
              <a:ea typeface="Calibri"/>
              <a:cs typeface="Calibri"/>
              <a:sym typeface="Calibri"/>
            </a:endParaRPr>
          </a:p>
        </p:txBody>
      </p:sp>
      <p:sp>
        <p:nvSpPr>
          <p:cNvPr id="240" name="Google Shape;240;p11"/>
          <p:cNvSpPr/>
          <p:nvPr/>
        </p:nvSpPr>
        <p:spPr>
          <a:xfrm>
            <a:off x="6770375" y="7827252"/>
            <a:ext cx="4889700" cy="804600"/>
          </a:xfrm>
          <a:prstGeom prst="rect">
            <a:avLst/>
          </a:prstGeom>
          <a:noFill/>
          <a:ln>
            <a:noFill/>
          </a:ln>
        </p:spPr>
        <p:txBody>
          <a:bodyPr spcFirstLastPara="1" wrap="square" lIns="25400" tIns="25400" rIns="25400" bIns="25400" anchor="t" anchorCtr="0">
            <a:noAutofit/>
          </a:bodyPr>
          <a:lstStyle/>
          <a:p>
            <a:pPr marL="0" marR="0" lvl="0" indent="0" algn="l" rtl="0">
              <a:lnSpc>
                <a:spcPct val="135000"/>
              </a:lnSpc>
              <a:spcBef>
                <a:spcPts val="0"/>
              </a:spcBef>
              <a:spcAft>
                <a:spcPts val="0"/>
              </a:spcAft>
              <a:buClr>
                <a:srgbClr val="5E564B"/>
              </a:buClr>
              <a:buSzPts val="1650"/>
              <a:buFont typeface="Arial"/>
              <a:buNone/>
            </a:pPr>
            <a:r>
              <a:rPr lang="en-US" sz="2000" b="0" i="0" u="none" strike="noStrike" cap="none">
                <a:solidFill>
                  <a:srgbClr val="5E564B"/>
                </a:solidFill>
                <a:latin typeface="Arial"/>
                <a:ea typeface="Arial"/>
                <a:cs typeface="Arial"/>
                <a:sym typeface="Arial"/>
              </a:rPr>
              <a:t>A dónde van los datos, inyección de prompts, qué permanece en local.</a:t>
            </a:r>
            <a:endParaRPr sz="2000" b="0" i="0" u="none" strike="noStrike" cap="none">
              <a:solidFill>
                <a:schemeClr val="dk1"/>
              </a:solidFill>
              <a:latin typeface="Calibri"/>
              <a:ea typeface="Calibri"/>
              <a:cs typeface="Calibri"/>
              <a:sym typeface="Calibri"/>
            </a:endParaRPr>
          </a:p>
        </p:txBody>
      </p:sp>
      <p:sp>
        <p:nvSpPr>
          <p:cNvPr id="241" name="Google Shape;241;p11"/>
          <p:cNvSpPr/>
          <p:nvPr/>
        </p:nvSpPr>
        <p:spPr>
          <a:xfrm>
            <a:off x="12001500" y="6311265"/>
            <a:ext cx="5295900" cy="3213735"/>
          </a:xfrm>
          <a:prstGeom prst="roundRect">
            <a:avLst>
              <a:gd name="adj" fmla="val 4742"/>
            </a:avLst>
          </a:prstGeom>
          <a:solidFill>
            <a:srgbClr val="FBF8F1"/>
          </a:solidFill>
          <a:ln w="9525" cap="flat" cmpd="sng">
            <a:solidFill>
              <a:srgbClr val="E0D8C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1"/>
          <p:cNvSpPr/>
          <p:nvPr/>
        </p:nvSpPr>
        <p:spPr>
          <a:xfrm>
            <a:off x="12275820" y="7444740"/>
            <a:ext cx="5221986" cy="34290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2A231D"/>
              </a:buClr>
              <a:buSzPts val="2400"/>
              <a:buFont typeface="Newsreader"/>
              <a:buNone/>
            </a:pPr>
            <a:r>
              <a:rPr lang="en-US" sz="2400" b="0" i="0" u="none" strike="noStrike" cap="none">
                <a:solidFill>
                  <a:srgbClr val="2A231D"/>
                </a:solidFill>
                <a:latin typeface="Newsreader"/>
                <a:ea typeface="Newsreader"/>
                <a:cs typeface="Newsreader"/>
                <a:sym typeface="Newsreader"/>
              </a:rPr>
              <a:t>Operaciones y riesgo</a:t>
            </a:r>
            <a:endParaRPr sz="2400" b="0" i="0" u="none" strike="noStrike" cap="none">
              <a:solidFill>
                <a:schemeClr val="dk1"/>
              </a:solidFill>
              <a:latin typeface="Calibri"/>
              <a:ea typeface="Calibri"/>
              <a:cs typeface="Calibri"/>
              <a:sym typeface="Calibri"/>
            </a:endParaRPr>
          </a:p>
        </p:txBody>
      </p:sp>
      <p:sp>
        <p:nvSpPr>
          <p:cNvPr id="243" name="Google Shape;243;p11"/>
          <p:cNvSpPr/>
          <p:nvPr/>
        </p:nvSpPr>
        <p:spPr>
          <a:xfrm>
            <a:off x="12275823" y="7827243"/>
            <a:ext cx="4889700" cy="693000"/>
          </a:xfrm>
          <a:prstGeom prst="rect">
            <a:avLst/>
          </a:prstGeom>
          <a:noFill/>
          <a:ln>
            <a:noFill/>
          </a:ln>
        </p:spPr>
        <p:txBody>
          <a:bodyPr spcFirstLastPara="1" wrap="square" lIns="25400" tIns="25400" rIns="25400" bIns="25400" anchor="t" anchorCtr="0">
            <a:noAutofit/>
          </a:bodyPr>
          <a:lstStyle/>
          <a:p>
            <a:pPr marL="0" marR="0" lvl="0" indent="0" algn="l" rtl="0">
              <a:lnSpc>
                <a:spcPct val="135000"/>
              </a:lnSpc>
              <a:spcBef>
                <a:spcPts val="0"/>
              </a:spcBef>
              <a:spcAft>
                <a:spcPts val="0"/>
              </a:spcAft>
              <a:buClr>
                <a:srgbClr val="5E564B"/>
              </a:buClr>
              <a:buSzPts val="1650"/>
              <a:buFont typeface="Arial"/>
              <a:buNone/>
            </a:pPr>
            <a:r>
              <a:rPr lang="en-US" sz="2000" b="0" i="0" u="none" strike="noStrike" cap="none">
                <a:solidFill>
                  <a:srgbClr val="5E564B"/>
                </a:solidFill>
                <a:latin typeface="Arial"/>
                <a:ea typeface="Arial"/>
                <a:cs typeface="Arial"/>
                <a:sym typeface="Arial"/>
              </a:rPr>
              <a:t>Costos, observabilidad, explicabilidad, gestión de riesgos.</a:t>
            </a:r>
            <a:endParaRPr sz="2000" b="0" i="0" u="none" strike="noStrike" cap="non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EEE4"/>
        </a:solidFill>
        <a:effectLst/>
      </p:bgPr>
    </p:bg>
    <p:spTree>
      <p:nvGrpSpPr>
        <p:cNvPr id="1" name="Shape 248"/>
        <p:cNvGrpSpPr/>
        <p:nvPr/>
      </p:nvGrpSpPr>
      <p:grpSpPr>
        <a:xfrm>
          <a:off x="0" y="0"/>
          <a:ext cx="0" cy="0"/>
          <a:chOff x="0" y="0"/>
          <a:chExt cx="0" cy="0"/>
        </a:xfrm>
      </p:grpSpPr>
      <p:sp>
        <p:nvSpPr>
          <p:cNvPr id="249" name="Google Shape;249;p12"/>
          <p:cNvSpPr/>
          <p:nvPr/>
        </p:nvSpPr>
        <p:spPr>
          <a:xfrm>
            <a:off x="16384667" y="762000"/>
            <a:ext cx="912600" cy="388500"/>
          </a:xfrm>
          <a:prstGeom prst="roundRect">
            <a:avLst>
              <a:gd name="adj" fmla="val 50000"/>
            </a:avLst>
          </a:prstGeom>
          <a:noFill/>
          <a:ln w="9525" cap="flat" cmpd="sng">
            <a:solidFill>
              <a:srgbClr val="DDD4C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12"/>
          <p:cNvSpPr/>
          <p:nvPr/>
        </p:nvSpPr>
        <p:spPr>
          <a:xfrm>
            <a:off x="990600" y="1436370"/>
            <a:ext cx="17937600" cy="762000"/>
          </a:xfrm>
          <a:prstGeom prst="rect">
            <a:avLst/>
          </a:prstGeom>
          <a:noFill/>
          <a:ln>
            <a:noFill/>
          </a:ln>
        </p:spPr>
        <p:txBody>
          <a:bodyPr spcFirstLastPara="1" wrap="square" lIns="25400" tIns="25400" rIns="25400" bIns="25400" anchor="t" anchorCtr="0">
            <a:noAutofit/>
          </a:bodyPr>
          <a:lstStyle/>
          <a:p>
            <a:pPr marL="0" marR="0" lvl="0" indent="0" algn="l" rtl="0">
              <a:lnSpc>
                <a:spcPct val="100000"/>
              </a:lnSpc>
              <a:spcBef>
                <a:spcPts val="0"/>
              </a:spcBef>
              <a:spcAft>
                <a:spcPts val="0"/>
              </a:spcAft>
              <a:buClr>
                <a:srgbClr val="2A231D"/>
              </a:buClr>
              <a:buSzPts val="5700"/>
              <a:buFont typeface="Newsreader"/>
              <a:buNone/>
            </a:pPr>
            <a:r>
              <a:rPr lang="en-US" sz="5700">
                <a:solidFill>
                  <a:srgbClr val="2A231D"/>
                </a:solidFill>
                <a:latin typeface="Newsreader"/>
                <a:ea typeface="Newsreader"/>
                <a:cs typeface="Newsreader"/>
                <a:sym typeface="Newsreader"/>
              </a:rPr>
              <a:t>Primeros pasos</a:t>
            </a:r>
            <a:endParaRPr sz="5700" b="0" i="0" u="none" strike="noStrike" cap="none">
              <a:solidFill>
                <a:schemeClr val="dk1"/>
              </a:solidFill>
              <a:latin typeface="Calibri"/>
              <a:ea typeface="Calibri"/>
              <a:cs typeface="Calibri"/>
              <a:sym typeface="Calibri"/>
            </a:endParaRPr>
          </a:p>
        </p:txBody>
      </p:sp>
      <p:sp>
        <p:nvSpPr>
          <p:cNvPr id="251" name="Google Shape;251;p12"/>
          <p:cNvSpPr/>
          <p:nvPr/>
        </p:nvSpPr>
        <p:spPr>
          <a:xfrm>
            <a:off x="990600" y="2274570"/>
            <a:ext cx="17937600" cy="36570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5E564B"/>
              </a:buClr>
              <a:buSzPts val="2250"/>
              <a:buFont typeface="Arial"/>
              <a:buNone/>
            </a:pPr>
            <a:r>
              <a:rPr lang="en-US" sz="2250">
                <a:solidFill>
                  <a:srgbClr val="5E564B"/>
                </a:solidFill>
              </a:rPr>
              <a:t>Antes de saltar a la parte honda de la piscina, aprende a nadar</a:t>
            </a:r>
            <a:endParaRPr sz="2250" b="0" i="0" u="none" strike="noStrike" cap="none">
              <a:solidFill>
                <a:schemeClr val="dk1"/>
              </a:solidFill>
              <a:latin typeface="Calibri"/>
              <a:ea typeface="Calibri"/>
              <a:cs typeface="Calibri"/>
              <a:sym typeface="Calibri"/>
            </a:endParaRPr>
          </a:p>
        </p:txBody>
      </p:sp>
      <p:sp>
        <p:nvSpPr>
          <p:cNvPr id="252" name="Google Shape;252;p12"/>
          <p:cNvSpPr/>
          <p:nvPr/>
        </p:nvSpPr>
        <p:spPr>
          <a:xfrm>
            <a:off x="990600" y="2887980"/>
            <a:ext cx="8039100" cy="3204300"/>
          </a:xfrm>
          <a:prstGeom prst="roundRect">
            <a:avLst>
              <a:gd name="adj" fmla="val 4756"/>
            </a:avLst>
          </a:prstGeom>
          <a:solidFill>
            <a:srgbClr val="FBF8F1"/>
          </a:solidFill>
          <a:ln w="9525" cap="flat" cmpd="sng">
            <a:solidFill>
              <a:srgbClr val="E0D8C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2"/>
          <p:cNvSpPr/>
          <p:nvPr/>
        </p:nvSpPr>
        <p:spPr>
          <a:xfrm>
            <a:off x="9258300" y="2878393"/>
            <a:ext cx="8039100" cy="3204300"/>
          </a:xfrm>
          <a:prstGeom prst="roundRect">
            <a:avLst>
              <a:gd name="adj" fmla="val 4756"/>
            </a:avLst>
          </a:prstGeom>
          <a:solidFill>
            <a:srgbClr val="FBF8F1"/>
          </a:solidFill>
          <a:ln w="9525" cap="flat" cmpd="sng">
            <a:solidFill>
              <a:srgbClr val="E0D8C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12"/>
          <p:cNvSpPr/>
          <p:nvPr/>
        </p:nvSpPr>
        <p:spPr>
          <a:xfrm>
            <a:off x="990600" y="6320790"/>
            <a:ext cx="8039100" cy="3204300"/>
          </a:xfrm>
          <a:prstGeom prst="roundRect">
            <a:avLst>
              <a:gd name="adj" fmla="val 4756"/>
            </a:avLst>
          </a:prstGeom>
          <a:solidFill>
            <a:srgbClr val="FBF8F1"/>
          </a:solidFill>
          <a:ln w="9525" cap="flat" cmpd="sng">
            <a:solidFill>
              <a:srgbClr val="E0D8C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12"/>
          <p:cNvSpPr/>
          <p:nvPr/>
        </p:nvSpPr>
        <p:spPr>
          <a:xfrm>
            <a:off x="9258300" y="6320790"/>
            <a:ext cx="8039100" cy="3204300"/>
          </a:xfrm>
          <a:prstGeom prst="roundRect">
            <a:avLst>
              <a:gd name="adj" fmla="val 4756"/>
            </a:avLst>
          </a:prstGeom>
          <a:solidFill>
            <a:srgbClr val="FBF8F1"/>
          </a:solidFill>
          <a:ln w="9525" cap="flat" cmpd="sng">
            <a:solidFill>
              <a:srgbClr val="E0D8C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2"/>
          <p:cNvSpPr txBox="1"/>
          <p:nvPr/>
        </p:nvSpPr>
        <p:spPr>
          <a:xfrm>
            <a:off x="1519350" y="3465514"/>
            <a:ext cx="6981600" cy="2202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4200">
                <a:solidFill>
                  <a:srgbClr val="2A231D"/>
                </a:solidFill>
                <a:latin typeface="Newsreader"/>
                <a:ea typeface="Newsreader"/>
                <a:cs typeface="Newsreader"/>
                <a:sym typeface="Newsreader"/>
              </a:rPr>
              <a:t>Habilidades técnicas fundamentales</a:t>
            </a:r>
            <a:endParaRPr sz="4200"/>
          </a:p>
        </p:txBody>
      </p:sp>
      <p:sp>
        <p:nvSpPr>
          <p:cNvPr id="257" name="Google Shape;257;p12"/>
          <p:cNvSpPr txBox="1"/>
          <p:nvPr/>
        </p:nvSpPr>
        <p:spPr>
          <a:xfrm>
            <a:off x="9787050" y="3465514"/>
            <a:ext cx="6981600" cy="2202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4200">
                <a:solidFill>
                  <a:srgbClr val="2A231D"/>
                </a:solidFill>
                <a:latin typeface="Newsreader"/>
                <a:ea typeface="Newsreader"/>
                <a:cs typeface="Newsreader"/>
                <a:sym typeface="Newsreader"/>
              </a:rPr>
              <a:t>Habilidades modernas de desarrollo</a:t>
            </a:r>
            <a:endParaRPr sz="4200"/>
          </a:p>
        </p:txBody>
      </p:sp>
      <p:sp>
        <p:nvSpPr>
          <p:cNvPr id="258" name="Google Shape;258;p12"/>
          <p:cNvSpPr txBox="1"/>
          <p:nvPr/>
        </p:nvSpPr>
        <p:spPr>
          <a:xfrm>
            <a:off x="1519350" y="6781864"/>
            <a:ext cx="6981600" cy="2202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4200">
                <a:solidFill>
                  <a:srgbClr val="2A231D"/>
                </a:solidFill>
                <a:latin typeface="Newsreader"/>
                <a:ea typeface="Newsreader"/>
                <a:cs typeface="Newsreader"/>
                <a:sym typeface="Newsreader"/>
              </a:rPr>
              <a:t>Práctica directa y </a:t>
            </a:r>
            <a:endParaRPr sz="4200">
              <a:solidFill>
                <a:srgbClr val="2A231D"/>
              </a:solidFill>
              <a:latin typeface="Newsreader"/>
              <a:ea typeface="Newsreader"/>
              <a:cs typeface="Newsreader"/>
              <a:sym typeface="Newsreader"/>
            </a:endParaRPr>
          </a:p>
          <a:p>
            <a:pPr marL="0" lvl="0" indent="0" algn="ctr" rtl="0">
              <a:spcBef>
                <a:spcPts val="0"/>
              </a:spcBef>
              <a:spcAft>
                <a:spcPts val="0"/>
              </a:spcAft>
              <a:buNone/>
            </a:pPr>
            <a:r>
              <a:rPr lang="en-US" sz="4200">
                <a:solidFill>
                  <a:srgbClr val="2A231D"/>
                </a:solidFill>
                <a:latin typeface="Newsreader"/>
                <a:ea typeface="Newsreader"/>
                <a:cs typeface="Newsreader"/>
                <a:sym typeface="Newsreader"/>
              </a:rPr>
              <a:t>código abierto</a:t>
            </a:r>
            <a:endParaRPr sz="4200"/>
          </a:p>
        </p:txBody>
      </p:sp>
      <p:sp>
        <p:nvSpPr>
          <p:cNvPr id="259" name="Google Shape;259;p12"/>
          <p:cNvSpPr txBox="1"/>
          <p:nvPr/>
        </p:nvSpPr>
        <p:spPr>
          <a:xfrm>
            <a:off x="9787050" y="6821939"/>
            <a:ext cx="6981600" cy="2202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4200">
                <a:solidFill>
                  <a:srgbClr val="2A231D"/>
                </a:solidFill>
                <a:latin typeface="Newsreader"/>
                <a:ea typeface="Newsreader"/>
                <a:cs typeface="Newsreader"/>
                <a:sym typeface="Newsreader"/>
              </a:rPr>
              <a:t>Preparación profesional y comunidad</a:t>
            </a:r>
            <a:endParaRPr sz="42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EEE4"/>
        </a:solidFill>
        <a:effectLst/>
      </p:bgPr>
    </p:bg>
    <p:spTree>
      <p:nvGrpSpPr>
        <p:cNvPr id="1" name="Shape 264"/>
        <p:cNvGrpSpPr/>
        <p:nvPr/>
      </p:nvGrpSpPr>
      <p:grpSpPr>
        <a:xfrm>
          <a:off x="0" y="0"/>
          <a:ext cx="0" cy="0"/>
          <a:chOff x="0" y="0"/>
          <a:chExt cx="0" cy="0"/>
        </a:xfrm>
      </p:grpSpPr>
      <p:sp>
        <p:nvSpPr>
          <p:cNvPr id="265" name="Google Shape;265;p13"/>
          <p:cNvSpPr/>
          <p:nvPr/>
        </p:nvSpPr>
        <p:spPr>
          <a:xfrm>
            <a:off x="16384667" y="762000"/>
            <a:ext cx="912600" cy="388500"/>
          </a:xfrm>
          <a:prstGeom prst="roundRect">
            <a:avLst>
              <a:gd name="adj" fmla="val 50000"/>
            </a:avLst>
          </a:prstGeom>
          <a:noFill/>
          <a:ln w="9525" cap="flat" cmpd="sng">
            <a:solidFill>
              <a:srgbClr val="DDD4C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3"/>
          <p:cNvSpPr/>
          <p:nvPr/>
        </p:nvSpPr>
        <p:spPr>
          <a:xfrm>
            <a:off x="990600" y="1436370"/>
            <a:ext cx="17937600" cy="762000"/>
          </a:xfrm>
          <a:prstGeom prst="rect">
            <a:avLst/>
          </a:prstGeom>
          <a:noFill/>
          <a:ln>
            <a:noFill/>
          </a:ln>
        </p:spPr>
        <p:txBody>
          <a:bodyPr spcFirstLastPara="1" wrap="square" lIns="25400" tIns="25400" rIns="25400" bIns="25400" anchor="t" anchorCtr="0">
            <a:noAutofit/>
          </a:bodyPr>
          <a:lstStyle/>
          <a:p>
            <a:pPr marL="0" lvl="0" indent="0" algn="l" rtl="0">
              <a:spcBef>
                <a:spcPts val="0"/>
              </a:spcBef>
              <a:spcAft>
                <a:spcPts val="0"/>
              </a:spcAft>
              <a:buClr>
                <a:srgbClr val="2A231D"/>
              </a:buClr>
              <a:buSzPts val="5700"/>
              <a:buFont typeface="Newsreader"/>
              <a:buNone/>
            </a:pPr>
            <a:r>
              <a:rPr lang="en-US" sz="5700">
                <a:solidFill>
                  <a:srgbClr val="2A231D"/>
                </a:solidFill>
                <a:latin typeface="Newsreader"/>
                <a:ea typeface="Newsreader"/>
                <a:cs typeface="Newsreader"/>
                <a:sym typeface="Newsreader"/>
              </a:rPr>
              <a:t>Proyectos prácticos para tu CV</a:t>
            </a:r>
            <a:endParaRPr sz="5700">
              <a:solidFill>
                <a:srgbClr val="2A231D"/>
              </a:solidFill>
              <a:latin typeface="Newsreader"/>
              <a:ea typeface="Newsreader"/>
              <a:cs typeface="Newsreader"/>
              <a:sym typeface="Newsreader"/>
            </a:endParaRPr>
          </a:p>
        </p:txBody>
      </p:sp>
      <p:sp>
        <p:nvSpPr>
          <p:cNvPr id="267" name="Google Shape;267;p13"/>
          <p:cNvSpPr/>
          <p:nvPr/>
        </p:nvSpPr>
        <p:spPr>
          <a:xfrm>
            <a:off x="990600" y="2274570"/>
            <a:ext cx="17937600" cy="365700"/>
          </a:xfrm>
          <a:prstGeom prst="rect">
            <a:avLst/>
          </a:prstGeom>
          <a:noFill/>
          <a:ln>
            <a:noFill/>
          </a:ln>
        </p:spPr>
        <p:txBody>
          <a:bodyPr spcFirstLastPara="1" wrap="square" lIns="25400" tIns="25400" rIns="25400" bIns="25400" anchor="t" anchorCtr="0">
            <a:noAutofit/>
          </a:bodyPr>
          <a:lstStyle/>
          <a:p>
            <a:pPr marL="0" lvl="0" indent="0" algn="l" rtl="0">
              <a:spcBef>
                <a:spcPts val="0"/>
              </a:spcBef>
              <a:spcAft>
                <a:spcPts val="0"/>
              </a:spcAft>
              <a:buClr>
                <a:srgbClr val="5E564B"/>
              </a:buClr>
              <a:buSzPts val="2250"/>
              <a:buFont typeface="Arial"/>
              <a:buNone/>
            </a:pPr>
            <a:r>
              <a:rPr lang="en-US" sz="2250">
                <a:solidFill>
                  <a:srgbClr val="5E564B"/>
                </a:solidFill>
              </a:rPr>
              <a:t>Pequeños, entregables, y prueba de que puedes construir aplicaciones y no solo escribir prompts.</a:t>
            </a:r>
            <a:endParaRPr sz="2250">
              <a:solidFill>
                <a:srgbClr val="5E564B"/>
              </a:solidFill>
            </a:endParaRPr>
          </a:p>
        </p:txBody>
      </p:sp>
      <p:sp>
        <p:nvSpPr>
          <p:cNvPr id="268" name="Google Shape;268;p13"/>
          <p:cNvSpPr/>
          <p:nvPr/>
        </p:nvSpPr>
        <p:spPr>
          <a:xfrm>
            <a:off x="990600" y="2887980"/>
            <a:ext cx="8039100" cy="3204300"/>
          </a:xfrm>
          <a:prstGeom prst="roundRect">
            <a:avLst>
              <a:gd name="adj" fmla="val 4756"/>
            </a:avLst>
          </a:prstGeom>
          <a:solidFill>
            <a:srgbClr val="FBF8F1"/>
          </a:solidFill>
          <a:ln w="9525" cap="flat" cmpd="sng">
            <a:solidFill>
              <a:srgbClr val="E0D8C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13"/>
          <p:cNvSpPr/>
          <p:nvPr/>
        </p:nvSpPr>
        <p:spPr>
          <a:xfrm>
            <a:off x="9258300" y="2878393"/>
            <a:ext cx="8039100" cy="3204300"/>
          </a:xfrm>
          <a:prstGeom prst="roundRect">
            <a:avLst>
              <a:gd name="adj" fmla="val 4756"/>
            </a:avLst>
          </a:prstGeom>
          <a:solidFill>
            <a:srgbClr val="FBF8F1"/>
          </a:solidFill>
          <a:ln w="9525" cap="flat" cmpd="sng">
            <a:solidFill>
              <a:srgbClr val="E0D8C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13"/>
          <p:cNvSpPr/>
          <p:nvPr/>
        </p:nvSpPr>
        <p:spPr>
          <a:xfrm>
            <a:off x="990600" y="6320790"/>
            <a:ext cx="8039100" cy="3204300"/>
          </a:xfrm>
          <a:prstGeom prst="roundRect">
            <a:avLst>
              <a:gd name="adj" fmla="val 4756"/>
            </a:avLst>
          </a:prstGeom>
          <a:solidFill>
            <a:srgbClr val="FBF8F1"/>
          </a:solidFill>
          <a:ln w="9525" cap="flat" cmpd="sng">
            <a:solidFill>
              <a:srgbClr val="E0D8C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13"/>
          <p:cNvSpPr/>
          <p:nvPr/>
        </p:nvSpPr>
        <p:spPr>
          <a:xfrm>
            <a:off x="9258300" y="6320790"/>
            <a:ext cx="8039100" cy="3204300"/>
          </a:xfrm>
          <a:prstGeom prst="roundRect">
            <a:avLst>
              <a:gd name="adj" fmla="val 4756"/>
            </a:avLst>
          </a:prstGeom>
          <a:solidFill>
            <a:srgbClr val="FBF8F1"/>
          </a:solidFill>
          <a:ln w="9525" cap="flat" cmpd="sng">
            <a:solidFill>
              <a:srgbClr val="E0D8C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13"/>
          <p:cNvSpPr txBox="1"/>
          <p:nvPr/>
        </p:nvSpPr>
        <p:spPr>
          <a:xfrm>
            <a:off x="1519350" y="3465514"/>
            <a:ext cx="6981600" cy="2202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4200">
                <a:solidFill>
                  <a:srgbClr val="2A231D"/>
                </a:solidFill>
                <a:latin typeface="Newsreader"/>
                <a:ea typeface="Newsreader"/>
                <a:cs typeface="Newsreader"/>
                <a:sym typeface="Newsreader"/>
              </a:rPr>
              <a:t>RAG simple</a:t>
            </a:r>
            <a:endParaRPr sz="4200"/>
          </a:p>
        </p:txBody>
      </p:sp>
      <p:sp>
        <p:nvSpPr>
          <p:cNvPr id="273" name="Google Shape;273;p13"/>
          <p:cNvSpPr txBox="1"/>
          <p:nvPr/>
        </p:nvSpPr>
        <p:spPr>
          <a:xfrm>
            <a:off x="9787050" y="3465514"/>
            <a:ext cx="6981600" cy="2202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4200">
                <a:solidFill>
                  <a:srgbClr val="2A231D"/>
                </a:solidFill>
                <a:latin typeface="Newsreader"/>
                <a:ea typeface="Newsreader"/>
                <a:cs typeface="Newsreader"/>
                <a:sym typeface="Newsreader"/>
              </a:rPr>
              <a:t>Chatbot privado</a:t>
            </a:r>
            <a:endParaRPr sz="4200"/>
          </a:p>
        </p:txBody>
      </p:sp>
      <p:sp>
        <p:nvSpPr>
          <p:cNvPr id="274" name="Google Shape;274;p13"/>
          <p:cNvSpPr txBox="1"/>
          <p:nvPr/>
        </p:nvSpPr>
        <p:spPr>
          <a:xfrm>
            <a:off x="1519350" y="6781864"/>
            <a:ext cx="6981600" cy="2202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4200">
                <a:solidFill>
                  <a:srgbClr val="2A231D"/>
                </a:solidFill>
                <a:latin typeface="Newsreader"/>
                <a:ea typeface="Newsreader"/>
                <a:cs typeface="Newsreader"/>
                <a:sym typeface="Newsreader"/>
              </a:rPr>
              <a:t>Agente con herramientas Java</a:t>
            </a:r>
            <a:endParaRPr sz="4200"/>
          </a:p>
        </p:txBody>
      </p:sp>
      <p:sp>
        <p:nvSpPr>
          <p:cNvPr id="275" name="Google Shape;275;p13"/>
          <p:cNvSpPr txBox="1"/>
          <p:nvPr/>
        </p:nvSpPr>
        <p:spPr>
          <a:xfrm>
            <a:off x="9787050" y="6821939"/>
            <a:ext cx="6981600" cy="2202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4200">
                <a:solidFill>
                  <a:srgbClr val="2A231D"/>
                </a:solidFill>
                <a:latin typeface="Newsreader"/>
                <a:ea typeface="Newsreader"/>
                <a:cs typeface="Newsreader"/>
                <a:sym typeface="Newsreader"/>
              </a:rPr>
              <a:t>IA en streaming</a:t>
            </a:r>
            <a:endParaRPr sz="42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EEE4"/>
        </a:solidFill>
        <a:effectLst/>
      </p:bgPr>
    </p:bg>
    <p:spTree>
      <p:nvGrpSpPr>
        <p:cNvPr id="1" name="Shape 280"/>
        <p:cNvGrpSpPr/>
        <p:nvPr/>
      </p:nvGrpSpPr>
      <p:grpSpPr>
        <a:xfrm>
          <a:off x="0" y="0"/>
          <a:ext cx="0" cy="0"/>
          <a:chOff x="0" y="0"/>
          <a:chExt cx="0" cy="0"/>
        </a:xfrm>
      </p:grpSpPr>
      <p:sp>
        <p:nvSpPr>
          <p:cNvPr id="281" name="Google Shape;281;p14"/>
          <p:cNvSpPr/>
          <p:nvPr/>
        </p:nvSpPr>
        <p:spPr>
          <a:xfrm>
            <a:off x="16384667" y="762000"/>
            <a:ext cx="912600" cy="388500"/>
          </a:xfrm>
          <a:prstGeom prst="roundRect">
            <a:avLst>
              <a:gd name="adj" fmla="val 50000"/>
            </a:avLst>
          </a:prstGeom>
          <a:noFill/>
          <a:ln w="9525" cap="flat" cmpd="sng">
            <a:solidFill>
              <a:srgbClr val="DDD4C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14"/>
          <p:cNvSpPr/>
          <p:nvPr/>
        </p:nvSpPr>
        <p:spPr>
          <a:xfrm>
            <a:off x="990600" y="1436370"/>
            <a:ext cx="17937600" cy="762000"/>
          </a:xfrm>
          <a:prstGeom prst="rect">
            <a:avLst/>
          </a:prstGeom>
          <a:noFill/>
          <a:ln>
            <a:noFill/>
          </a:ln>
        </p:spPr>
        <p:txBody>
          <a:bodyPr spcFirstLastPara="1" wrap="square" lIns="25400" tIns="25400" rIns="25400" bIns="25400" anchor="t" anchorCtr="0">
            <a:noAutofit/>
          </a:bodyPr>
          <a:lstStyle/>
          <a:p>
            <a:pPr marL="0" marR="0" lvl="0" indent="0" algn="l" rtl="0">
              <a:lnSpc>
                <a:spcPct val="100000"/>
              </a:lnSpc>
              <a:spcBef>
                <a:spcPts val="0"/>
              </a:spcBef>
              <a:spcAft>
                <a:spcPts val="0"/>
              </a:spcAft>
              <a:buClr>
                <a:srgbClr val="2A231D"/>
              </a:buClr>
              <a:buSzPts val="5700"/>
              <a:buFont typeface="Newsreader"/>
              <a:buNone/>
            </a:pPr>
            <a:r>
              <a:rPr lang="en-US" sz="5700">
                <a:solidFill>
                  <a:srgbClr val="2A231D"/>
                </a:solidFill>
                <a:latin typeface="Newsreader"/>
                <a:ea typeface="Newsreader"/>
                <a:cs typeface="Newsreader"/>
                <a:sym typeface="Newsreader"/>
              </a:rPr>
              <a:t>Más consejos para nuevos desarrolladores</a:t>
            </a:r>
            <a:endParaRPr sz="5700" b="0" i="0" u="none" strike="noStrike" cap="none">
              <a:solidFill>
                <a:schemeClr val="dk1"/>
              </a:solidFill>
              <a:latin typeface="Calibri"/>
              <a:ea typeface="Calibri"/>
              <a:cs typeface="Calibri"/>
              <a:sym typeface="Calibri"/>
            </a:endParaRPr>
          </a:p>
        </p:txBody>
      </p:sp>
      <p:sp>
        <p:nvSpPr>
          <p:cNvPr id="283" name="Google Shape;283;p14"/>
          <p:cNvSpPr/>
          <p:nvPr/>
        </p:nvSpPr>
        <p:spPr>
          <a:xfrm>
            <a:off x="990600" y="2274570"/>
            <a:ext cx="17937600" cy="36570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5E564B"/>
              </a:buClr>
              <a:buSzPts val="2250"/>
              <a:buFont typeface="Arial"/>
              <a:buNone/>
            </a:pPr>
            <a:r>
              <a:rPr lang="en-US" sz="2250">
                <a:solidFill>
                  <a:srgbClr val="5E564B"/>
                </a:solidFill>
              </a:rPr>
              <a:t>Considera estas sugerencias</a:t>
            </a:r>
            <a:endParaRPr sz="2250" b="0" i="0" u="none" strike="noStrike" cap="none">
              <a:solidFill>
                <a:schemeClr val="dk1"/>
              </a:solidFill>
              <a:latin typeface="Calibri"/>
              <a:ea typeface="Calibri"/>
              <a:cs typeface="Calibri"/>
              <a:sym typeface="Calibri"/>
            </a:endParaRPr>
          </a:p>
        </p:txBody>
      </p:sp>
      <p:sp>
        <p:nvSpPr>
          <p:cNvPr id="284" name="Google Shape;284;p14"/>
          <p:cNvSpPr/>
          <p:nvPr/>
        </p:nvSpPr>
        <p:spPr>
          <a:xfrm>
            <a:off x="990600" y="2878409"/>
            <a:ext cx="16620900" cy="6873900"/>
          </a:xfrm>
          <a:prstGeom prst="roundRect">
            <a:avLst>
              <a:gd name="adj" fmla="val 4756"/>
            </a:avLst>
          </a:prstGeom>
          <a:solidFill>
            <a:srgbClr val="FBF8F1"/>
          </a:solidFill>
          <a:ln w="9525" cap="flat" cmpd="sng">
            <a:solidFill>
              <a:srgbClr val="E0D8C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p>
        </p:txBody>
      </p:sp>
      <p:sp>
        <p:nvSpPr>
          <p:cNvPr id="285" name="Google Shape;285;p14"/>
          <p:cNvSpPr/>
          <p:nvPr/>
        </p:nvSpPr>
        <p:spPr>
          <a:xfrm>
            <a:off x="1391625" y="3365046"/>
            <a:ext cx="15747900" cy="5937900"/>
          </a:xfrm>
          <a:prstGeom prst="rect">
            <a:avLst/>
          </a:prstGeom>
          <a:noFill/>
          <a:ln>
            <a:noFill/>
          </a:ln>
        </p:spPr>
        <p:txBody>
          <a:bodyPr spcFirstLastPara="1" wrap="square" lIns="25400" tIns="25400" rIns="25400" bIns="25400" anchor="t" anchorCtr="0">
            <a:noAutofit/>
          </a:bodyPr>
          <a:lstStyle/>
          <a:p>
            <a:pPr marL="457200" lvl="0" indent="-469900" algn="l" rtl="0">
              <a:lnSpc>
                <a:spcPct val="140000"/>
              </a:lnSpc>
              <a:spcBef>
                <a:spcPts val="0"/>
              </a:spcBef>
              <a:spcAft>
                <a:spcPts val="0"/>
              </a:spcAft>
              <a:buClr>
                <a:srgbClr val="5E564B"/>
              </a:buClr>
              <a:buSzPts val="3800"/>
              <a:buFont typeface="Newsreader"/>
              <a:buChar char="●"/>
            </a:pPr>
            <a:r>
              <a:rPr lang="en-US" sz="3800">
                <a:solidFill>
                  <a:schemeClr val="dk1"/>
                </a:solidFill>
                <a:latin typeface="Newsreader"/>
                <a:ea typeface="Newsreader"/>
                <a:cs typeface="Newsreader"/>
                <a:sym typeface="Newsreader"/>
              </a:rPr>
              <a:t>Selección de problemas y ambición</a:t>
            </a:r>
            <a:endParaRPr sz="3800">
              <a:solidFill>
                <a:schemeClr val="dk1"/>
              </a:solidFill>
              <a:latin typeface="Newsreader"/>
              <a:ea typeface="Newsreader"/>
              <a:cs typeface="Newsreader"/>
              <a:sym typeface="Newsreader"/>
            </a:endParaRPr>
          </a:p>
          <a:p>
            <a:pPr marL="457200" lvl="0" indent="-469900" algn="l" rtl="0">
              <a:lnSpc>
                <a:spcPct val="140000"/>
              </a:lnSpc>
              <a:spcBef>
                <a:spcPts val="0"/>
              </a:spcBef>
              <a:spcAft>
                <a:spcPts val="0"/>
              </a:spcAft>
              <a:buClr>
                <a:srgbClr val="5E564B"/>
              </a:buClr>
              <a:buSzPts val="3800"/>
              <a:buFont typeface="Newsreader"/>
              <a:buChar char="●"/>
            </a:pPr>
            <a:r>
              <a:rPr lang="en-US" sz="3800">
                <a:solidFill>
                  <a:schemeClr val="dk1"/>
                </a:solidFill>
                <a:latin typeface="Newsreader"/>
                <a:ea typeface="Newsreader"/>
                <a:cs typeface="Newsreader"/>
                <a:sym typeface="Newsreader"/>
              </a:rPr>
              <a:t>Experiencia de dominio y criterio</a:t>
            </a:r>
            <a:endParaRPr sz="3800">
              <a:solidFill>
                <a:schemeClr val="dk1"/>
              </a:solidFill>
              <a:latin typeface="Newsreader"/>
              <a:ea typeface="Newsreader"/>
              <a:cs typeface="Newsreader"/>
              <a:sym typeface="Newsreader"/>
            </a:endParaRPr>
          </a:p>
          <a:p>
            <a:pPr marL="457200" lvl="0" indent="-469900" algn="l" rtl="0">
              <a:lnSpc>
                <a:spcPct val="140000"/>
              </a:lnSpc>
              <a:spcBef>
                <a:spcPts val="0"/>
              </a:spcBef>
              <a:spcAft>
                <a:spcPts val="0"/>
              </a:spcAft>
              <a:buClr>
                <a:srgbClr val="5E564B"/>
              </a:buClr>
              <a:buSzPts val="3800"/>
              <a:buFont typeface="Newsreader"/>
              <a:buChar char="●"/>
            </a:pPr>
            <a:r>
              <a:rPr lang="en-US" sz="3800">
                <a:solidFill>
                  <a:schemeClr val="dk1"/>
                </a:solidFill>
                <a:latin typeface="Newsreader"/>
                <a:ea typeface="Newsreader"/>
                <a:cs typeface="Newsreader"/>
                <a:sym typeface="Newsreader"/>
              </a:rPr>
              <a:t>Responsabilidad, ejecución y calidad</a:t>
            </a:r>
            <a:endParaRPr sz="3800">
              <a:solidFill>
                <a:schemeClr val="dk1"/>
              </a:solidFill>
              <a:latin typeface="Newsreader"/>
              <a:ea typeface="Newsreader"/>
              <a:cs typeface="Newsreader"/>
              <a:sym typeface="Newsreader"/>
            </a:endParaRPr>
          </a:p>
          <a:p>
            <a:pPr marL="457200" lvl="0" indent="-469900" algn="l" rtl="0">
              <a:lnSpc>
                <a:spcPct val="140000"/>
              </a:lnSpc>
              <a:spcBef>
                <a:spcPts val="0"/>
              </a:spcBef>
              <a:spcAft>
                <a:spcPts val="0"/>
              </a:spcAft>
              <a:buClr>
                <a:srgbClr val="5E564B"/>
              </a:buClr>
              <a:buSzPts val="3800"/>
              <a:buFont typeface="Newsreader"/>
              <a:buChar char="●"/>
            </a:pPr>
            <a:r>
              <a:rPr lang="en-US" sz="3800">
                <a:solidFill>
                  <a:schemeClr val="dk1"/>
                </a:solidFill>
                <a:latin typeface="Newsreader"/>
                <a:ea typeface="Newsreader"/>
                <a:cs typeface="Newsreader"/>
                <a:sym typeface="Newsreader"/>
              </a:rPr>
              <a:t>Aprendizaje, experimentación y resiliencia</a:t>
            </a:r>
            <a:endParaRPr sz="3800">
              <a:solidFill>
                <a:schemeClr val="dk1"/>
              </a:solidFill>
              <a:latin typeface="Newsreader"/>
              <a:ea typeface="Newsreader"/>
              <a:cs typeface="Newsreader"/>
              <a:sym typeface="Newsreader"/>
            </a:endParaRPr>
          </a:p>
          <a:p>
            <a:pPr marL="457200" lvl="0" indent="-469900" algn="l" rtl="0">
              <a:lnSpc>
                <a:spcPct val="140000"/>
              </a:lnSpc>
              <a:spcBef>
                <a:spcPts val="0"/>
              </a:spcBef>
              <a:spcAft>
                <a:spcPts val="0"/>
              </a:spcAft>
              <a:buClr>
                <a:srgbClr val="5E564B"/>
              </a:buClr>
              <a:buSzPts val="3800"/>
              <a:buFont typeface="Newsreader"/>
              <a:buChar char="●"/>
            </a:pPr>
            <a:r>
              <a:rPr lang="en-US" sz="3800">
                <a:solidFill>
                  <a:schemeClr val="dk1"/>
                </a:solidFill>
                <a:latin typeface="Newsreader"/>
                <a:ea typeface="Newsreader"/>
                <a:cs typeface="Newsreader"/>
                <a:sym typeface="Newsreader"/>
              </a:rPr>
              <a:t>Carrera, relaciones e IA responsable</a:t>
            </a:r>
            <a:endParaRPr sz="3800">
              <a:solidFill>
                <a:schemeClr val="dk1"/>
              </a:solidFill>
              <a:latin typeface="Newsreader"/>
              <a:ea typeface="Newsreader"/>
              <a:cs typeface="Newsreader"/>
              <a:sym typeface="Newsreader"/>
            </a:endParaRPr>
          </a:p>
          <a:p>
            <a:pPr marL="0" marR="0" lvl="0" indent="0" algn="l" rtl="0">
              <a:lnSpc>
                <a:spcPct val="140000"/>
              </a:lnSpc>
              <a:spcBef>
                <a:spcPts val="0"/>
              </a:spcBef>
              <a:spcAft>
                <a:spcPts val="0"/>
              </a:spcAft>
              <a:buNone/>
            </a:pPr>
            <a:endParaRPr sz="3800">
              <a:solidFill>
                <a:srgbClr val="5E564B"/>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EEE4"/>
        </a:solidFill>
        <a:effectLst/>
      </p:bgPr>
    </p:bg>
    <p:spTree>
      <p:nvGrpSpPr>
        <p:cNvPr id="1" name="Shape 290"/>
        <p:cNvGrpSpPr/>
        <p:nvPr/>
      </p:nvGrpSpPr>
      <p:grpSpPr>
        <a:xfrm>
          <a:off x="0" y="0"/>
          <a:ext cx="0" cy="0"/>
          <a:chOff x="0" y="0"/>
          <a:chExt cx="0" cy="0"/>
        </a:xfrm>
      </p:grpSpPr>
      <p:sp>
        <p:nvSpPr>
          <p:cNvPr id="291" name="Google Shape;291;p15"/>
          <p:cNvSpPr/>
          <p:nvPr/>
        </p:nvSpPr>
        <p:spPr>
          <a:xfrm>
            <a:off x="16384667" y="762000"/>
            <a:ext cx="912600" cy="388500"/>
          </a:xfrm>
          <a:prstGeom prst="roundRect">
            <a:avLst>
              <a:gd name="adj" fmla="val 50000"/>
            </a:avLst>
          </a:prstGeom>
          <a:noFill/>
          <a:ln w="9525" cap="flat" cmpd="sng">
            <a:solidFill>
              <a:srgbClr val="DDD4C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15"/>
          <p:cNvSpPr/>
          <p:nvPr/>
        </p:nvSpPr>
        <p:spPr>
          <a:xfrm>
            <a:off x="990600" y="1436370"/>
            <a:ext cx="17937600" cy="762000"/>
          </a:xfrm>
          <a:prstGeom prst="rect">
            <a:avLst/>
          </a:prstGeom>
          <a:noFill/>
          <a:ln>
            <a:noFill/>
          </a:ln>
        </p:spPr>
        <p:txBody>
          <a:bodyPr spcFirstLastPara="1" wrap="square" lIns="25400" tIns="25400" rIns="25400" bIns="25400" anchor="t" anchorCtr="0">
            <a:noAutofit/>
          </a:bodyPr>
          <a:lstStyle/>
          <a:p>
            <a:pPr marL="0" marR="0" lvl="0" indent="0" algn="l" rtl="0">
              <a:lnSpc>
                <a:spcPct val="100000"/>
              </a:lnSpc>
              <a:spcBef>
                <a:spcPts val="0"/>
              </a:spcBef>
              <a:spcAft>
                <a:spcPts val="0"/>
              </a:spcAft>
              <a:buClr>
                <a:srgbClr val="2A231D"/>
              </a:buClr>
              <a:buSzPts val="5700"/>
              <a:buFont typeface="Newsreader"/>
              <a:buNone/>
            </a:pPr>
            <a:r>
              <a:rPr lang="en-US" sz="5700">
                <a:solidFill>
                  <a:srgbClr val="2A231D"/>
                </a:solidFill>
                <a:latin typeface="Newsreader"/>
                <a:ea typeface="Newsreader"/>
                <a:cs typeface="Newsreader"/>
                <a:sym typeface="Newsreader"/>
              </a:rPr>
              <a:t>La ingeniería de software es más que programar</a:t>
            </a:r>
            <a:endParaRPr sz="5700" b="0" i="0" u="none" strike="noStrike" cap="none">
              <a:solidFill>
                <a:schemeClr val="dk1"/>
              </a:solidFill>
              <a:latin typeface="Calibri"/>
              <a:ea typeface="Calibri"/>
              <a:cs typeface="Calibri"/>
              <a:sym typeface="Calibri"/>
            </a:endParaRPr>
          </a:p>
        </p:txBody>
      </p:sp>
      <p:sp>
        <p:nvSpPr>
          <p:cNvPr id="293" name="Google Shape;293;p15"/>
          <p:cNvSpPr/>
          <p:nvPr/>
        </p:nvSpPr>
        <p:spPr>
          <a:xfrm>
            <a:off x="990600" y="2274570"/>
            <a:ext cx="17937600" cy="365700"/>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5E564B"/>
              </a:buClr>
              <a:buSzPts val="2250"/>
              <a:buFont typeface="Arial"/>
              <a:buNone/>
            </a:pPr>
            <a:r>
              <a:rPr lang="en-US" sz="2250">
                <a:solidFill>
                  <a:srgbClr val="5E564B"/>
                </a:solidFill>
              </a:rPr>
              <a:t>Generar código es una parte pequeña (10-15%) del trabajo</a:t>
            </a:r>
            <a:endParaRPr sz="2250" b="0" i="0" u="none" strike="noStrike" cap="none">
              <a:solidFill>
                <a:schemeClr val="dk1"/>
              </a:solidFill>
              <a:latin typeface="Calibri"/>
              <a:ea typeface="Calibri"/>
              <a:cs typeface="Calibri"/>
              <a:sym typeface="Calibri"/>
            </a:endParaRPr>
          </a:p>
        </p:txBody>
      </p:sp>
      <p:sp>
        <p:nvSpPr>
          <p:cNvPr id="294" name="Google Shape;294;p15"/>
          <p:cNvSpPr/>
          <p:nvPr/>
        </p:nvSpPr>
        <p:spPr>
          <a:xfrm>
            <a:off x="990600" y="2878409"/>
            <a:ext cx="16620900" cy="6873900"/>
          </a:xfrm>
          <a:prstGeom prst="roundRect">
            <a:avLst>
              <a:gd name="adj" fmla="val 4756"/>
            </a:avLst>
          </a:prstGeom>
          <a:solidFill>
            <a:srgbClr val="FBF8F1"/>
          </a:solidFill>
          <a:ln w="9525" cap="flat" cmpd="sng">
            <a:solidFill>
              <a:srgbClr val="E0D8C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15"/>
          <p:cNvSpPr/>
          <p:nvPr/>
        </p:nvSpPr>
        <p:spPr>
          <a:xfrm>
            <a:off x="2287225" y="3444650"/>
            <a:ext cx="2286000" cy="972300"/>
          </a:xfrm>
          <a:prstGeom prst="roundRect">
            <a:avLst>
              <a:gd name="adj" fmla="val 16667"/>
            </a:avLst>
          </a:prstGeom>
          <a:solidFill>
            <a:schemeClr val="lt2"/>
          </a:solidFill>
          <a:ln w="28575" cap="flat" cmpd="sng">
            <a:solidFill>
              <a:schemeClr val="dk2"/>
            </a:solidFill>
            <a:prstDash val="solid"/>
            <a:round/>
            <a:headEnd type="none" w="sm" len="sm"/>
            <a:tailEnd type="none" w="sm" len="sm"/>
          </a:ln>
          <a:effectLst>
            <a:outerShdw blurRad="57150" dist="11430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US" sz="2500"/>
              <a:t>Sistemas distribuidos</a:t>
            </a:r>
            <a:endParaRPr sz="2500"/>
          </a:p>
        </p:txBody>
      </p:sp>
      <p:sp>
        <p:nvSpPr>
          <p:cNvPr id="296" name="Google Shape;296;p15"/>
          <p:cNvSpPr/>
          <p:nvPr/>
        </p:nvSpPr>
        <p:spPr>
          <a:xfrm>
            <a:off x="6336175" y="3597050"/>
            <a:ext cx="2286000" cy="972300"/>
          </a:xfrm>
          <a:prstGeom prst="roundRect">
            <a:avLst>
              <a:gd name="adj" fmla="val 16667"/>
            </a:avLst>
          </a:prstGeom>
          <a:solidFill>
            <a:schemeClr val="lt2"/>
          </a:solidFill>
          <a:ln w="28575" cap="flat" cmpd="sng">
            <a:solidFill>
              <a:schemeClr val="dk2"/>
            </a:solidFill>
            <a:prstDash val="solid"/>
            <a:round/>
            <a:headEnd type="none" w="sm" len="sm"/>
            <a:tailEnd type="none" w="sm" len="sm"/>
          </a:ln>
          <a:effectLst>
            <a:outerShdw blurRad="57150" dist="11430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US" sz="1900"/>
              <a:t>Transacciones</a:t>
            </a:r>
            <a:endParaRPr sz="2500"/>
          </a:p>
        </p:txBody>
      </p:sp>
      <p:sp>
        <p:nvSpPr>
          <p:cNvPr id="297" name="Google Shape;297;p15"/>
          <p:cNvSpPr/>
          <p:nvPr/>
        </p:nvSpPr>
        <p:spPr>
          <a:xfrm>
            <a:off x="12761051" y="3456349"/>
            <a:ext cx="4116300" cy="972300"/>
          </a:xfrm>
          <a:prstGeom prst="roundRect">
            <a:avLst>
              <a:gd name="adj" fmla="val 16667"/>
            </a:avLst>
          </a:prstGeom>
          <a:solidFill>
            <a:schemeClr val="lt2"/>
          </a:solidFill>
          <a:ln w="28575" cap="flat" cmpd="sng">
            <a:solidFill>
              <a:schemeClr val="dk2"/>
            </a:solidFill>
            <a:prstDash val="solid"/>
            <a:round/>
            <a:headEnd type="none" w="sm" len="sm"/>
            <a:tailEnd type="none" w="sm" len="sm"/>
          </a:ln>
          <a:effectLst>
            <a:outerShdw blurRad="57150" dist="11430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US" sz="2500"/>
              <a:t>Compensaciones técnicas y no técnicas</a:t>
            </a:r>
            <a:endParaRPr sz="2500"/>
          </a:p>
        </p:txBody>
      </p:sp>
      <p:sp>
        <p:nvSpPr>
          <p:cNvPr id="298" name="Google Shape;298;p15"/>
          <p:cNvSpPr/>
          <p:nvPr/>
        </p:nvSpPr>
        <p:spPr>
          <a:xfrm>
            <a:off x="8331950" y="7659150"/>
            <a:ext cx="2843100" cy="972300"/>
          </a:xfrm>
          <a:prstGeom prst="roundRect">
            <a:avLst>
              <a:gd name="adj" fmla="val 16667"/>
            </a:avLst>
          </a:prstGeom>
          <a:solidFill>
            <a:schemeClr val="lt2"/>
          </a:solidFill>
          <a:ln w="28575" cap="flat" cmpd="sng">
            <a:solidFill>
              <a:schemeClr val="dk2"/>
            </a:solidFill>
            <a:prstDash val="solid"/>
            <a:round/>
            <a:headEnd type="none" w="sm" len="sm"/>
            <a:tailEnd type="none" w="sm" len="sm"/>
          </a:ln>
          <a:effectLst>
            <a:outerShdw blurRad="57150" dist="11430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US" sz="2500"/>
              <a:t>Cómo manejar reintentos</a:t>
            </a:r>
            <a:endParaRPr sz="2500"/>
          </a:p>
        </p:txBody>
      </p:sp>
      <p:sp>
        <p:nvSpPr>
          <p:cNvPr id="299" name="Google Shape;299;p15"/>
          <p:cNvSpPr/>
          <p:nvPr/>
        </p:nvSpPr>
        <p:spPr>
          <a:xfrm>
            <a:off x="2266175" y="6111825"/>
            <a:ext cx="2286000" cy="972300"/>
          </a:xfrm>
          <a:prstGeom prst="roundRect">
            <a:avLst>
              <a:gd name="adj" fmla="val 16667"/>
            </a:avLst>
          </a:prstGeom>
          <a:solidFill>
            <a:schemeClr val="lt2"/>
          </a:solidFill>
          <a:ln w="28575" cap="flat" cmpd="sng">
            <a:solidFill>
              <a:schemeClr val="dk2"/>
            </a:solidFill>
            <a:prstDash val="solid"/>
            <a:round/>
            <a:headEnd type="none" w="sm" len="sm"/>
            <a:tailEnd type="none" w="sm" len="sm"/>
          </a:ln>
          <a:effectLst>
            <a:outerShdw blurRad="57150" dist="11430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US" sz="2500"/>
              <a:t>Condiciones de carrera</a:t>
            </a:r>
            <a:endParaRPr sz="2500"/>
          </a:p>
        </p:txBody>
      </p:sp>
      <p:sp>
        <p:nvSpPr>
          <p:cNvPr id="300" name="Google Shape;300;p15"/>
          <p:cNvSpPr/>
          <p:nvPr/>
        </p:nvSpPr>
        <p:spPr>
          <a:xfrm>
            <a:off x="7775325" y="6062228"/>
            <a:ext cx="2286000" cy="972300"/>
          </a:xfrm>
          <a:prstGeom prst="roundRect">
            <a:avLst>
              <a:gd name="adj" fmla="val 16667"/>
            </a:avLst>
          </a:prstGeom>
          <a:solidFill>
            <a:schemeClr val="lt2"/>
          </a:solidFill>
          <a:ln w="28575" cap="flat" cmpd="sng">
            <a:solidFill>
              <a:schemeClr val="dk2"/>
            </a:solidFill>
            <a:prstDash val="solid"/>
            <a:round/>
            <a:headEnd type="none" w="sm" len="sm"/>
            <a:tailEnd type="none" w="sm" len="sm"/>
          </a:ln>
          <a:effectLst>
            <a:outerShdw blurRad="57150" dist="11430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US" sz="2500"/>
              <a:t>Limitación de tasa</a:t>
            </a:r>
            <a:endParaRPr sz="2500"/>
          </a:p>
        </p:txBody>
      </p:sp>
      <p:sp>
        <p:nvSpPr>
          <p:cNvPr id="301" name="Google Shape;301;p15"/>
          <p:cNvSpPr/>
          <p:nvPr/>
        </p:nvSpPr>
        <p:spPr>
          <a:xfrm>
            <a:off x="4625525" y="5032725"/>
            <a:ext cx="2286000" cy="972300"/>
          </a:xfrm>
          <a:prstGeom prst="roundRect">
            <a:avLst>
              <a:gd name="adj" fmla="val 16667"/>
            </a:avLst>
          </a:prstGeom>
          <a:solidFill>
            <a:schemeClr val="lt2"/>
          </a:solidFill>
          <a:ln w="28575" cap="flat" cmpd="sng">
            <a:solidFill>
              <a:schemeClr val="dk2"/>
            </a:solidFill>
            <a:prstDash val="solid"/>
            <a:round/>
            <a:headEnd type="none" w="sm" len="sm"/>
            <a:tailEnd type="none" w="sm" len="sm"/>
          </a:ln>
          <a:effectLst>
            <a:outerShdw blurRad="57150" dist="11430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US" sz="2500"/>
              <a:t>Semántica de mensajería</a:t>
            </a:r>
            <a:endParaRPr sz="2500"/>
          </a:p>
        </p:txBody>
      </p:sp>
      <p:sp>
        <p:nvSpPr>
          <p:cNvPr id="302" name="Google Shape;302;p15"/>
          <p:cNvSpPr/>
          <p:nvPr/>
        </p:nvSpPr>
        <p:spPr>
          <a:xfrm>
            <a:off x="5020750" y="7968350"/>
            <a:ext cx="2286000" cy="972300"/>
          </a:xfrm>
          <a:prstGeom prst="roundRect">
            <a:avLst>
              <a:gd name="adj" fmla="val 16667"/>
            </a:avLst>
          </a:prstGeom>
          <a:solidFill>
            <a:schemeClr val="lt2"/>
          </a:solidFill>
          <a:ln w="28575" cap="flat" cmpd="sng">
            <a:solidFill>
              <a:schemeClr val="dk2"/>
            </a:solidFill>
            <a:prstDash val="solid"/>
            <a:round/>
            <a:headEnd type="none" w="sm" len="sm"/>
            <a:tailEnd type="none" w="sm" len="sm"/>
          </a:ln>
          <a:effectLst>
            <a:outerShdw blurRad="57150" dist="11430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US" sz="2500"/>
              <a:t>Gestión de SLA </a:t>
            </a:r>
            <a:endParaRPr sz="2500"/>
          </a:p>
        </p:txBody>
      </p:sp>
      <p:sp>
        <p:nvSpPr>
          <p:cNvPr id="303" name="Google Shape;303;p15"/>
          <p:cNvSpPr/>
          <p:nvPr/>
        </p:nvSpPr>
        <p:spPr>
          <a:xfrm>
            <a:off x="11094225" y="6295913"/>
            <a:ext cx="2286000" cy="972300"/>
          </a:xfrm>
          <a:prstGeom prst="roundRect">
            <a:avLst>
              <a:gd name="adj" fmla="val 16667"/>
            </a:avLst>
          </a:prstGeom>
          <a:solidFill>
            <a:schemeClr val="lt2"/>
          </a:solidFill>
          <a:ln w="28575" cap="flat" cmpd="sng">
            <a:solidFill>
              <a:schemeClr val="dk2"/>
            </a:solidFill>
            <a:prstDash val="solid"/>
            <a:round/>
            <a:headEnd type="none" w="sm" len="sm"/>
            <a:tailEnd type="none" w="sm" len="sm"/>
          </a:ln>
          <a:effectLst>
            <a:outerShdw blurRad="57150" dist="11430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US" sz="2500"/>
              <a:t>Evolución de la API</a:t>
            </a:r>
            <a:endParaRPr sz="2500"/>
          </a:p>
        </p:txBody>
      </p:sp>
      <p:sp>
        <p:nvSpPr>
          <p:cNvPr id="304" name="Google Shape;304;p15"/>
          <p:cNvSpPr/>
          <p:nvPr/>
        </p:nvSpPr>
        <p:spPr>
          <a:xfrm>
            <a:off x="13160925" y="7602650"/>
            <a:ext cx="2779500" cy="1338000"/>
          </a:xfrm>
          <a:prstGeom prst="roundRect">
            <a:avLst>
              <a:gd name="adj" fmla="val 16667"/>
            </a:avLst>
          </a:prstGeom>
          <a:solidFill>
            <a:schemeClr val="lt2"/>
          </a:solidFill>
          <a:ln w="28575" cap="flat" cmpd="sng">
            <a:solidFill>
              <a:schemeClr val="dk2"/>
            </a:solidFill>
            <a:prstDash val="solid"/>
            <a:round/>
            <a:headEnd type="none" w="sm" len="sm"/>
            <a:tailEnd type="none" w="sm" len="sm"/>
          </a:ln>
          <a:effectLst>
            <a:outerShdw blurRad="57150" dist="11430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US" sz="2500"/>
              <a:t>Rendimiento y administración de bases de datos</a:t>
            </a:r>
            <a:endParaRPr sz="2500"/>
          </a:p>
        </p:txBody>
      </p:sp>
      <p:sp>
        <p:nvSpPr>
          <p:cNvPr id="305" name="Google Shape;305;p15"/>
          <p:cNvSpPr/>
          <p:nvPr/>
        </p:nvSpPr>
        <p:spPr>
          <a:xfrm>
            <a:off x="8041600" y="4782538"/>
            <a:ext cx="2286000" cy="972300"/>
          </a:xfrm>
          <a:prstGeom prst="roundRect">
            <a:avLst>
              <a:gd name="adj" fmla="val 16667"/>
            </a:avLst>
          </a:prstGeom>
          <a:solidFill>
            <a:schemeClr val="lt2"/>
          </a:solidFill>
          <a:ln w="28575" cap="flat" cmpd="sng">
            <a:solidFill>
              <a:schemeClr val="dk2"/>
            </a:solidFill>
            <a:prstDash val="solid"/>
            <a:round/>
            <a:headEnd type="none" w="sm" len="sm"/>
            <a:tailEnd type="none" w="sm" len="sm"/>
          </a:ln>
          <a:effectLst>
            <a:outerShdw blurRad="57150" dist="11430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US" sz="2500"/>
              <a:t>Gestión de caché</a:t>
            </a:r>
            <a:endParaRPr sz="2500"/>
          </a:p>
        </p:txBody>
      </p:sp>
      <p:sp>
        <p:nvSpPr>
          <p:cNvPr id="306" name="Google Shape;306;p15"/>
          <p:cNvSpPr/>
          <p:nvPr/>
        </p:nvSpPr>
        <p:spPr>
          <a:xfrm>
            <a:off x="8896925" y="3206700"/>
            <a:ext cx="2644800" cy="1125600"/>
          </a:xfrm>
          <a:prstGeom prst="roundRect">
            <a:avLst>
              <a:gd name="adj" fmla="val 16667"/>
            </a:avLst>
          </a:prstGeom>
          <a:solidFill>
            <a:schemeClr val="lt2"/>
          </a:solidFill>
          <a:ln w="28575" cap="flat" cmpd="sng">
            <a:solidFill>
              <a:schemeClr val="dk2"/>
            </a:solidFill>
            <a:prstDash val="solid"/>
            <a:round/>
            <a:headEnd type="none" w="sm" len="sm"/>
            <a:tailEnd type="none" w="sm" len="sm"/>
          </a:ln>
          <a:effectLst>
            <a:outerShdw blurRad="57150" dist="11430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US" sz="2500"/>
              <a:t>Monitoreo y gestión de sistemas</a:t>
            </a:r>
            <a:endParaRPr sz="2500"/>
          </a:p>
        </p:txBody>
      </p:sp>
      <p:sp>
        <p:nvSpPr>
          <p:cNvPr id="307" name="Google Shape;307;p15"/>
          <p:cNvSpPr/>
          <p:nvPr/>
        </p:nvSpPr>
        <p:spPr>
          <a:xfrm>
            <a:off x="2160600" y="7505850"/>
            <a:ext cx="2509500" cy="1125600"/>
          </a:xfrm>
          <a:prstGeom prst="roundRect">
            <a:avLst>
              <a:gd name="adj" fmla="val 16667"/>
            </a:avLst>
          </a:prstGeom>
          <a:solidFill>
            <a:schemeClr val="lt2"/>
          </a:solidFill>
          <a:ln w="28575" cap="flat" cmpd="sng">
            <a:solidFill>
              <a:schemeClr val="dk2"/>
            </a:solidFill>
            <a:prstDash val="solid"/>
            <a:round/>
            <a:headEnd type="none" w="sm" len="sm"/>
            <a:tailEnd type="none" w="sm" len="sm"/>
          </a:ln>
          <a:effectLst>
            <a:outerShdw blurRad="57150" dist="11430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US" sz="2500"/>
              <a:t>Triaje de soporte en la vida real</a:t>
            </a:r>
            <a:endParaRPr sz="2500"/>
          </a:p>
        </p:txBody>
      </p:sp>
      <p:sp>
        <p:nvSpPr>
          <p:cNvPr id="308" name="Google Shape;308;p15"/>
          <p:cNvSpPr/>
          <p:nvPr/>
        </p:nvSpPr>
        <p:spPr>
          <a:xfrm>
            <a:off x="5020750" y="6412288"/>
            <a:ext cx="2286000" cy="972300"/>
          </a:xfrm>
          <a:prstGeom prst="roundRect">
            <a:avLst>
              <a:gd name="adj" fmla="val 16667"/>
            </a:avLst>
          </a:prstGeom>
          <a:solidFill>
            <a:schemeClr val="lt2"/>
          </a:solidFill>
          <a:ln w="28575" cap="flat" cmpd="sng">
            <a:solidFill>
              <a:schemeClr val="dk2"/>
            </a:solidFill>
            <a:prstDash val="solid"/>
            <a:round/>
            <a:headEnd type="none" w="sm" len="sm"/>
            <a:tailEnd type="none" w="sm" len="sm"/>
          </a:ln>
          <a:effectLst>
            <a:outerShdw blurRad="57150" dist="11430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US" sz="2500"/>
              <a:t>Versionado de esquemas</a:t>
            </a:r>
            <a:endParaRPr sz="2500"/>
          </a:p>
        </p:txBody>
      </p:sp>
      <p:sp>
        <p:nvSpPr>
          <p:cNvPr id="309" name="Google Shape;309;p15"/>
          <p:cNvSpPr/>
          <p:nvPr/>
        </p:nvSpPr>
        <p:spPr>
          <a:xfrm>
            <a:off x="14948475" y="4927200"/>
            <a:ext cx="2286000" cy="972300"/>
          </a:xfrm>
          <a:prstGeom prst="roundRect">
            <a:avLst>
              <a:gd name="adj" fmla="val 16667"/>
            </a:avLst>
          </a:prstGeom>
          <a:solidFill>
            <a:schemeClr val="lt2"/>
          </a:solidFill>
          <a:ln w="28575" cap="flat" cmpd="sng">
            <a:solidFill>
              <a:schemeClr val="dk2"/>
            </a:solidFill>
            <a:prstDash val="solid"/>
            <a:round/>
            <a:headEnd type="none" w="sm" len="sm"/>
            <a:tailEnd type="none" w="sm" len="sm"/>
          </a:ln>
          <a:effectLst>
            <a:outerShdw blurRad="57150" dist="11430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US" sz="2500"/>
              <a:t>Seguridad</a:t>
            </a:r>
            <a:endParaRPr sz="2500"/>
          </a:p>
        </p:txBody>
      </p:sp>
      <p:sp>
        <p:nvSpPr>
          <p:cNvPr id="310" name="Google Shape;310;p15"/>
          <p:cNvSpPr/>
          <p:nvPr/>
        </p:nvSpPr>
        <p:spPr>
          <a:xfrm>
            <a:off x="11457675" y="4714688"/>
            <a:ext cx="2509500" cy="1246800"/>
          </a:xfrm>
          <a:prstGeom prst="roundRect">
            <a:avLst>
              <a:gd name="adj" fmla="val 16667"/>
            </a:avLst>
          </a:prstGeom>
          <a:solidFill>
            <a:schemeClr val="lt2"/>
          </a:solidFill>
          <a:ln w="28575" cap="flat" cmpd="sng">
            <a:solidFill>
              <a:schemeClr val="dk2"/>
            </a:solidFill>
            <a:prstDash val="solid"/>
            <a:round/>
            <a:headEnd type="none" w="sm" len="sm"/>
            <a:tailEnd type="none" w="sm" len="sm"/>
          </a:ln>
          <a:effectLst>
            <a:outerShdw blurRad="57150" dist="11430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US" sz="1600"/>
              <a:t>Recuperación ante desastres y conmutación por error</a:t>
            </a:r>
            <a:endParaRPr sz="2500"/>
          </a:p>
        </p:txBody>
      </p:sp>
      <p:sp>
        <p:nvSpPr>
          <p:cNvPr id="311" name="Google Shape;311;p15"/>
          <p:cNvSpPr/>
          <p:nvPr/>
        </p:nvSpPr>
        <p:spPr>
          <a:xfrm>
            <a:off x="1981100" y="4778238"/>
            <a:ext cx="2286000" cy="972300"/>
          </a:xfrm>
          <a:prstGeom prst="roundRect">
            <a:avLst>
              <a:gd name="adj" fmla="val 16667"/>
            </a:avLst>
          </a:prstGeom>
          <a:solidFill>
            <a:schemeClr val="lt2"/>
          </a:solidFill>
          <a:ln w="28575" cap="flat" cmpd="sng">
            <a:solidFill>
              <a:schemeClr val="dk2"/>
            </a:solidFill>
            <a:prstDash val="solid"/>
            <a:round/>
            <a:headEnd type="none" w="sm" len="sm"/>
            <a:tailEnd type="none" w="sm" len="sm"/>
          </a:ln>
          <a:effectLst>
            <a:outerShdw blurRad="57150" dist="11430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US" sz="2500"/>
              <a:t>Planificación de capacidad</a:t>
            </a:r>
            <a:endParaRPr sz="2500"/>
          </a:p>
        </p:txBody>
      </p:sp>
      <p:sp>
        <p:nvSpPr>
          <p:cNvPr id="312" name="Google Shape;312;p15"/>
          <p:cNvSpPr/>
          <p:nvPr/>
        </p:nvSpPr>
        <p:spPr>
          <a:xfrm>
            <a:off x="14704925" y="6173988"/>
            <a:ext cx="2286000" cy="972300"/>
          </a:xfrm>
          <a:prstGeom prst="roundRect">
            <a:avLst>
              <a:gd name="adj" fmla="val 16667"/>
            </a:avLst>
          </a:prstGeom>
          <a:solidFill>
            <a:schemeClr val="lt2"/>
          </a:solidFill>
          <a:ln w="28575" cap="flat" cmpd="sng">
            <a:solidFill>
              <a:schemeClr val="dk2"/>
            </a:solidFill>
            <a:prstDash val="solid"/>
            <a:round/>
            <a:headEnd type="none" w="sm" len="sm"/>
            <a:tailEnd type="none" w="sm" len="sm"/>
          </a:ln>
          <a:effectLst>
            <a:outerShdw blurRad="57150" dist="11430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US" sz="2500"/>
              <a:t>Costos y presupuesto</a:t>
            </a:r>
            <a:endParaRPr sz="25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2A231D"/>
        </a:solidFill>
        <a:effectLst/>
      </p:bgPr>
    </p:bg>
    <p:spTree>
      <p:nvGrpSpPr>
        <p:cNvPr id="1" name="Shape 317"/>
        <p:cNvGrpSpPr/>
        <p:nvPr/>
      </p:nvGrpSpPr>
      <p:grpSpPr>
        <a:xfrm>
          <a:off x="0" y="0"/>
          <a:ext cx="0" cy="0"/>
          <a:chOff x="0" y="0"/>
          <a:chExt cx="0" cy="0"/>
        </a:xfrm>
      </p:grpSpPr>
      <p:sp>
        <p:nvSpPr>
          <p:cNvPr id="318" name="Google Shape;318;p16"/>
          <p:cNvSpPr/>
          <p:nvPr/>
        </p:nvSpPr>
        <p:spPr>
          <a:xfrm>
            <a:off x="1047750" y="2962875"/>
            <a:ext cx="14051400" cy="2054400"/>
          </a:xfrm>
          <a:prstGeom prst="rect">
            <a:avLst/>
          </a:prstGeom>
          <a:noFill/>
          <a:ln>
            <a:noFill/>
          </a:ln>
        </p:spPr>
        <p:txBody>
          <a:bodyPr spcFirstLastPara="1" wrap="square" lIns="25400" tIns="25400" rIns="25400" bIns="25400" anchor="t" anchorCtr="0">
            <a:noAutofit/>
          </a:bodyPr>
          <a:lstStyle/>
          <a:p>
            <a:pPr marL="0" marR="0" lvl="0" indent="0" algn="l" rtl="0">
              <a:lnSpc>
                <a:spcPct val="98000"/>
              </a:lnSpc>
              <a:spcBef>
                <a:spcPts val="0"/>
              </a:spcBef>
              <a:spcAft>
                <a:spcPts val="0"/>
              </a:spcAft>
              <a:buClr>
                <a:srgbClr val="F4EEE4"/>
              </a:buClr>
              <a:buSzPts val="8100"/>
              <a:buFont typeface="Newsreader"/>
              <a:buNone/>
            </a:pPr>
            <a:r>
              <a:rPr lang="en-US" sz="8100" b="0" i="0" u="none" strike="noStrike" cap="none">
                <a:solidFill>
                  <a:srgbClr val="F4EEE4"/>
                </a:solidFill>
                <a:latin typeface="Newsreader"/>
                <a:ea typeface="Newsreader"/>
                <a:cs typeface="Newsreader"/>
                <a:sym typeface="Newsreader"/>
              </a:rPr>
              <a:t>La programación no ha muerto. </a:t>
            </a:r>
            <a:r>
              <a:rPr lang="en-US" sz="8100" b="0" i="1" u="none" strike="noStrike" cap="none">
                <a:solidFill>
                  <a:srgbClr val="E09A7C"/>
                </a:solidFill>
                <a:latin typeface="Newsreader"/>
                <a:ea typeface="Newsreader"/>
                <a:cs typeface="Newsreader"/>
                <a:sym typeface="Newsreader"/>
              </a:rPr>
              <a:t>Subió de nivel.</a:t>
            </a:r>
            <a:endParaRPr sz="8100" b="0" i="0" u="none" strike="noStrike" cap="none">
              <a:solidFill>
                <a:schemeClr val="dk1"/>
              </a:solidFill>
              <a:latin typeface="Calibri"/>
              <a:ea typeface="Calibri"/>
              <a:cs typeface="Calibri"/>
              <a:sym typeface="Calibri"/>
            </a:endParaRPr>
          </a:p>
        </p:txBody>
      </p:sp>
      <p:sp>
        <p:nvSpPr>
          <p:cNvPr id="319" name="Google Shape;319;p16"/>
          <p:cNvSpPr/>
          <p:nvPr/>
        </p:nvSpPr>
        <p:spPr>
          <a:xfrm>
            <a:off x="1047750" y="5264825"/>
            <a:ext cx="12753900" cy="1586400"/>
          </a:xfrm>
          <a:prstGeom prst="rect">
            <a:avLst/>
          </a:prstGeom>
          <a:noFill/>
          <a:ln>
            <a:noFill/>
          </a:ln>
        </p:spPr>
        <p:txBody>
          <a:bodyPr spcFirstLastPara="1" wrap="square" lIns="25400" tIns="25400" rIns="25400" bIns="25400" anchor="t" anchorCtr="0">
            <a:noAutofit/>
          </a:bodyPr>
          <a:lstStyle/>
          <a:p>
            <a:pPr marL="0" marR="0" lvl="0" indent="0" algn="l" rtl="0">
              <a:lnSpc>
                <a:spcPct val="115000"/>
              </a:lnSpc>
              <a:spcBef>
                <a:spcPts val="0"/>
              </a:spcBef>
              <a:spcAft>
                <a:spcPts val="0"/>
              </a:spcAft>
              <a:buClr>
                <a:srgbClr val="D8CDBD"/>
              </a:buClr>
              <a:buSzPts val="3450"/>
              <a:buFont typeface="Newsreader"/>
              <a:buNone/>
            </a:pPr>
            <a:r>
              <a:rPr lang="en-US" sz="3450" b="0" i="0" u="none" strike="noStrike" cap="none">
                <a:solidFill>
                  <a:srgbClr val="D8CDBD"/>
                </a:solidFill>
                <a:latin typeface="Newsreader"/>
                <a:ea typeface="Newsreader"/>
                <a:cs typeface="Newsreader"/>
                <a:sym typeface="Newsreader"/>
              </a:rPr>
              <a:t>El nivel base subió, el trabajo escaló en la pila</a:t>
            </a:r>
            <a:r>
              <a:rPr lang="en-US" sz="3450">
                <a:solidFill>
                  <a:srgbClr val="D8CDBD"/>
                </a:solidFill>
                <a:latin typeface="Newsreader"/>
                <a:ea typeface="Newsreader"/>
                <a:cs typeface="Newsreader"/>
                <a:sym typeface="Newsreader"/>
              </a:rPr>
              <a:t>.</a:t>
            </a:r>
            <a:endParaRPr sz="3450">
              <a:solidFill>
                <a:srgbClr val="D8CDBD"/>
              </a:solidFill>
              <a:latin typeface="Newsreader"/>
              <a:ea typeface="Newsreader"/>
              <a:cs typeface="Newsreader"/>
              <a:sym typeface="Newsreader"/>
            </a:endParaRPr>
          </a:p>
          <a:p>
            <a:pPr marL="0" marR="0" lvl="0" indent="0" algn="l" rtl="0">
              <a:lnSpc>
                <a:spcPct val="115000"/>
              </a:lnSpc>
              <a:spcBef>
                <a:spcPts val="0"/>
              </a:spcBef>
              <a:spcAft>
                <a:spcPts val="0"/>
              </a:spcAft>
              <a:buClr>
                <a:srgbClr val="D8CDBD"/>
              </a:buClr>
              <a:buSzPts val="3450"/>
              <a:buFont typeface="Newsreader"/>
              <a:buNone/>
            </a:pPr>
            <a:r>
              <a:rPr lang="en-US" sz="3450" b="0" i="0" u="none" strike="noStrike" cap="none">
                <a:solidFill>
                  <a:srgbClr val="D8CDBD"/>
                </a:solidFill>
                <a:latin typeface="Newsreader"/>
                <a:ea typeface="Newsreader"/>
                <a:cs typeface="Newsreader"/>
                <a:sym typeface="Newsreader"/>
              </a:rPr>
              <a:t>Java está justo donde la IA empresarial tiene que ejecutarse.</a:t>
            </a:r>
            <a:endParaRPr sz="3450" b="0" i="0" u="none" strike="noStrike" cap="none">
              <a:solidFill>
                <a:schemeClr val="dk1"/>
              </a:solidFill>
              <a:latin typeface="Calibri"/>
              <a:ea typeface="Calibri"/>
              <a:cs typeface="Calibri"/>
              <a:sym typeface="Calibri"/>
            </a:endParaRPr>
          </a:p>
        </p:txBody>
      </p:sp>
      <p:sp>
        <p:nvSpPr>
          <p:cNvPr id="320" name="Google Shape;320;p16"/>
          <p:cNvSpPr txBox="1"/>
          <p:nvPr/>
        </p:nvSpPr>
        <p:spPr>
          <a:xfrm>
            <a:off x="16383300" y="9838625"/>
            <a:ext cx="1788600" cy="34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solidFill>
                  <a:schemeClr val="dk1"/>
                </a:solidFill>
              </a:rPr>
              <a:t>v1.5 - @frankgreco</a:t>
            </a:r>
            <a:endParaRPr>
              <a:solidFill>
                <a:schemeClr val="dk1"/>
              </a:solidFil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3627</Words>
  <Application>Microsoft Macintosh PowerPoint</Application>
  <PresentationFormat>Custom</PresentationFormat>
  <Paragraphs>362</Paragraphs>
  <Slides>14</Slides>
  <Notes>14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Courier New</vt:lpstr>
      <vt:lpstr>Space Mono</vt:lpstr>
      <vt:lpstr>Arial</vt:lpstr>
      <vt:lpstr>Newsreader</vt:lpstr>
      <vt:lpstr>Calibri</vt:lpstr>
      <vt:lpstr>Special Elite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BRAYAN  MUÑOZ VARGAS</cp:lastModifiedBy>
  <cp:revision>1</cp:revision>
  <dcterms:modified xsi:type="dcterms:W3CDTF">2026-09-23T22:49:49Z</dcterms:modified>
</cp:coreProperties>
</file>